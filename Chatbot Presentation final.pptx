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8288000" cy="10287000"/>
  <p:notesSz cx="6858000" cy="9144000"/>
  <p:embeddedFontLst>
    <p:embeddedFont>
      <p:font typeface="Archivo Black" panose="020B0604020202020204" charset="0"/>
      <p:regular r:id="rId22"/>
    </p:embeddedFont>
    <p:embeddedFont>
      <p:font typeface="Lato" panose="020F0502020204030203" pitchFamily="34" charset="0"/>
      <p:regular r:id="rId23"/>
    </p:embeddedFont>
    <p:embeddedFont>
      <p:font typeface="Open Sans Light" panose="020F0502020204030204" pitchFamily="34" charset="0"/>
      <p:regular r:id="rId24"/>
    </p:embeddedFont>
    <p:embeddedFont>
      <p:font typeface="Red Hat Display" panose="020B0604020202020204" charset="0"/>
      <p:regular r:id="rId25"/>
    </p:embeddedFont>
    <p:embeddedFont>
      <p:font typeface="Red Hat Display Bold"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221" y="10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11.jpe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en-IN" dirty="0"/>
          </a:p>
        </p:txBody>
      </p:sp>
      <p:sp>
        <p:nvSpPr>
          <p:cNvPr id="3" name="TextBox 3"/>
          <p:cNvSpPr txBox="1"/>
          <p:nvPr/>
        </p:nvSpPr>
        <p:spPr>
          <a:xfrm>
            <a:off x="1028700" y="2755601"/>
            <a:ext cx="11695306" cy="3200970"/>
          </a:xfrm>
          <a:prstGeom prst="rect">
            <a:avLst/>
          </a:prstGeom>
        </p:spPr>
        <p:txBody>
          <a:bodyPr lIns="0" tIns="0" rIns="0" bIns="0" rtlCol="0" anchor="t">
            <a:spAutoFit/>
          </a:bodyPr>
          <a:lstStyle/>
          <a:p>
            <a:pPr algn="l">
              <a:lnSpc>
                <a:spcPts val="12218"/>
              </a:lnSpc>
            </a:pPr>
            <a:r>
              <a:rPr lang="en-US" sz="12998">
                <a:solidFill>
                  <a:srgbClr val="FFFFFF"/>
                </a:solidFill>
                <a:latin typeface="Archivo Black"/>
                <a:ea typeface="Archivo Black"/>
                <a:cs typeface="Archivo Black"/>
                <a:sym typeface="Archivo Black"/>
              </a:rPr>
              <a:t>Chatbot Presentation</a:t>
            </a:r>
          </a:p>
        </p:txBody>
      </p:sp>
      <p:sp>
        <p:nvSpPr>
          <p:cNvPr id="4" name="TextBox 4"/>
          <p:cNvSpPr txBox="1"/>
          <p:nvPr/>
        </p:nvSpPr>
        <p:spPr>
          <a:xfrm>
            <a:off x="1076325" y="6622983"/>
            <a:ext cx="8067675" cy="746164"/>
          </a:xfrm>
          <a:prstGeom prst="rect">
            <a:avLst/>
          </a:prstGeom>
        </p:spPr>
        <p:txBody>
          <a:bodyPr lIns="0" tIns="0" rIns="0" bIns="0" rtlCol="0" anchor="t">
            <a:spAutoFit/>
          </a:bodyPr>
          <a:lstStyle/>
          <a:p>
            <a:pPr algn="l">
              <a:lnSpc>
                <a:spcPts val="6122"/>
              </a:lnSpc>
              <a:spcBef>
                <a:spcPct val="0"/>
              </a:spcBef>
            </a:pPr>
            <a:endParaRPr lang="en-US" sz="4373" dirty="0">
              <a:solidFill>
                <a:srgbClr val="F4F4ED"/>
              </a:solidFill>
              <a:latin typeface="Red Hat Display"/>
              <a:ea typeface="Red Hat Display"/>
              <a:cs typeface="Red Hat Display"/>
              <a:sym typeface="Red Hat Display"/>
            </a:endParaRPr>
          </a:p>
        </p:txBody>
      </p:sp>
      <p:sp>
        <p:nvSpPr>
          <p:cNvPr id="5" name="TextBox 5"/>
          <p:cNvSpPr txBox="1"/>
          <p:nvPr/>
        </p:nvSpPr>
        <p:spPr>
          <a:xfrm>
            <a:off x="1236359" y="8860602"/>
            <a:ext cx="5290156" cy="474297"/>
          </a:xfrm>
          <a:prstGeom prst="rect">
            <a:avLst/>
          </a:prstGeom>
        </p:spPr>
        <p:txBody>
          <a:bodyPr lIns="0" tIns="0" rIns="0" bIns="0" rtlCol="0" anchor="t">
            <a:spAutoFit/>
          </a:bodyPr>
          <a:lstStyle/>
          <a:p>
            <a:pPr algn="l">
              <a:lnSpc>
                <a:spcPts val="4100"/>
              </a:lnSpc>
              <a:spcBef>
                <a:spcPct val="0"/>
              </a:spcBef>
            </a:pPr>
            <a:endParaRPr lang="en-US" sz="2928" dirty="0">
              <a:solidFill>
                <a:srgbClr val="E5E1DA"/>
              </a:solidFill>
              <a:latin typeface="Lato"/>
              <a:ea typeface="Lato"/>
              <a:cs typeface="Lato"/>
              <a:sym typeface="Lato"/>
            </a:endParaRPr>
          </a:p>
        </p:txBody>
      </p:sp>
      <p:sp>
        <p:nvSpPr>
          <p:cNvPr id="6" name="Freeform 6"/>
          <p:cNvSpPr/>
          <p:nvPr/>
        </p:nvSpPr>
        <p:spPr>
          <a:xfrm rot="-1542318" flipV="1">
            <a:off x="13654428" y="800321"/>
            <a:ext cx="7674102" cy="8229600"/>
          </a:xfrm>
          <a:custGeom>
            <a:avLst/>
            <a:gdLst/>
            <a:ahLst/>
            <a:cxnLst/>
            <a:rect l="l" t="t" r="r" b="b"/>
            <a:pathLst>
              <a:path w="7674102" h="8229600">
                <a:moveTo>
                  <a:pt x="0" y="8229600"/>
                </a:moveTo>
                <a:lnTo>
                  <a:pt x="7674102" y="8229600"/>
                </a:lnTo>
                <a:lnTo>
                  <a:pt x="7674102" y="0"/>
                </a:lnTo>
                <a:lnTo>
                  <a:pt x="0" y="0"/>
                </a:lnTo>
                <a:lnTo>
                  <a:pt x="0" y="8229600"/>
                </a:lnTo>
                <a:close/>
              </a:path>
            </a:pathLst>
          </a:custGeom>
          <a:blipFill>
            <a:blip r:embed="rId3"/>
            <a:stretch>
              <a:fillRect/>
            </a:stretch>
          </a:blipFill>
        </p:spPr>
      </p:sp>
      <p:sp>
        <p:nvSpPr>
          <p:cNvPr id="7" name="TextBox 7"/>
          <p:cNvSpPr txBox="1"/>
          <p:nvPr/>
        </p:nvSpPr>
        <p:spPr>
          <a:xfrm>
            <a:off x="1683351" y="9493418"/>
            <a:ext cx="3586845" cy="359009"/>
          </a:xfrm>
          <a:prstGeom prst="rect">
            <a:avLst/>
          </a:prstGeom>
        </p:spPr>
        <p:txBody>
          <a:bodyPr lIns="0" tIns="0" rIns="0" bIns="0" rtlCol="0" anchor="t">
            <a:spAutoFit/>
          </a:bodyPr>
          <a:lstStyle/>
          <a:p>
            <a:pPr algn="ctr">
              <a:lnSpc>
                <a:spcPts val="3120"/>
              </a:lnSpc>
              <a:spcBef>
                <a:spcPct val="0"/>
              </a:spcBef>
            </a:pPr>
            <a:endParaRPr lang="en-US" sz="2228" dirty="0">
              <a:solidFill>
                <a:srgbClr val="E5E1DA"/>
              </a:solidFill>
              <a:latin typeface="Lato"/>
              <a:ea typeface="Lato"/>
              <a:cs typeface="Lato"/>
              <a:sym typeface="Lato"/>
            </a:endParaRPr>
          </a:p>
        </p:txBody>
      </p:sp>
      <p:sp>
        <p:nvSpPr>
          <p:cNvPr id="8" name="TextBox 8"/>
          <p:cNvSpPr txBox="1"/>
          <p:nvPr/>
        </p:nvSpPr>
        <p:spPr>
          <a:xfrm>
            <a:off x="7213912" y="8863498"/>
            <a:ext cx="5290156" cy="474297"/>
          </a:xfrm>
          <a:prstGeom prst="rect">
            <a:avLst/>
          </a:prstGeom>
        </p:spPr>
        <p:txBody>
          <a:bodyPr lIns="0" tIns="0" rIns="0" bIns="0" rtlCol="0" anchor="t">
            <a:spAutoFit/>
          </a:bodyPr>
          <a:lstStyle/>
          <a:p>
            <a:pPr algn="ctr">
              <a:lnSpc>
                <a:spcPts val="4100"/>
              </a:lnSpc>
              <a:spcBef>
                <a:spcPct val="0"/>
              </a:spcBef>
            </a:pPr>
            <a:endParaRPr lang="en-US" sz="2928" dirty="0">
              <a:solidFill>
                <a:srgbClr val="E5E1DA"/>
              </a:solidFill>
              <a:latin typeface="Lato"/>
              <a:ea typeface="Lato"/>
              <a:cs typeface="Lato"/>
              <a:sym typeface="Lato"/>
            </a:endParaRPr>
          </a:p>
        </p:txBody>
      </p:sp>
      <p:sp>
        <p:nvSpPr>
          <p:cNvPr id="9" name="TextBox 9"/>
          <p:cNvSpPr txBox="1"/>
          <p:nvPr/>
        </p:nvSpPr>
        <p:spPr>
          <a:xfrm>
            <a:off x="8065568" y="9493418"/>
            <a:ext cx="3586845" cy="359009"/>
          </a:xfrm>
          <a:prstGeom prst="rect">
            <a:avLst/>
          </a:prstGeom>
        </p:spPr>
        <p:txBody>
          <a:bodyPr lIns="0" tIns="0" rIns="0" bIns="0" rtlCol="0" anchor="t">
            <a:spAutoFit/>
          </a:bodyPr>
          <a:lstStyle/>
          <a:p>
            <a:pPr algn="ctr">
              <a:lnSpc>
                <a:spcPts val="3120"/>
              </a:lnSpc>
              <a:spcBef>
                <a:spcPct val="0"/>
              </a:spcBef>
            </a:pPr>
            <a:endParaRPr lang="en-US" sz="2228" dirty="0">
              <a:solidFill>
                <a:srgbClr val="E5E1DA"/>
              </a:solidFill>
              <a:latin typeface="Lato"/>
              <a:ea typeface="Lato"/>
              <a:cs typeface="Lato"/>
              <a:sym typeface="Lato"/>
            </a:endParaRPr>
          </a:p>
        </p:txBody>
      </p:sp>
      <p:sp>
        <p:nvSpPr>
          <p:cNvPr id="10" name="TextBox 10"/>
          <p:cNvSpPr txBox="1"/>
          <p:nvPr/>
        </p:nvSpPr>
        <p:spPr>
          <a:xfrm>
            <a:off x="12446918" y="8860602"/>
            <a:ext cx="5290156" cy="474297"/>
          </a:xfrm>
          <a:prstGeom prst="rect">
            <a:avLst/>
          </a:prstGeom>
        </p:spPr>
        <p:txBody>
          <a:bodyPr lIns="0" tIns="0" rIns="0" bIns="0" rtlCol="0" anchor="t">
            <a:spAutoFit/>
          </a:bodyPr>
          <a:lstStyle/>
          <a:p>
            <a:pPr algn="ctr">
              <a:lnSpc>
                <a:spcPts val="4100"/>
              </a:lnSpc>
              <a:spcBef>
                <a:spcPct val="0"/>
              </a:spcBef>
            </a:pPr>
            <a:endParaRPr lang="en-US" sz="2928" dirty="0">
              <a:solidFill>
                <a:srgbClr val="E5E1DA"/>
              </a:solidFill>
              <a:latin typeface="Lato"/>
              <a:ea typeface="Lato"/>
              <a:cs typeface="Lato"/>
              <a:sym typeface="Lato"/>
            </a:endParaRPr>
          </a:p>
        </p:txBody>
      </p:sp>
      <p:sp>
        <p:nvSpPr>
          <p:cNvPr id="11" name="TextBox 11"/>
          <p:cNvSpPr txBox="1"/>
          <p:nvPr/>
        </p:nvSpPr>
        <p:spPr>
          <a:xfrm>
            <a:off x="13298574" y="9490522"/>
            <a:ext cx="3586845" cy="359009"/>
          </a:xfrm>
          <a:prstGeom prst="rect">
            <a:avLst/>
          </a:prstGeom>
        </p:spPr>
        <p:txBody>
          <a:bodyPr lIns="0" tIns="0" rIns="0" bIns="0" rtlCol="0" anchor="t">
            <a:spAutoFit/>
          </a:bodyPr>
          <a:lstStyle/>
          <a:p>
            <a:pPr algn="ctr">
              <a:lnSpc>
                <a:spcPts val="3120"/>
              </a:lnSpc>
              <a:spcBef>
                <a:spcPct val="0"/>
              </a:spcBef>
            </a:pPr>
            <a:endParaRPr lang="en-US" sz="2228" dirty="0">
              <a:solidFill>
                <a:srgbClr val="E5E1DA"/>
              </a:solidFill>
              <a:latin typeface="Lato"/>
              <a:ea typeface="Lato"/>
              <a:cs typeface="Lato"/>
              <a:sym typeface="Lato"/>
            </a:endParaRPr>
          </a:p>
        </p:txBody>
      </p:sp>
      <p:sp>
        <p:nvSpPr>
          <p:cNvPr id="12" name="TextBox 12"/>
          <p:cNvSpPr txBox="1"/>
          <p:nvPr/>
        </p:nvSpPr>
        <p:spPr>
          <a:xfrm>
            <a:off x="1076325" y="942975"/>
            <a:ext cx="8067675" cy="746164"/>
          </a:xfrm>
          <a:prstGeom prst="rect">
            <a:avLst/>
          </a:prstGeom>
        </p:spPr>
        <p:txBody>
          <a:bodyPr lIns="0" tIns="0" rIns="0" bIns="0" rtlCol="0" anchor="t">
            <a:spAutoFit/>
          </a:bodyPr>
          <a:lstStyle/>
          <a:p>
            <a:pPr algn="l">
              <a:lnSpc>
                <a:spcPts val="6122"/>
              </a:lnSpc>
              <a:spcBef>
                <a:spcPct val="0"/>
              </a:spcBef>
            </a:pPr>
            <a:r>
              <a:rPr lang="en-US" sz="4373">
                <a:solidFill>
                  <a:srgbClr val="E4DA99"/>
                </a:solidFill>
                <a:latin typeface="Red Hat Display"/>
                <a:ea typeface="Red Hat Display"/>
                <a:cs typeface="Red Hat Display"/>
                <a:sym typeface="Red Hat Display"/>
              </a:rPr>
              <a:t>Let’s deduce the why and how....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a:off x="11878550" y="2429250"/>
            <a:ext cx="12221289" cy="8822969"/>
          </a:xfrm>
          <a:custGeom>
            <a:avLst/>
            <a:gdLst/>
            <a:ahLst/>
            <a:cxnLst/>
            <a:rect l="l" t="t" r="r" b="b"/>
            <a:pathLst>
              <a:path w="12221289" h="8822969">
                <a:moveTo>
                  <a:pt x="0" y="0"/>
                </a:moveTo>
                <a:lnTo>
                  <a:pt x="12221289" y="0"/>
                </a:lnTo>
                <a:lnTo>
                  <a:pt x="12221289" y="8822969"/>
                </a:lnTo>
                <a:lnTo>
                  <a:pt x="0" y="8822969"/>
                </a:lnTo>
                <a:lnTo>
                  <a:pt x="0" y="0"/>
                </a:lnTo>
                <a:close/>
              </a:path>
            </a:pathLst>
          </a:custGeom>
          <a:blipFill>
            <a:blip r:embed="rId3"/>
            <a:stretch>
              <a:fillRect/>
            </a:stretch>
          </a:blipFill>
        </p:spPr>
      </p:sp>
      <p:grpSp>
        <p:nvGrpSpPr>
          <p:cNvPr id="4" name="Group 4"/>
          <p:cNvGrpSpPr/>
          <p:nvPr/>
        </p:nvGrpSpPr>
        <p:grpSpPr>
          <a:xfrm>
            <a:off x="1028700" y="2347154"/>
            <a:ext cx="13851811" cy="6936631"/>
            <a:chOff x="0" y="0"/>
            <a:chExt cx="18469082" cy="9248842"/>
          </a:xfrm>
        </p:grpSpPr>
        <p:grpSp>
          <p:nvGrpSpPr>
            <p:cNvPr id="5" name="Group 5"/>
            <p:cNvGrpSpPr/>
            <p:nvPr/>
          </p:nvGrpSpPr>
          <p:grpSpPr>
            <a:xfrm>
              <a:off x="0" y="0"/>
              <a:ext cx="18469082" cy="9248842"/>
              <a:chOff x="0" y="0"/>
              <a:chExt cx="3648214" cy="1826932"/>
            </a:xfrm>
          </p:grpSpPr>
          <p:sp>
            <p:nvSpPr>
              <p:cNvPr id="6" name="Freeform 6"/>
              <p:cNvSpPr/>
              <p:nvPr/>
            </p:nvSpPr>
            <p:spPr>
              <a:xfrm>
                <a:off x="0" y="0"/>
                <a:ext cx="3648214" cy="1826932"/>
              </a:xfrm>
              <a:custGeom>
                <a:avLst/>
                <a:gdLst/>
                <a:ahLst/>
                <a:cxnLst/>
                <a:rect l="l" t="t" r="r" b="b"/>
                <a:pathLst>
                  <a:path w="3648214" h="1826932">
                    <a:moveTo>
                      <a:pt x="11178" y="0"/>
                    </a:moveTo>
                    <a:lnTo>
                      <a:pt x="3637035" y="0"/>
                    </a:lnTo>
                    <a:cubicBezTo>
                      <a:pt x="3643209" y="0"/>
                      <a:pt x="3648214" y="5005"/>
                      <a:pt x="3648214" y="11178"/>
                    </a:cubicBezTo>
                    <a:lnTo>
                      <a:pt x="3648214" y="1815754"/>
                    </a:lnTo>
                    <a:cubicBezTo>
                      <a:pt x="3648214" y="1821927"/>
                      <a:pt x="3643209" y="1826932"/>
                      <a:pt x="3637035" y="1826932"/>
                    </a:cubicBezTo>
                    <a:lnTo>
                      <a:pt x="11178" y="1826932"/>
                    </a:lnTo>
                    <a:cubicBezTo>
                      <a:pt x="5005" y="1826932"/>
                      <a:pt x="0" y="1821927"/>
                      <a:pt x="0" y="1815754"/>
                    </a:cubicBezTo>
                    <a:lnTo>
                      <a:pt x="0" y="11178"/>
                    </a:lnTo>
                    <a:cubicBezTo>
                      <a:pt x="0" y="5005"/>
                      <a:pt x="5005" y="0"/>
                      <a:pt x="11178" y="0"/>
                    </a:cubicBezTo>
                    <a:close/>
                  </a:path>
                </a:pathLst>
              </a:custGeom>
              <a:solidFill>
                <a:srgbClr val="04001E"/>
              </a:solidFill>
              <a:ln w="38100" cap="sq">
                <a:solidFill>
                  <a:srgbClr val="E5E1DA"/>
                </a:solidFill>
                <a:prstDash val="solid"/>
                <a:miter/>
              </a:ln>
            </p:spPr>
          </p:sp>
          <p:sp>
            <p:nvSpPr>
              <p:cNvPr id="7" name="TextBox 7"/>
              <p:cNvSpPr txBox="1"/>
              <p:nvPr/>
            </p:nvSpPr>
            <p:spPr>
              <a:xfrm>
                <a:off x="0" y="-38100"/>
                <a:ext cx="3648214" cy="1865032"/>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1282925" y="1141085"/>
              <a:ext cx="14095560" cy="1633220"/>
            </a:xfrm>
            <a:prstGeom prst="rect">
              <a:avLst/>
            </a:prstGeom>
          </p:spPr>
          <p:txBody>
            <a:bodyPr lIns="0" tIns="0" rIns="0" bIns="0" rtlCol="0" anchor="t">
              <a:spAutoFit/>
            </a:bodyPr>
            <a:lstStyle/>
            <a:p>
              <a:pPr algn="l">
                <a:lnSpc>
                  <a:spcPts val="8730"/>
                </a:lnSpc>
              </a:pPr>
              <a:r>
                <a:rPr lang="en-US" sz="9000">
                  <a:solidFill>
                    <a:srgbClr val="F4F4ED"/>
                  </a:solidFill>
                  <a:latin typeface="Archivo Black"/>
                  <a:ea typeface="Archivo Black"/>
                  <a:cs typeface="Archivo Black"/>
                  <a:sym typeface="Archivo Black"/>
                </a:rPr>
                <a:t>The Problem:</a:t>
              </a:r>
            </a:p>
          </p:txBody>
        </p:sp>
        <p:sp>
          <p:nvSpPr>
            <p:cNvPr id="9" name="TextBox 9"/>
            <p:cNvSpPr txBox="1"/>
            <p:nvPr/>
          </p:nvSpPr>
          <p:spPr>
            <a:xfrm>
              <a:off x="1282925" y="3013838"/>
              <a:ext cx="12752761" cy="4846321"/>
            </a:xfrm>
            <a:prstGeom prst="rect">
              <a:avLst/>
            </a:prstGeom>
          </p:spPr>
          <p:txBody>
            <a:bodyPr lIns="0" tIns="0" rIns="0" bIns="0" rtlCol="0" anchor="t">
              <a:spAutoFit/>
            </a:bodyPr>
            <a:lstStyle/>
            <a:p>
              <a:pPr marL="0" lvl="0" indent="0" algn="l">
                <a:lnSpc>
                  <a:spcPts val="3644"/>
                </a:lnSpc>
                <a:spcBef>
                  <a:spcPct val="0"/>
                </a:spcBef>
              </a:pPr>
              <a:r>
                <a:rPr lang="en-US" sz="2699" spc="161">
                  <a:solidFill>
                    <a:srgbClr val="FFFFFF"/>
                  </a:solidFill>
                  <a:latin typeface="Red Hat Display"/>
                  <a:ea typeface="Red Hat Display"/>
                  <a:cs typeface="Red Hat Display"/>
                  <a:sym typeface="Red Hat Display"/>
                </a:rPr>
                <a:t>Develop</a:t>
              </a:r>
              <a:r>
                <a:rPr lang="en-US" sz="2699" u="none" spc="161">
                  <a:solidFill>
                    <a:srgbClr val="FFFFFF"/>
                  </a:solidFill>
                  <a:latin typeface="Red Hat Display"/>
                  <a:ea typeface="Red Hat Display"/>
                  <a:cs typeface="Red Hat Display"/>
                  <a:sym typeface="Red Hat Display"/>
                </a:rPr>
                <a:t>ing a fully functional Agentic Chatbot system that showcases autonomous reasoning, planning, and task execution. The system should demonstrate live functionality, effective use of tools or APIs, and the ability to adapt to dynamic inputs. Explain key design decisions, highlight the chatbot’s robustness and scalability, and demonstrate its potential for real-world deployment.</a:t>
              </a:r>
            </a:p>
          </p:txBody>
        </p:sp>
      </p:grpSp>
      <p:sp>
        <p:nvSpPr>
          <p:cNvPr id="10" name="Freeform 10"/>
          <p:cNvSpPr/>
          <p:nvPr/>
        </p:nvSpPr>
        <p:spPr>
          <a:xfrm>
            <a:off x="12271832" y="7270926"/>
            <a:ext cx="896420" cy="896420"/>
          </a:xfrm>
          <a:custGeom>
            <a:avLst/>
            <a:gdLst/>
            <a:ahLst/>
            <a:cxnLst/>
            <a:rect l="l" t="t" r="r" b="b"/>
            <a:pathLst>
              <a:path w="896420" h="896420">
                <a:moveTo>
                  <a:pt x="0" y="0"/>
                </a:moveTo>
                <a:lnTo>
                  <a:pt x="896421" y="0"/>
                </a:lnTo>
                <a:lnTo>
                  <a:pt x="896421" y="896421"/>
                </a:lnTo>
                <a:lnTo>
                  <a:pt x="0" y="896421"/>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flipH="1">
            <a:off x="-4255355" y="462151"/>
            <a:ext cx="12221289" cy="8822969"/>
          </a:xfrm>
          <a:custGeom>
            <a:avLst/>
            <a:gdLst/>
            <a:ahLst/>
            <a:cxnLst/>
            <a:rect l="l" t="t" r="r" b="b"/>
            <a:pathLst>
              <a:path w="12221289" h="8822969">
                <a:moveTo>
                  <a:pt x="12221289" y="0"/>
                </a:moveTo>
                <a:lnTo>
                  <a:pt x="0" y="0"/>
                </a:lnTo>
                <a:lnTo>
                  <a:pt x="0" y="8822968"/>
                </a:lnTo>
                <a:lnTo>
                  <a:pt x="12221289" y="8822968"/>
                </a:lnTo>
                <a:lnTo>
                  <a:pt x="12221289" y="0"/>
                </a:lnTo>
                <a:close/>
              </a:path>
            </a:pathLst>
          </a:custGeom>
          <a:blipFill>
            <a:blip r:embed="rId3"/>
            <a:stretch>
              <a:fillRect/>
            </a:stretch>
          </a:blipFill>
        </p:spPr>
      </p:sp>
      <p:sp>
        <p:nvSpPr>
          <p:cNvPr id="4" name="Freeform 4"/>
          <p:cNvSpPr/>
          <p:nvPr/>
        </p:nvSpPr>
        <p:spPr>
          <a:xfrm>
            <a:off x="16362880" y="8130249"/>
            <a:ext cx="896420" cy="896420"/>
          </a:xfrm>
          <a:custGeom>
            <a:avLst/>
            <a:gdLst/>
            <a:ahLst/>
            <a:cxnLst/>
            <a:rect l="l" t="t" r="r" b="b"/>
            <a:pathLst>
              <a:path w="896420" h="896420">
                <a:moveTo>
                  <a:pt x="0" y="0"/>
                </a:moveTo>
                <a:lnTo>
                  <a:pt x="896420" y="0"/>
                </a:lnTo>
                <a:lnTo>
                  <a:pt x="896420" y="896420"/>
                </a:lnTo>
                <a:lnTo>
                  <a:pt x="0" y="896420"/>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1028700" y="1470089"/>
            <a:ext cx="6749359" cy="6768991"/>
            <a:chOff x="0" y="0"/>
            <a:chExt cx="8999145" cy="9025321"/>
          </a:xfrm>
        </p:grpSpPr>
        <p:grpSp>
          <p:nvGrpSpPr>
            <p:cNvPr id="6" name="Group 6"/>
            <p:cNvGrpSpPr/>
            <p:nvPr/>
          </p:nvGrpSpPr>
          <p:grpSpPr>
            <a:xfrm>
              <a:off x="0" y="0"/>
              <a:ext cx="8999145" cy="9025321"/>
              <a:chOff x="0" y="0"/>
              <a:chExt cx="1777609" cy="1782780"/>
            </a:xfrm>
          </p:grpSpPr>
          <p:sp>
            <p:nvSpPr>
              <p:cNvPr id="7" name="Freeform 7"/>
              <p:cNvSpPr/>
              <p:nvPr/>
            </p:nvSpPr>
            <p:spPr>
              <a:xfrm>
                <a:off x="0" y="0"/>
                <a:ext cx="1777609" cy="1782780"/>
              </a:xfrm>
              <a:custGeom>
                <a:avLst/>
                <a:gdLst/>
                <a:ahLst/>
                <a:cxnLst/>
                <a:rect l="l" t="t" r="r" b="b"/>
                <a:pathLst>
                  <a:path w="1777609" h="1782780">
                    <a:moveTo>
                      <a:pt x="22941" y="0"/>
                    </a:moveTo>
                    <a:lnTo>
                      <a:pt x="1754668" y="0"/>
                    </a:lnTo>
                    <a:cubicBezTo>
                      <a:pt x="1767338" y="0"/>
                      <a:pt x="1777609" y="10271"/>
                      <a:pt x="1777609" y="22941"/>
                    </a:cubicBezTo>
                    <a:lnTo>
                      <a:pt x="1777609" y="1759838"/>
                    </a:lnTo>
                    <a:cubicBezTo>
                      <a:pt x="1777609" y="1765923"/>
                      <a:pt x="1775192" y="1771758"/>
                      <a:pt x="1770890" y="1776060"/>
                    </a:cubicBezTo>
                    <a:cubicBezTo>
                      <a:pt x="1766587" y="1780362"/>
                      <a:pt x="1760752" y="1782780"/>
                      <a:pt x="1754668" y="1782780"/>
                    </a:cubicBezTo>
                    <a:lnTo>
                      <a:pt x="22941" y="1782780"/>
                    </a:lnTo>
                    <a:cubicBezTo>
                      <a:pt x="16857" y="1782780"/>
                      <a:pt x="11022" y="1780362"/>
                      <a:pt x="6719" y="1776060"/>
                    </a:cubicBezTo>
                    <a:cubicBezTo>
                      <a:pt x="2417" y="1771758"/>
                      <a:pt x="0" y="1765923"/>
                      <a:pt x="0" y="1759838"/>
                    </a:cubicBezTo>
                    <a:lnTo>
                      <a:pt x="0" y="22941"/>
                    </a:lnTo>
                    <a:cubicBezTo>
                      <a:pt x="0" y="10271"/>
                      <a:pt x="10271" y="0"/>
                      <a:pt x="22941" y="0"/>
                    </a:cubicBezTo>
                    <a:close/>
                  </a:path>
                </a:pathLst>
              </a:custGeom>
              <a:solidFill>
                <a:srgbClr val="04001E"/>
              </a:solidFill>
              <a:ln w="38100" cap="sq">
                <a:solidFill>
                  <a:srgbClr val="E5E1DA"/>
                </a:solidFill>
                <a:prstDash val="solid"/>
                <a:miter/>
              </a:ln>
            </p:spPr>
          </p:sp>
          <p:sp>
            <p:nvSpPr>
              <p:cNvPr id="8" name="TextBox 8"/>
              <p:cNvSpPr txBox="1"/>
              <p:nvPr/>
            </p:nvSpPr>
            <p:spPr>
              <a:xfrm>
                <a:off x="0" y="-38100"/>
                <a:ext cx="1777609" cy="1820880"/>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639966" y="1115685"/>
              <a:ext cx="7461309" cy="6052820"/>
            </a:xfrm>
            <a:prstGeom prst="rect">
              <a:avLst/>
            </a:prstGeom>
          </p:spPr>
          <p:txBody>
            <a:bodyPr lIns="0" tIns="0" rIns="0" bIns="0" rtlCol="0" anchor="t">
              <a:spAutoFit/>
            </a:bodyPr>
            <a:lstStyle/>
            <a:p>
              <a:pPr algn="l">
                <a:lnSpc>
                  <a:spcPts val="8730"/>
                </a:lnSpc>
              </a:pPr>
              <a:r>
                <a:rPr lang="en-US" sz="9000">
                  <a:solidFill>
                    <a:srgbClr val="F4F4ED"/>
                  </a:solidFill>
                  <a:latin typeface="Archivo Black"/>
                  <a:ea typeface="Archivo Black"/>
                  <a:cs typeface="Archivo Black"/>
                  <a:sym typeface="Archivo Black"/>
                </a:rPr>
                <a:t>What does the user want?</a:t>
              </a:r>
            </a:p>
          </p:txBody>
        </p:sp>
        <p:sp>
          <p:nvSpPr>
            <p:cNvPr id="10" name="TextBox 10"/>
            <p:cNvSpPr txBox="1"/>
            <p:nvPr/>
          </p:nvSpPr>
          <p:spPr>
            <a:xfrm>
              <a:off x="723315" y="7655415"/>
              <a:ext cx="6744584" cy="445135"/>
            </a:xfrm>
            <a:prstGeom prst="rect">
              <a:avLst/>
            </a:prstGeom>
          </p:spPr>
          <p:txBody>
            <a:bodyPr lIns="0" tIns="0" rIns="0" bIns="0" rtlCol="0" anchor="t">
              <a:spAutoFit/>
            </a:bodyPr>
            <a:lstStyle/>
            <a:p>
              <a:pPr marL="0" lvl="0" indent="0" algn="l">
                <a:lnSpc>
                  <a:spcPts val="2834"/>
                </a:lnSpc>
                <a:spcBef>
                  <a:spcPct val="0"/>
                </a:spcBef>
              </a:pPr>
              <a:endParaRPr/>
            </a:p>
          </p:txBody>
        </p:sp>
      </p:grpSp>
      <p:sp>
        <p:nvSpPr>
          <p:cNvPr id="11" name="AutoShape 11"/>
          <p:cNvSpPr/>
          <p:nvPr/>
        </p:nvSpPr>
        <p:spPr>
          <a:xfrm flipV="1">
            <a:off x="8482550" y="-2607264"/>
            <a:ext cx="0" cy="15773061"/>
          </a:xfrm>
          <a:prstGeom prst="line">
            <a:avLst/>
          </a:prstGeom>
          <a:ln w="19050" cap="flat">
            <a:solidFill>
              <a:srgbClr val="F4F4ED"/>
            </a:solidFill>
            <a:prstDash val="solid"/>
            <a:headEnd type="none" w="sm" len="sm"/>
            <a:tailEnd type="none" w="sm" len="sm"/>
          </a:ln>
        </p:spPr>
      </p:sp>
      <p:grpSp>
        <p:nvGrpSpPr>
          <p:cNvPr id="12" name="Group 12"/>
          <p:cNvGrpSpPr/>
          <p:nvPr/>
        </p:nvGrpSpPr>
        <p:grpSpPr>
          <a:xfrm rot="-5400000">
            <a:off x="8285183" y="7065390"/>
            <a:ext cx="394734" cy="718264"/>
            <a:chOff x="0" y="0"/>
            <a:chExt cx="812800" cy="1478982"/>
          </a:xfrm>
        </p:grpSpPr>
        <p:sp>
          <p:nvSpPr>
            <p:cNvPr id="13" name="Freeform 13"/>
            <p:cNvSpPr/>
            <p:nvPr/>
          </p:nvSpPr>
          <p:spPr>
            <a:xfrm>
              <a:off x="0" y="0"/>
              <a:ext cx="812800" cy="1478982"/>
            </a:xfrm>
            <a:custGeom>
              <a:avLst/>
              <a:gdLst/>
              <a:ahLst/>
              <a:cxnLst/>
              <a:rect l="l" t="t" r="r" b="b"/>
              <a:pathLst>
                <a:path w="812800" h="1478982">
                  <a:moveTo>
                    <a:pt x="406400" y="0"/>
                  </a:moveTo>
                  <a:lnTo>
                    <a:pt x="535715" y="504187"/>
                  </a:lnTo>
                  <a:lnTo>
                    <a:pt x="812800" y="739491"/>
                  </a:lnTo>
                  <a:lnTo>
                    <a:pt x="535715" y="974794"/>
                  </a:lnTo>
                  <a:lnTo>
                    <a:pt x="406400" y="1478982"/>
                  </a:lnTo>
                  <a:lnTo>
                    <a:pt x="277085" y="974794"/>
                  </a:lnTo>
                  <a:lnTo>
                    <a:pt x="0" y="739491"/>
                  </a:lnTo>
                  <a:lnTo>
                    <a:pt x="277085" y="504187"/>
                  </a:lnTo>
                  <a:lnTo>
                    <a:pt x="406400" y="0"/>
                  </a:lnTo>
                  <a:close/>
                </a:path>
              </a:pathLst>
            </a:custGeom>
            <a:solidFill>
              <a:srgbClr val="FFFFFF"/>
            </a:solidFill>
            <a:ln cap="sq">
              <a:noFill/>
              <a:prstDash val="solid"/>
              <a:miter/>
            </a:ln>
          </p:spPr>
        </p:sp>
        <p:sp>
          <p:nvSpPr>
            <p:cNvPr id="14" name="TextBox 14"/>
            <p:cNvSpPr txBox="1"/>
            <p:nvPr/>
          </p:nvSpPr>
          <p:spPr>
            <a:xfrm>
              <a:off x="190500" y="384736"/>
              <a:ext cx="431800" cy="747609"/>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15" name="Group 15"/>
          <p:cNvGrpSpPr/>
          <p:nvPr/>
        </p:nvGrpSpPr>
        <p:grpSpPr>
          <a:xfrm rot="-5400000">
            <a:off x="8285183" y="4279917"/>
            <a:ext cx="394734" cy="718264"/>
            <a:chOff x="0" y="0"/>
            <a:chExt cx="812800" cy="1478982"/>
          </a:xfrm>
        </p:grpSpPr>
        <p:sp>
          <p:nvSpPr>
            <p:cNvPr id="16" name="Freeform 16"/>
            <p:cNvSpPr/>
            <p:nvPr/>
          </p:nvSpPr>
          <p:spPr>
            <a:xfrm>
              <a:off x="0" y="0"/>
              <a:ext cx="812800" cy="1478982"/>
            </a:xfrm>
            <a:custGeom>
              <a:avLst/>
              <a:gdLst/>
              <a:ahLst/>
              <a:cxnLst/>
              <a:rect l="l" t="t" r="r" b="b"/>
              <a:pathLst>
                <a:path w="812800" h="1478982">
                  <a:moveTo>
                    <a:pt x="406400" y="0"/>
                  </a:moveTo>
                  <a:lnTo>
                    <a:pt x="535715" y="504187"/>
                  </a:lnTo>
                  <a:lnTo>
                    <a:pt x="812800" y="739491"/>
                  </a:lnTo>
                  <a:lnTo>
                    <a:pt x="535715" y="974794"/>
                  </a:lnTo>
                  <a:lnTo>
                    <a:pt x="406400" y="1478982"/>
                  </a:lnTo>
                  <a:lnTo>
                    <a:pt x="277085" y="974794"/>
                  </a:lnTo>
                  <a:lnTo>
                    <a:pt x="0" y="739491"/>
                  </a:lnTo>
                  <a:lnTo>
                    <a:pt x="277085" y="504187"/>
                  </a:lnTo>
                  <a:lnTo>
                    <a:pt x="406400" y="0"/>
                  </a:lnTo>
                  <a:close/>
                </a:path>
              </a:pathLst>
            </a:custGeom>
            <a:solidFill>
              <a:srgbClr val="FFFFFF"/>
            </a:solidFill>
            <a:ln cap="sq">
              <a:noFill/>
              <a:prstDash val="solid"/>
              <a:miter/>
            </a:ln>
          </p:spPr>
        </p:sp>
        <p:sp>
          <p:nvSpPr>
            <p:cNvPr id="17" name="TextBox 17"/>
            <p:cNvSpPr txBox="1"/>
            <p:nvPr/>
          </p:nvSpPr>
          <p:spPr>
            <a:xfrm>
              <a:off x="190500" y="384736"/>
              <a:ext cx="431800" cy="747609"/>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18" name="Group 18"/>
          <p:cNvGrpSpPr/>
          <p:nvPr/>
        </p:nvGrpSpPr>
        <p:grpSpPr>
          <a:xfrm rot="-5400000">
            <a:off x="8285183" y="1379587"/>
            <a:ext cx="394734" cy="718264"/>
            <a:chOff x="0" y="0"/>
            <a:chExt cx="812800" cy="1478982"/>
          </a:xfrm>
        </p:grpSpPr>
        <p:sp>
          <p:nvSpPr>
            <p:cNvPr id="19" name="Freeform 19"/>
            <p:cNvSpPr/>
            <p:nvPr/>
          </p:nvSpPr>
          <p:spPr>
            <a:xfrm>
              <a:off x="0" y="0"/>
              <a:ext cx="812800" cy="1478982"/>
            </a:xfrm>
            <a:custGeom>
              <a:avLst/>
              <a:gdLst/>
              <a:ahLst/>
              <a:cxnLst/>
              <a:rect l="l" t="t" r="r" b="b"/>
              <a:pathLst>
                <a:path w="812800" h="1478982">
                  <a:moveTo>
                    <a:pt x="406400" y="0"/>
                  </a:moveTo>
                  <a:lnTo>
                    <a:pt x="535715" y="504187"/>
                  </a:lnTo>
                  <a:lnTo>
                    <a:pt x="812800" y="739491"/>
                  </a:lnTo>
                  <a:lnTo>
                    <a:pt x="535715" y="974794"/>
                  </a:lnTo>
                  <a:lnTo>
                    <a:pt x="406400" y="1478982"/>
                  </a:lnTo>
                  <a:lnTo>
                    <a:pt x="277085" y="974794"/>
                  </a:lnTo>
                  <a:lnTo>
                    <a:pt x="0" y="739491"/>
                  </a:lnTo>
                  <a:lnTo>
                    <a:pt x="277085" y="504187"/>
                  </a:lnTo>
                  <a:lnTo>
                    <a:pt x="406400" y="0"/>
                  </a:lnTo>
                  <a:close/>
                </a:path>
              </a:pathLst>
            </a:custGeom>
            <a:solidFill>
              <a:srgbClr val="FFFFFF"/>
            </a:solidFill>
            <a:ln cap="sq">
              <a:noFill/>
              <a:prstDash val="solid"/>
              <a:miter/>
            </a:ln>
          </p:spPr>
        </p:sp>
        <p:sp>
          <p:nvSpPr>
            <p:cNvPr id="20" name="TextBox 20"/>
            <p:cNvSpPr txBox="1"/>
            <p:nvPr/>
          </p:nvSpPr>
          <p:spPr>
            <a:xfrm>
              <a:off x="190500" y="384736"/>
              <a:ext cx="431800" cy="747609"/>
            </a:xfrm>
            <a:prstGeom prst="rect">
              <a:avLst/>
            </a:prstGeom>
          </p:spPr>
          <p:txBody>
            <a:bodyPr lIns="50800" tIns="50800" rIns="50800" bIns="50800" rtlCol="0" anchor="ctr"/>
            <a:lstStyle/>
            <a:p>
              <a:pPr marL="0" lvl="0" indent="0" algn="ctr">
                <a:lnSpc>
                  <a:spcPts val="2266"/>
                </a:lnSpc>
                <a:spcBef>
                  <a:spcPct val="0"/>
                </a:spcBef>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flipH="1">
            <a:off x="-4255355" y="462151"/>
            <a:ext cx="12221289" cy="8822969"/>
          </a:xfrm>
          <a:custGeom>
            <a:avLst/>
            <a:gdLst/>
            <a:ahLst/>
            <a:cxnLst/>
            <a:rect l="l" t="t" r="r" b="b"/>
            <a:pathLst>
              <a:path w="12221289" h="8822969">
                <a:moveTo>
                  <a:pt x="12221289" y="0"/>
                </a:moveTo>
                <a:lnTo>
                  <a:pt x="0" y="0"/>
                </a:lnTo>
                <a:lnTo>
                  <a:pt x="0" y="8822968"/>
                </a:lnTo>
                <a:lnTo>
                  <a:pt x="12221289" y="8822968"/>
                </a:lnTo>
                <a:lnTo>
                  <a:pt x="12221289" y="0"/>
                </a:lnTo>
                <a:close/>
              </a:path>
            </a:pathLst>
          </a:custGeom>
          <a:blipFill>
            <a:blip r:embed="rId3"/>
            <a:stretch>
              <a:fillRect/>
            </a:stretch>
          </a:blipFill>
        </p:spPr>
      </p:sp>
      <p:sp>
        <p:nvSpPr>
          <p:cNvPr id="4" name="Freeform 4"/>
          <p:cNvSpPr/>
          <p:nvPr/>
        </p:nvSpPr>
        <p:spPr>
          <a:xfrm>
            <a:off x="16362880" y="8130249"/>
            <a:ext cx="896420" cy="896420"/>
          </a:xfrm>
          <a:custGeom>
            <a:avLst/>
            <a:gdLst/>
            <a:ahLst/>
            <a:cxnLst/>
            <a:rect l="l" t="t" r="r" b="b"/>
            <a:pathLst>
              <a:path w="896420" h="896420">
                <a:moveTo>
                  <a:pt x="0" y="0"/>
                </a:moveTo>
                <a:lnTo>
                  <a:pt x="896420" y="0"/>
                </a:lnTo>
                <a:lnTo>
                  <a:pt x="896420" y="896420"/>
                </a:lnTo>
                <a:lnTo>
                  <a:pt x="0" y="896420"/>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1028700" y="1470089"/>
            <a:ext cx="6749359" cy="6768991"/>
            <a:chOff x="0" y="0"/>
            <a:chExt cx="8999145" cy="9025321"/>
          </a:xfrm>
        </p:grpSpPr>
        <p:grpSp>
          <p:nvGrpSpPr>
            <p:cNvPr id="6" name="Group 6"/>
            <p:cNvGrpSpPr/>
            <p:nvPr/>
          </p:nvGrpSpPr>
          <p:grpSpPr>
            <a:xfrm>
              <a:off x="0" y="0"/>
              <a:ext cx="8999145" cy="9025321"/>
              <a:chOff x="0" y="0"/>
              <a:chExt cx="1777609" cy="1782780"/>
            </a:xfrm>
          </p:grpSpPr>
          <p:sp>
            <p:nvSpPr>
              <p:cNvPr id="7" name="Freeform 7"/>
              <p:cNvSpPr/>
              <p:nvPr/>
            </p:nvSpPr>
            <p:spPr>
              <a:xfrm>
                <a:off x="0" y="0"/>
                <a:ext cx="1777609" cy="1782780"/>
              </a:xfrm>
              <a:custGeom>
                <a:avLst/>
                <a:gdLst/>
                <a:ahLst/>
                <a:cxnLst/>
                <a:rect l="l" t="t" r="r" b="b"/>
                <a:pathLst>
                  <a:path w="1777609" h="1782780">
                    <a:moveTo>
                      <a:pt x="22941" y="0"/>
                    </a:moveTo>
                    <a:lnTo>
                      <a:pt x="1754668" y="0"/>
                    </a:lnTo>
                    <a:cubicBezTo>
                      <a:pt x="1767338" y="0"/>
                      <a:pt x="1777609" y="10271"/>
                      <a:pt x="1777609" y="22941"/>
                    </a:cubicBezTo>
                    <a:lnTo>
                      <a:pt x="1777609" y="1759838"/>
                    </a:lnTo>
                    <a:cubicBezTo>
                      <a:pt x="1777609" y="1765923"/>
                      <a:pt x="1775192" y="1771758"/>
                      <a:pt x="1770890" y="1776060"/>
                    </a:cubicBezTo>
                    <a:cubicBezTo>
                      <a:pt x="1766587" y="1780362"/>
                      <a:pt x="1760752" y="1782780"/>
                      <a:pt x="1754668" y="1782780"/>
                    </a:cubicBezTo>
                    <a:lnTo>
                      <a:pt x="22941" y="1782780"/>
                    </a:lnTo>
                    <a:cubicBezTo>
                      <a:pt x="16857" y="1782780"/>
                      <a:pt x="11022" y="1780362"/>
                      <a:pt x="6719" y="1776060"/>
                    </a:cubicBezTo>
                    <a:cubicBezTo>
                      <a:pt x="2417" y="1771758"/>
                      <a:pt x="0" y="1765923"/>
                      <a:pt x="0" y="1759838"/>
                    </a:cubicBezTo>
                    <a:lnTo>
                      <a:pt x="0" y="22941"/>
                    </a:lnTo>
                    <a:cubicBezTo>
                      <a:pt x="0" y="10271"/>
                      <a:pt x="10271" y="0"/>
                      <a:pt x="22941" y="0"/>
                    </a:cubicBezTo>
                    <a:close/>
                  </a:path>
                </a:pathLst>
              </a:custGeom>
              <a:solidFill>
                <a:srgbClr val="04001E"/>
              </a:solidFill>
              <a:ln w="38100" cap="sq">
                <a:solidFill>
                  <a:srgbClr val="E5E1DA"/>
                </a:solidFill>
                <a:prstDash val="solid"/>
                <a:miter/>
              </a:ln>
            </p:spPr>
          </p:sp>
          <p:sp>
            <p:nvSpPr>
              <p:cNvPr id="8" name="TextBox 8"/>
              <p:cNvSpPr txBox="1"/>
              <p:nvPr/>
            </p:nvSpPr>
            <p:spPr>
              <a:xfrm>
                <a:off x="0" y="-38100"/>
                <a:ext cx="1777609" cy="1820880"/>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639966" y="1115685"/>
              <a:ext cx="7461309" cy="6052820"/>
            </a:xfrm>
            <a:prstGeom prst="rect">
              <a:avLst/>
            </a:prstGeom>
          </p:spPr>
          <p:txBody>
            <a:bodyPr lIns="0" tIns="0" rIns="0" bIns="0" rtlCol="0" anchor="t">
              <a:spAutoFit/>
            </a:bodyPr>
            <a:lstStyle/>
            <a:p>
              <a:pPr algn="l">
                <a:lnSpc>
                  <a:spcPts val="8730"/>
                </a:lnSpc>
              </a:pPr>
              <a:r>
                <a:rPr lang="en-US" sz="9000">
                  <a:solidFill>
                    <a:srgbClr val="F4F4ED"/>
                  </a:solidFill>
                  <a:latin typeface="Archivo Black"/>
                  <a:ea typeface="Archivo Black"/>
                  <a:cs typeface="Archivo Black"/>
                  <a:sym typeface="Archivo Black"/>
                </a:rPr>
                <a:t>What does the user want?</a:t>
              </a:r>
            </a:p>
          </p:txBody>
        </p:sp>
        <p:sp>
          <p:nvSpPr>
            <p:cNvPr id="10" name="TextBox 10"/>
            <p:cNvSpPr txBox="1"/>
            <p:nvPr/>
          </p:nvSpPr>
          <p:spPr>
            <a:xfrm>
              <a:off x="723315" y="7655415"/>
              <a:ext cx="6744584" cy="445135"/>
            </a:xfrm>
            <a:prstGeom prst="rect">
              <a:avLst/>
            </a:prstGeom>
          </p:spPr>
          <p:txBody>
            <a:bodyPr lIns="0" tIns="0" rIns="0" bIns="0" rtlCol="0" anchor="t">
              <a:spAutoFit/>
            </a:bodyPr>
            <a:lstStyle/>
            <a:p>
              <a:pPr marL="0" lvl="0" indent="0" algn="l">
                <a:lnSpc>
                  <a:spcPts val="2834"/>
                </a:lnSpc>
                <a:spcBef>
                  <a:spcPct val="0"/>
                </a:spcBef>
              </a:pPr>
              <a:endParaRPr/>
            </a:p>
          </p:txBody>
        </p:sp>
      </p:grpSp>
      <p:sp>
        <p:nvSpPr>
          <p:cNvPr id="11" name="AutoShape 11"/>
          <p:cNvSpPr/>
          <p:nvPr/>
        </p:nvSpPr>
        <p:spPr>
          <a:xfrm flipV="1">
            <a:off x="8482550" y="-2607264"/>
            <a:ext cx="0" cy="15773061"/>
          </a:xfrm>
          <a:prstGeom prst="line">
            <a:avLst/>
          </a:prstGeom>
          <a:ln w="19050" cap="flat">
            <a:solidFill>
              <a:srgbClr val="F4F4ED"/>
            </a:solidFill>
            <a:prstDash val="solid"/>
            <a:headEnd type="none" w="sm" len="sm"/>
            <a:tailEnd type="none" w="sm" len="sm"/>
          </a:ln>
        </p:spPr>
      </p:sp>
      <p:grpSp>
        <p:nvGrpSpPr>
          <p:cNvPr id="12" name="Group 12"/>
          <p:cNvGrpSpPr/>
          <p:nvPr/>
        </p:nvGrpSpPr>
        <p:grpSpPr>
          <a:xfrm rot="-5400000">
            <a:off x="8285183" y="7065390"/>
            <a:ext cx="394734" cy="718264"/>
            <a:chOff x="0" y="0"/>
            <a:chExt cx="812800" cy="1478982"/>
          </a:xfrm>
        </p:grpSpPr>
        <p:sp>
          <p:nvSpPr>
            <p:cNvPr id="13" name="Freeform 13"/>
            <p:cNvSpPr/>
            <p:nvPr/>
          </p:nvSpPr>
          <p:spPr>
            <a:xfrm>
              <a:off x="0" y="0"/>
              <a:ext cx="812800" cy="1478982"/>
            </a:xfrm>
            <a:custGeom>
              <a:avLst/>
              <a:gdLst/>
              <a:ahLst/>
              <a:cxnLst/>
              <a:rect l="l" t="t" r="r" b="b"/>
              <a:pathLst>
                <a:path w="812800" h="1478982">
                  <a:moveTo>
                    <a:pt x="406400" y="0"/>
                  </a:moveTo>
                  <a:lnTo>
                    <a:pt x="535715" y="504187"/>
                  </a:lnTo>
                  <a:lnTo>
                    <a:pt x="812800" y="739491"/>
                  </a:lnTo>
                  <a:lnTo>
                    <a:pt x="535715" y="974794"/>
                  </a:lnTo>
                  <a:lnTo>
                    <a:pt x="406400" y="1478982"/>
                  </a:lnTo>
                  <a:lnTo>
                    <a:pt x="277085" y="974794"/>
                  </a:lnTo>
                  <a:lnTo>
                    <a:pt x="0" y="739491"/>
                  </a:lnTo>
                  <a:lnTo>
                    <a:pt x="277085" y="504187"/>
                  </a:lnTo>
                  <a:lnTo>
                    <a:pt x="406400" y="0"/>
                  </a:lnTo>
                  <a:close/>
                </a:path>
              </a:pathLst>
            </a:custGeom>
            <a:solidFill>
              <a:srgbClr val="FFFFFF"/>
            </a:solidFill>
            <a:ln cap="sq">
              <a:noFill/>
              <a:prstDash val="solid"/>
              <a:miter/>
            </a:ln>
          </p:spPr>
        </p:sp>
        <p:sp>
          <p:nvSpPr>
            <p:cNvPr id="14" name="TextBox 14"/>
            <p:cNvSpPr txBox="1"/>
            <p:nvPr/>
          </p:nvSpPr>
          <p:spPr>
            <a:xfrm>
              <a:off x="190500" y="384736"/>
              <a:ext cx="431800" cy="747609"/>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15" name="Group 15"/>
          <p:cNvGrpSpPr/>
          <p:nvPr/>
        </p:nvGrpSpPr>
        <p:grpSpPr>
          <a:xfrm rot="-5400000">
            <a:off x="8285183" y="4279917"/>
            <a:ext cx="394734" cy="718264"/>
            <a:chOff x="0" y="0"/>
            <a:chExt cx="812800" cy="1478982"/>
          </a:xfrm>
        </p:grpSpPr>
        <p:sp>
          <p:nvSpPr>
            <p:cNvPr id="16" name="Freeform 16"/>
            <p:cNvSpPr/>
            <p:nvPr/>
          </p:nvSpPr>
          <p:spPr>
            <a:xfrm>
              <a:off x="0" y="0"/>
              <a:ext cx="812800" cy="1478982"/>
            </a:xfrm>
            <a:custGeom>
              <a:avLst/>
              <a:gdLst/>
              <a:ahLst/>
              <a:cxnLst/>
              <a:rect l="l" t="t" r="r" b="b"/>
              <a:pathLst>
                <a:path w="812800" h="1478982">
                  <a:moveTo>
                    <a:pt x="406400" y="0"/>
                  </a:moveTo>
                  <a:lnTo>
                    <a:pt x="535715" y="504187"/>
                  </a:lnTo>
                  <a:lnTo>
                    <a:pt x="812800" y="739491"/>
                  </a:lnTo>
                  <a:lnTo>
                    <a:pt x="535715" y="974794"/>
                  </a:lnTo>
                  <a:lnTo>
                    <a:pt x="406400" y="1478982"/>
                  </a:lnTo>
                  <a:lnTo>
                    <a:pt x="277085" y="974794"/>
                  </a:lnTo>
                  <a:lnTo>
                    <a:pt x="0" y="739491"/>
                  </a:lnTo>
                  <a:lnTo>
                    <a:pt x="277085" y="504187"/>
                  </a:lnTo>
                  <a:lnTo>
                    <a:pt x="406400" y="0"/>
                  </a:lnTo>
                  <a:close/>
                </a:path>
              </a:pathLst>
            </a:custGeom>
            <a:solidFill>
              <a:srgbClr val="FFFFFF"/>
            </a:solidFill>
            <a:ln cap="sq">
              <a:noFill/>
              <a:prstDash val="solid"/>
              <a:miter/>
            </a:ln>
          </p:spPr>
        </p:sp>
        <p:sp>
          <p:nvSpPr>
            <p:cNvPr id="17" name="TextBox 17"/>
            <p:cNvSpPr txBox="1"/>
            <p:nvPr/>
          </p:nvSpPr>
          <p:spPr>
            <a:xfrm>
              <a:off x="190500" y="384736"/>
              <a:ext cx="431800" cy="747609"/>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18" name="Group 18"/>
          <p:cNvGrpSpPr/>
          <p:nvPr/>
        </p:nvGrpSpPr>
        <p:grpSpPr>
          <a:xfrm rot="-5400000">
            <a:off x="8285183" y="1379587"/>
            <a:ext cx="394734" cy="718264"/>
            <a:chOff x="0" y="0"/>
            <a:chExt cx="812800" cy="1478982"/>
          </a:xfrm>
        </p:grpSpPr>
        <p:sp>
          <p:nvSpPr>
            <p:cNvPr id="19" name="Freeform 19"/>
            <p:cNvSpPr/>
            <p:nvPr/>
          </p:nvSpPr>
          <p:spPr>
            <a:xfrm>
              <a:off x="0" y="0"/>
              <a:ext cx="812800" cy="1478982"/>
            </a:xfrm>
            <a:custGeom>
              <a:avLst/>
              <a:gdLst/>
              <a:ahLst/>
              <a:cxnLst/>
              <a:rect l="l" t="t" r="r" b="b"/>
              <a:pathLst>
                <a:path w="812800" h="1478982">
                  <a:moveTo>
                    <a:pt x="406400" y="0"/>
                  </a:moveTo>
                  <a:lnTo>
                    <a:pt x="535715" y="504187"/>
                  </a:lnTo>
                  <a:lnTo>
                    <a:pt x="812800" y="739491"/>
                  </a:lnTo>
                  <a:lnTo>
                    <a:pt x="535715" y="974794"/>
                  </a:lnTo>
                  <a:lnTo>
                    <a:pt x="406400" y="1478982"/>
                  </a:lnTo>
                  <a:lnTo>
                    <a:pt x="277085" y="974794"/>
                  </a:lnTo>
                  <a:lnTo>
                    <a:pt x="0" y="739491"/>
                  </a:lnTo>
                  <a:lnTo>
                    <a:pt x="277085" y="504187"/>
                  </a:lnTo>
                  <a:lnTo>
                    <a:pt x="406400" y="0"/>
                  </a:lnTo>
                  <a:close/>
                </a:path>
              </a:pathLst>
            </a:custGeom>
            <a:solidFill>
              <a:srgbClr val="FFFFFF"/>
            </a:solidFill>
            <a:ln cap="sq">
              <a:noFill/>
              <a:prstDash val="solid"/>
              <a:miter/>
            </a:ln>
          </p:spPr>
        </p:sp>
        <p:sp>
          <p:nvSpPr>
            <p:cNvPr id="20" name="TextBox 20"/>
            <p:cNvSpPr txBox="1"/>
            <p:nvPr/>
          </p:nvSpPr>
          <p:spPr>
            <a:xfrm>
              <a:off x="190500" y="384736"/>
              <a:ext cx="431800" cy="747609"/>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21" name="Group 21"/>
          <p:cNvGrpSpPr/>
          <p:nvPr/>
        </p:nvGrpSpPr>
        <p:grpSpPr>
          <a:xfrm>
            <a:off x="9321397" y="1095257"/>
            <a:ext cx="8216916" cy="2561528"/>
            <a:chOff x="0" y="0"/>
            <a:chExt cx="2750680" cy="857492"/>
          </a:xfrm>
        </p:grpSpPr>
        <p:sp>
          <p:nvSpPr>
            <p:cNvPr id="22" name="Freeform 22"/>
            <p:cNvSpPr/>
            <p:nvPr/>
          </p:nvSpPr>
          <p:spPr>
            <a:xfrm>
              <a:off x="0" y="0"/>
              <a:ext cx="2750680" cy="857492"/>
            </a:xfrm>
            <a:custGeom>
              <a:avLst/>
              <a:gdLst/>
              <a:ahLst/>
              <a:cxnLst/>
              <a:rect l="l" t="t" r="r" b="b"/>
              <a:pathLst>
                <a:path w="2750680" h="857492">
                  <a:moveTo>
                    <a:pt x="18844" y="0"/>
                  </a:moveTo>
                  <a:lnTo>
                    <a:pt x="2731836" y="0"/>
                  </a:lnTo>
                  <a:cubicBezTo>
                    <a:pt x="2736834" y="0"/>
                    <a:pt x="2741627" y="1985"/>
                    <a:pt x="2745161" y="5519"/>
                  </a:cubicBezTo>
                  <a:cubicBezTo>
                    <a:pt x="2748695" y="9053"/>
                    <a:pt x="2750680" y="13846"/>
                    <a:pt x="2750680" y="18844"/>
                  </a:cubicBezTo>
                  <a:lnTo>
                    <a:pt x="2750680" y="838649"/>
                  </a:lnTo>
                  <a:cubicBezTo>
                    <a:pt x="2750680" y="843646"/>
                    <a:pt x="2748695" y="848439"/>
                    <a:pt x="2745161" y="851973"/>
                  </a:cubicBezTo>
                  <a:cubicBezTo>
                    <a:pt x="2741627" y="855507"/>
                    <a:pt x="2736834" y="857492"/>
                    <a:pt x="2731836" y="857492"/>
                  </a:cubicBezTo>
                  <a:lnTo>
                    <a:pt x="18844" y="857492"/>
                  </a:lnTo>
                  <a:cubicBezTo>
                    <a:pt x="13846" y="857492"/>
                    <a:pt x="9053" y="855507"/>
                    <a:pt x="5519" y="851973"/>
                  </a:cubicBezTo>
                  <a:cubicBezTo>
                    <a:pt x="1985" y="848439"/>
                    <a:pt x="0" y="843646"/>
                    <a:pt x="0" y="838649"/>
                  </a:cubicBezTo>
                  <a:lnTo>
                    <a:pt x="0" y="18844"/>
                  </a:lnTo>
                  <a:cubicBezTo>
                    <a:pt x="0" y="13846"/>
                    <a:pt x="1985" y="9053"/>
                    <a:pt x="5519" y="5519"/>
                  </a:cubicBezTo>
                  <a:cubicBezTo>
                    <a:pt x="9053" y="1985"/>
                    <a:pt x="13846" y="0"/>
                    <a:pt x="18844" y="0"/>
                  </a:cubicBezTo>
                  <a:close/>
                </a:path>
              </a:pathLst>
            </a:custGeom>
            <a:solidFill>
              <a:srgbClr val="04001E"/>
            </a:solidFill>
            <a:ln w="38100" cap="sq">
              <a:solidFill>
                <a:srgbClr val="E5E1DA"/>
              </a:solidFill>
              <a:prstDash val="solid"/>
              <a:miter/>
            </a:ln>
          </p:spPr>
        </p:sp>
        <p:sp>
          <p:nvSpPr>
            <p:cNvPr id="23" name="TextBox 23"/>
            <p:cNvSpPr txBox="1"/>
            <p:nvPr/>
          </p:nvSpPr>
          <p:spPr>
            <a:xfrm>
              <a:off x="0" y="-38100"/>
              <a:ext cx="2750680" cy="89559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4" name="TextBox 24"/>
          <p:cNvSpPr txBox="1"/>
          <p:nvPr/>
        </p:nvSpPr>
        <p:spPr>
          <a:xfrm>
            <a:off x="9537007" y="1408933"/>
            <a:ext cx="7722293" cy="1820868"/>
          </a:xfrm>
          <a:prstGeom prst="rect">
            <a:avLst/>
          </a:prstGeom>
        </p:spPr>
        <p:txBody>
          <a:bodyPr lIns="0" tIns="0" rIns="0" bIns="0" rtlCol="0" anchor="t">
            <a:spAutoFit/>
          </a:bodyPr>
          <a:lstStyle/>
          <a:p>
            <a:pPr marL="0" lvl="0" indent="0" algn="ctr">
              <a:lnSpc>
                <a:spcPts val="3937"/>
              </a:lnSpc>
              <a:spcBef>
                <a:spcPct val="0"/>
              </a:spcBef>
            </a:pPr>
            <a:r>
              <a:rPr lang="en-US" sz="2916" b="1" spc="46">
                <a:solidFill>
                  <a:srgbClr val="FFFFFF"/>
                </a:solidFill>
                <a:latin typeface="Red Hat Display Bold"/>
                <a:ea typeface="Red Hat Display Bold"/>
                <a:cs typeface="Red Hat Display Bold"/>
                <a:sym typeface="Red Hat Display Bold"/>
              </a:rPr>
              <a:t>H</a:t>
            </a:r>
            <a:r>
              <a:rPr lang="en-US" sz="2916" b="1" u="none" spc="46">
                <a:solidFill>
                  <a:srgbClr val="FFFFFF"/>
                </a:solidFill>
                <a:latin typeface="Red Hat Display Bold"/>
                <a:ea typeface="Red Hat Display Bold"/>
                <a:cs typeface="Red Hat Display Bold"/>
                <a:sym typeface="Red Hat Display Bold"/>
              </a:rPr>
              <a:t>igh Relevance &amp; Robustness:</a:t>
            </a:r>
          </a:p>
          <a:p>
            <a:pPr marL="0" lvl="0" indent="0" algn="ctr">
              <a:lnSpc>
                <a:spcPts val="2722"/>
              </a:lnSpc>
              <a:spcBef>
                <a:spcPct val="0"/>
              </a:spcBef>
            </a:pPr>
            <a:endParaRPr lang="en-US" sz="2916" b="1" u="none" spc="46">
              <a:solidFill>
                <a:srgbClr val="FFFFFF"/>
              </a:solidFill>
              <a:latin typeface="Red Hat Display Bold"/>
              <a:ea typeface="Red Hat Display Bold"/>
              <a:cs typeface="Red Hat Display Bold"/>
              <a:sym typeface="Red Hat Display Bold"/>
            </a:endParaRPr>
          </a:p>
          <a:p>
            <a:pPr marL="0" lvl="0" indent="0" algn="just">
              <a:lnSpc>
                <a:spcPts val="3937"/>
              </a:lnSpc>
              <a:spcBef>
                <a:spcPct val="0"/>
              </a:spcBef>
            </a:pPr>
            <a:r>
              <a:rPr lang="en-US" sz="2916" u="none" spc="46">
                <a:solidFill>
                  <a:srgbClr val="FFFFFF"/>
                </a:solidFill>
                <a:latin typeface="Red Hat Display"/>
                <a:ea typeface="Red Hat Display"/>
                <a:cs typeface="Red Hat Display"/>
                <a:sym typeface="Red Hat Display"/>
              </a:rPr>
              <a:t>Delivers accurate and context-aware responses across varied queries and formats.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flipH="1">
            <a:off x="-4255355" y="462151"/>
            <a:ext cx="12221289" cy="8822969"/>
          </a:xfrm>
          <a:custGeom>
            <a:avLst/>
            <a:gdLst/>
            <a:ahLst/>
            <a:cxnLst/>
            <a:rect l="l" t="t" r="r" b="b"/>
            <a:pathLst>
              <a:path w="12221289" h="8822969">
                <a:moveTo>
                  <a:pt x="12221289" y="0"/>
                </a:moveTo>
                <a:lnTo>
                  <a:pt x="0" y="0"/>
                </a:lnTo>
                <a:lnTo>
                  <a:pt x="0" y="8822968"/>
                </a:lnTo>
                <a:lnTo>
                  <a:pt x="12221289" y="8822968"/>
                </a:lnTo>
                <a:lnTo>
                  <a:pt x="12221289" y="0"/>
                </a:lnTo>
                <a:close/>
              </a:path>
            </a:pathLst>
          </a:custGeom>
          <a:blipFill>
            <a:blip r:embed="rId3"/>
            <a:stretch>
              <a:fillRect/>
            </a:stretch>
          </a:blipFill>
        </p:spPr>
      </p:sp>
      <p:sp>
        <p:nvSpPr>
          <p:cNvPr id="4" name="Freeform 4"/>
          <p:cNvSpPr/>
          <p:nvPr/>
        </p:nvSpPr>
        <p:spPr>
          <a:xfrm>
            <a:off x="16362880" y="8130249"/>
            <a:ext cx="896420" cy="896420"/>
          </a:xfrm>
          <a:custGeom>
            <a:avLst/>
            <a:gdLst/>
            <a:ahLst/>
            <a:cxnLst/>
            <a:rect l="l" t="t" r="r" b="b"/>
            <a:pathLst>
              <a:path w="896420" h="896420">
                <a:moveTo>
                  <a:pt x="0" y="0"/>
                </a:moveTo>
                <a:lnTo>
                  <a:pt x="896420" y="0"/>
                </a:lnTo>
                <a:lnTo>
                  <a:pt x="896420" y="896420"/>
                </a:lnTo>
                <a:lnTo>
                  <a:pt x="0" y="896420"/>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1028700" y="1470089"/>
            <a:ext cx="6749359" cy="6768991"/>
            <a:chOff x="0" y="0"/>
            <a:chExt cx="8999145" cy="9025321"/>
          </a:xfrm>
        </p:grpSpPr>
        <p:grpSp>
          <p:nvGrpSpPr>
            <p:cNvPr id="6" name="Group 6"/>
            <p:cNvGrpSpPr/>
            <p:nvPr/>
          </p:nvGrpSpPr>
          <p:grpSpPr>
            <a:xfrm>
              <a:off x="0" y="0"/>
              <a:ext cx="8999145" cy="9025321"/>
              <a:chOff x="0" y="0"/>
              <a:chExt cx="1777609" cy="1782780"/>
            </a:xfrm>
          </p:grpSpPr>
          <p:sp>
            <p:nvSpPr>
              <p:cNvPr id="7" name="Freeform 7"/>
              <p:cNvSpPr/>
              <p:nvPr/>
            </p:nvSpPr>
            <p:spPr>
              <a:xfrm>
                <a:off x="0" y="0"/>
                <a:ext cx="1777609" cy="1782780"/>
              </a:xfrm>
              <a:custGeom>
                <a:avLst/>
                <a:gdLst/>
                <a:ahLst/>
                <a:cxnLst/>
                <a:rect l="l" t="t" r="r" b="b"/>
                <a:pathLst>
                  <a:path w="1777609" h="1782780">
                    <a:moveTo>
                      <a:pt x="22941" y="0"/>
                    </a:moveTo>
                    <a:lnTo>
                      <a:pt x="1754668" y="0"/>
                    </a:lnTo>
                    <a:cubicBezTo>
                      <a:pt x="1767338" y="0"/>
                      <a:pt x="1777609" y="10271"/>
                      <a:pt x="1777609" y="22941"/>
                    </a:cubicBezTo>
                    <a:lnTo>
                      <a:pt x="1777609" y="1759838"/>
                    </a:lnTo>
                    <a:cubicBezTo>
                      <a:pt x="1777609" y="1765923"/>
                      <a:pt x="1775192" y="1771758"/>
                      <a:pt x="1770890" y="1776060"/>
                    </a:cubicBezTo>
                    <a:cubicBezTo>
                      <a:pt x="1766587" y="1780362"/>
                      <a:pt x="1760752" y="1782780"/>
                      <a:pt x="1754668" y="1782780"/>
                    </a:cubicBezTo>
                    <a:lnTo>
                      <a:pt x="22941" y="1782780"/>
                    </a:lnTo>
                    <a:cubicBezTo>
                      <a:pt x="16857" y="1782780"/>
                      <a:pt x="11022" y="1780362"/>
                      <a:pt x="6719" y="1776060"/>
                    </a:cubicBezTo>
                    <a:cubicBezTo>
                      <a:pt x="2417" y="1771758"/>
                      <a:pt x="0" y="1765923"/>
                      <a:pt x="0" y="1759838"/>
                    </a:cubicBezTo>
                    <a:lnTo>
                      <a:pt x="0" y="22941"/>
                    </a:lnTo>
                    <a:cubicBezTo>
                      <a:pt x="0" y="10271"/>
                      <a:pt x="10271" y="0"/>
                      <a:pt x="22941" y="0"/>
                    </a:cubicBezTo>
                    <a:close/>
                  </a:path>
                </a:pathLst>
              </a:custGeom>
              <a:solidFill>
                <a:srgbClr val="04001E"/>
              </a:solidFill>
              <a:ln w="38100" cap="sq">
                <a:solidFill>
                  <a:srgbClr val="E5E1DA"/>
                </a:solidFill>
                <a:prstDash val="solid"/>
                <a:miter/>
              </a:ln>
            </p:spPr>
          </p:sp>
          <p:sp>
            <p:nvSpPr>
              <p:cNvPr id="8" name="TextBox 8"/>
              <p:cNvSpPr txBox="1"/>
              <p:nvPr/>
            </p:nvSpPr>
            <p:spPr>
              <a:xfrm>
                <a:off x="0" y="-38100"/>
                <a:ext cx="1777609" cy="1820880"/>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639966" y="1115685"/>
              <a:ext cx="7461309" cy="6052820"/>
            </a:xfrm>
            <a:prstGeom prst="rect">
              <a:avLst/>
            </a:prstGeom>
          </p:spPr>
          <p:txBody>
            <a:bodyPr lIns="0" tIns="0" rIns="0" bIns="0" rtlCol="0" anchor="t">
              <a:spAutoFit/>
            </a:bodyPr>
            <a:lstStyle/>
            <a:p>
              <a:pPr algn="l">
                <a:lnSpc>
                  <a:spcPts val="8730"/>
                </a:lnSpc>
              </a:pPr>
              <a:r>
                <a:rPr lang="en-US" sz="9000">
                  <a:solidFill>
                    <a:srgbClr val="F4F4ED"/>
                  </a:solidFill>
                  <a:latin typeface="Archivo Black"/>
                  <a:ea typeface="Archivo Black"/>
                  <a:cs typeface="Archivo Black"/>
                  <a:sym typeface="Archivo Black"/>
                </a:rPr>
                <a:t>What does the user want?</a:t>
              </a:r>
            </a:p>
          </p:txBody>
        </p:sp>
        <p:sp>
          <p:nvSpPr>
            <p:cNvPr id="10" name="TextBox 10"/>
            <p:cNvSpPr txBox="1"/>
            <p:nvPr/>
          </p:nvSpPr>
          <p:spPr>
            <a:xfrm>
              <a:off x="723315" y="7655415"/>
              <a:ext cx="6744584" cy="445135"/>
            </a:xfrm>
            <a:prstGeom prst="rect">
              <a:avLst/>
            </a:prstGeom>
          </p:spPr>
          <p:txBody>
            <a:bodyPr lIns="0" tIns="0" rIns="0" bIns="0" rtlCol="0" anchor="t">
              <a:spAutoFit/>
            </a:bodyPr>
            <a:lstStyle/>
            <a:p>
              <a:pPr marL="0" lvl="0" indent="0" algn="l">
                <a:lnSpc>
                  <a:spcPts val="2834"/>
                </a:lnSpc>
                <a:spcBef>
                  <a:spcPct val="0"/>
                </a:spcBef>
              </a:pPr>
              <a:endParaRPr/>
            </a:p>
          </p:txBody>
        </p:sp>
      </p:grpSp>
      <p:sp>
        <p:nvSpPr>
          <p:cNvPr id="11" name="AutoShape 11"/>
          <p:cNvSpPr/>
          <p:nvPr/>
        </p:nvSpPr>
        <p:spPr>
          <a:xfrm flipV="1">
            <a:off x="8482550" y="-2607264"/>
            <a:ext cx="0" cy="15773061"/>
          </a:xfrm>
          <a:prstGeom prst="line">
            <a:avLst/>
          </a:prstGeom>
          <a:ln w="19050" cap="flat">
            <a:solidFill>
              <a:srgbClr val="F4F4ED"/>
            </a:solidFill>
            <a:prstDash val="solid"/>
            <a:headEnd type="none" w="sm" len="sm"/>
            <a:tailEnd type="none" w="sm" len="sm"/>
          </a:ln>
        </p:spPr>
      </p:sp>
      <p:grpSp>
        <p:nvGrpSpPr>
          <p:cNvPr id="12" name="Group 12"/>
          <p:cNvGrpSpPr/>
          <p:nvPr/>
        </p:nvGrpSpPr>
        <p:grpSpPr>
          <a:xfrm rot="-5400000">
            <a:off x="8285183" y="7065390"/>
            <a:ext cx="394734" cy="718264"/>
            <a:chOff x="0" y="0"/>
            <a:chExt cx="812800" cy="1478982"/>
          </a:xfrm>
        </p:grpSpPr>
        <p:sp>
          <p:nvSpPr>
            <p:cNvPr id="13" name="Freeform 13"/>
            <p:cNvSpPr/>
            <p:nvPr/>
          </p:nvSpPr>
          <p:spPr>
            <a:xfrm>
              <a:off x="0" y="0"/>
              <a:ext cx="812800" cy="1478982"/>
            </a:xfrm>
            <a:custGeom>
              <a:avLst/>
              <a:gdLst/>
              <a:ahLst/>
              <a:cxnLst/>
              <a:rect l="l" t="t" r="r" b="b"/>
              <a:pathLst>
                <a:path w="812800" h="1478982">
                  <a:moveTo>
                    <a:pt x="406400" y="0"/>
                  </a:moveTo>
                  <a:lnTo>
                    <a:pt x="535715" y="504187"/>
                  </a:lnTo>
                  <a:lnTo>
                    <a:pt x="812800" y="739491"/>
                  </a:lnTo>
                  <a:lnTo>
                    <a:pt x="535715" y="974794"/>
                  </a:lnTo>
                  <a:lnTo>
                    <a:pt x="406400" y="1478982"/>
                  </a:lnTo>
                  <a:lnTo>
                    <a:pt x="277085" y="974794"/>
                  </a:lnTo>
                  <a:lnTo>
                    <a:pt x="0" y="739491"/>
                  </a:lnTo>
                  <a:lnTo>
                    <a:pt x="277085" y="504187"/>
                  </a:lnTo>
                  <a:lnTo>
                    <a:pt x="406400" y="0"/>
                  </a:lnTo>
                  <a:close/>
                </a:path>
              </a:pathLst>
            </a:custGeom>
            <a:solidFill>
              <a:srgbClr val="FFFFFF"/>
            </a:solidFill>
            <a:ln cap="sq">
              <a:noFill/>
              <a:prstDash val="solid"/>
              <a:miter/>
            </a:ln>
          </p:spPr>
        </p:sp>
        <p:sp>
          <p:nvSpPr>
            <p:cNvPr id="14" name="TextBox 14"/>
            <p:cNvSpPr txBox="1"/>
            <p:nvPr/>
          </p:nvSpPr>
          <p:spPr>
            <a:xfrm>
              <a:off x="190500" y="384736"/>
              <a:ext cx="431800" cy="747609"/>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15" name="Group 15"/>
          <p:cNvGrpSpPr/>
          <p:nvPr/>
        </p:nvGrpSpPr>
        <p:grpSpPr>
          <a:xfrm rot="-5400000">
            <a:off x="8285183" y="4279917"/>
            <a:ext cx="394734" cy="718264"/>
            <a:chOff x="0" y="0"/>
            <a:chExt cx="812800" cy="1478982"/>
          </a:xfrm>
        </p:grpSpPr>
        <p:sp>
          <p:nvSpPr>
            <p:cNvPr id="16" name="Freeform 16"/>
            <p:cNvSpPr/>
            <p:nvPr/>
          </p:nvSpPr>
          <p:spPr>
            <a:xfrm>
              <a:off x="0" y="0"/>
              <a:ext cx="812800" cy="1478982"/>
            </a:xfrm>
            <a:custGeom>
              <a:avLst/>
              <a:gdLst/>
              <a:ahLst/>
              <a:cxnLst/>
              <a:rect l="l" t="t" r="r" b="b"/>
              <a:pathLst>
                <a:path w="812800" h="1478982">
                  <a:moveTo>
                    <a:pt x="406400" y="0"/>
                  </a:moveTo>
                  <a:lnTo>
                    <a:pt x="535715" y="504187"/>
                  </a:lnTo>
                  <a:lnTo>
                    <a:pt x="812800" y="739491"/>
                  </a:lnTo>
                  <a:lnTo>
                    <a:pt x="535715" y="974794"/>
                  </a:lnTo>
                  <a:lnTo>
                    <a:pt x="406400" y="1478982"/>
                  </a:lnTo>
                  <a:lnTo>
                    <a:pt x="277085" y="974794"/>
                  </a:lnTo>
                  <a:lnTo>
                    <a:pt x="0" y="739491"/>
                  </a:lnTo>
                  <a:lnTo>
                    <a:pt x="277085" y="504187"/>
                  </a:lnTo>
                  <a:lnTo>
                    <a:pt x="406400" y="0"/>
                  </a:lnTo>
                  <a:close/>
                </a:path>
              </a:pathLst>
            </a:custGeom>
            <a:solidFill>
              <a:srgbClr val="FFFFFF"/>
            </a:solidFill>
            <a:ln cap="sq">
              <a:noFill/>
              <a:prstDash val="solid"/>
              <a:miter/>
            </a:ln>
          </p:spPr>
        </p:sp>
        <p:sp>
          <p:nvSpPr>
            <p:cNvPr id="17" name="TextBox 17"/>
            <p:cNvSpPr txBox="1"/>
            <p:nvPr/>
          </p:nvSpPr>
          <p:spPr>
            <a:xfrm>
              <a:off x="190500" y="384736"/>
              <a:ext cx="431800" cy="747609"/>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18" name="Group 18"/>
          <p:cNvGrpSpPr/>
          <p:nvPr/>
        </p:nvGrpSpPr>
        <p:grpSpPr>
          <a:xfrm rot="-5400000">
            <a:off x="8285183" y="1379587"/>
            <a:ext cx="394734" cy="718264"/>
            <a:chOff x="0" y="0"/>
            <a:chExt cx="812800" cy="1478982"/>
          </a:xfrm>
        </p:grpSpPr>
        <p:sp>
          <p:nvSpPr>
            <p:cNvPr id="19" name="Freeform 19"/>
            <p:cNvSpPr/>
            <p:nvPr/>
          </p:nvSpPr>
          <p:spPr>
            <a:xfrm>
              <a:off x="0" y="0"/>
              <a:ext cx="812800" cy="1478982"/>
            </a:xfrm>
            <a:custGeom>
              <a:avLst/>
              <a:gdLst/>
              <a:ahLst/>
              <a:cxnLst/>
              <a:rect l="l" t="t" r="r" b="b"/>
              <a:pathLst>
                <a:path w="812800" h="1478982">
                  <a:moveTo>
                    <a:pt x="406400" y="0"/>
                  </a:moveTo>
                  <a:lnTo>
                    <a:pt x="535715" y="504187"/>
                  </a:lnTo>
                  <a:lnTo>
                    <a:pt x="812800" y="739491"/>
                  </a:lnTo>
                  <a:lnTo>
                    <a:pt x="535715" y="974794"/>
                  </a:lnTo>
                  <a:lnTo>
                    <a:pt x="406400" y="1478982"/>
                  </a:lnTo>
                  <a:lnTo>
                    <a:pt x="277085" y="974794"/>
                  </a:lnTo>
                  <a:lnTo>
                    <a:pt x="0" y="739491"/>
                  </a:lnTo>
                  <a:lnTo>
                    <a:pt x="277085" y="504187"/>
                  </a:lnTo>
                  <a:lnTo>
                    <a:pt x="406400" y="0"/>
                  </a:lnTo>
                  <a:close/>
                </a:path>
              </a:pathLst>
            </a:custGeom>
            <a:solidFill>
              <a:srgbClr val="FFFFFF"/>
            </a:solidFill>
            <a:ln cap="sq">
              <a:noFill/>
              <a:prstDash val="solid"/>
              <a:miter/>
            </a:ln>
          </p:spPr>
        </p:sp>
        <p:sp>
          <p:nvSpPr>
            <p:cNvPr id="20" name="TextBox 20"/>
            <p:cNvSpPr txBox="1"/>
            <p:nvPr/>
          </p:nvSpPr>
          <p:spPr>
            <a:xfrm>
              <a:off x="190500" y="384736"/>
              <a:ext cx="431800" cy="747609"/>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21" name="Group 21"/>
          <p:cNvGrpSpPr/>
          <p:nvPr/>
        </p:nvGrpSpPr>
        <p:grpSpPr>
          <a:xfrm>
            <a:off x="9321397" y="1095257"/>
            <a:ext cx="8216916" cy="2561528"/>
            <a:chOff x="0" y="0"/>
            <a:chExt cx="2750680" cy="857492"/>
          </a:xfrm>
        </p:grpSpPr>
        <p:sp>
          <p:nvSpPr>
            <p:cNvPr id="22" name="Freeform 22"/>
            <p:cNvSpPr/>
            <p:nvPr/>
          </p:nvSpPr>
          <p:spPr>
            <a:xfrm>
              <a:off x="0" y="0"/>
              <a:ext cx="2750680" cy="857492"/>
            </a:xfrm>
            <a:custGeom>
              <a:avLst/>
              <a:gdLst/>
              <a:ahLst/>
              <a:cxnLst/>
              <a:rect l="l" t="t" r="r" b="b"/>
              <a:pathLst>
                <a:path w="2750680" h="857492">
                  <a:moveTo>
                    <a:pt x="18844" y="0"/>
                  </a:moveTo>
                  <a:lnTo>
                    <a:pt x="2731836" y="0"/>
                  </a:lnTo>
                  <a:cubicBezTo>
                    <a:pt x="2736834" y="0"/>
                    <a:pt x="2741627" y="1985"/>
                    <a:pt x="2745161" y="5519"/>
                  </a:cubicBezTo>
                  <a:cubicBezTo>
                    <a:pt x="2748695" y="9053"/>
                    <a:pt x="2750680" y="13846"/>
                    <a:pt x="2750680" y="18844"/>
                  </a:cubicBezTo>
                  <a:lnTo>
                    <a:pt x="2750680" y="838649"/>
                  </a:lnTo>
                  <a:cubicBezTo>
                    <a:pt x="2750680" y="843646"/>
                    <a:pt x="2748695" y="848439"/>
                    <a:pt x="2745161" y="851973"/>
                  </a:cubicBezTo>
                  <a:cubicBezTo>
                    <a:pt x="2741627" y="855507"/>
                    <a:pt x="2736834" y="857492"/>
                    <a:pt x="2731836" y="857492"/>
                  </a:cubicBezTo>
                  <a:lnTo>
                    <a:pt x="18844" y="857492"/>
                  </a:lnTo>
                  <a:cubicBezTo>
                    <a:pt x="13846" y="857492"/>
                    <a:pt x="9053" y="855507"/>
                    <a:pt x="5519" y="851973"/>
                  </a:cubicBezTo>
                  <a:cubicBezTo>
                    <a:pt x="1985" y="848439"/>
                    <a:pt x="0" y="843646"/>
                    <a:pt x="0" y="838649"/>
                  </a:cubicBezTo>
                  <a:lnTo>
                    <a:pt x="0" y="18844"/>
                  </a:lnTo>
                  <a:cubicBezTo>
                    <a:pt x="0" y="13846"/>
                    <a:pt x="1985" y="9053"/>
                    <a:pt x="5519" y="5519"/>
                  </a:cubicBezTo>
                  <a:cubicBezTo>
                    <a:pt x="9053" y="1985"/>
                    <a:pt x="13846" y="0"/>
                    <a:pt x="18844" y="0"/>
                  </a:cubicBezTo>
                  <a:close/>
                </a:path>
              </a:pathLst>
            </a:custGeom>
            <a:solidFill>
              <a:srgbClr val="04001E"/>
            </a:solidFill>
            <a:ln w="38100" cap="sq">
              <a:solidFill>
                <a:srgbClr val="E5E1DA"/>
              </a:solidFill>
              <a:prstDash val="solid"/>
              <a:miter/>
            </a:ln>
          </p:spPr>
        </p:sp>
        <p:sp>
          <p:nvSpPr>
            <p:cNvPr id="23" name="TextBox 23"/>
            <p:cNvSpPr txBox="1"/>
            <p:nvPr/>
          </p:nvSpPr>
          <p:spPr>
            <a:xfrm>
              <a:off x="0" y="-38100"/>
              <a:ext cx="2750680" cy="89559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4" name="TextBox 24"/>
          <p:cNvSpPr txBox="1"/>
          <p:nvPr/>
        </p:nvSpPr>
        <p:spPr>
          <a:xfrm>
            <a:off x="9537007" y="1408933"/>
            <a:ext cx="7722293" cy="1820868"/>
          </a:xfrm>
          <a:prstGeom prst="rect">
            <a:avLst/>
          </a:prstGeom>
        </p:spPr>
        <p:txBody>
          <a:bodyPr lIns="0" tIns="0" rIns="0" bIns="0" rtlCol="0" anchor="t">
            <a:spAutoFit/>
          </a:bodyPr>
          <a:lstStyle/>
          <a:p>
            <a:pPr marL="0" lvl="0" indent="0" algn="ctr">
              <a:lnSpc>
                <a:spcPts val="3937"/>
              </a:lnSpc>
              <a:spcBef>
                <a:spcPct val="0"/>
              </a:spcBef>
            </a:pPr>
            <a:r>
              <a:rPr lang="en-US" sz="2916" b="1" spc="46">
                <a:solidFill>
                  <a:srgbClr val="FFFFFF"/>
                </a:solidFill>
                <a:latin typeface="Red Hat Display Bold"/>
                <a:ea typeface="Red Hat Display Bold"/>
                <a:cs typeface="Red Hat Display Bold"/>
                <a:sym typeface="Red Hat Display Bold"/>
              </a:rPr>
              <a:t>H</a:t>
            </a:r>
            <a:r>
              <a:rPr lang="en-US" sz="2916" b="1" u="none" spc="46">
                <a:solidFill>
                  <a:srgbClr val="FFFFFF"/>
                </a:solidFill>
                <a:latin typeface="Red Hat Display Bold"/>
                <a:ea typeface="Red Hat Display Bold"/>
                <a:cs typeface="Red Hat Display Bold"/>
                <a:sym typeface="Red Hat Display Bold"/>
              </a:rPr>
              <a:t>igh Relevance &amp; Robustness:</a:t>
            </a:r>
          </a:p>
          <a:p>
            <a:pPr marL="0" lvl="0" indent="0" algn="ctr">
              <a:lnSpc>
                <a:spcPts val="2722"/>
              </a:lnSpc>
              <a:spcBef>
                <a:spcPct val="0"/>
              </a:spcBef>
            </a:pPr>
            <a:endParaRPr lang="en-US" sz="2916" b="1" u="none" spc="46">
              <a:solidFill>
                <a:srgbClr val="FFFFFF"/>
              </a:solidFill>
              <a:latin typeface="Red Hat Display Bold"/>
              <a:ea typeface="Red Hat Display Bold"/>
              <a:cs typeface="Red Hat Display Bold"/>
              <a:sym typeface="Red Hat Display Bold"/>
            </a:endParaRPr>
          </a:p>
          <a:p>
            <a:pPr marL="0" lvl="0" indent="0" algn="just">
              <a:lnSpc>
                <a:spcPts val="3937"/>
              </a:lnSpc>
              <a:spcBef>
                <a:spcPct val="0"/>
              </a:spcBef>
            </a:pPr>
            <a:r>
              <a:rPr lang="en-US" sz="2916" u="none" spc="46">
                <a:solidFill>
                  <a:srgbClr val="FFFFFF"/>
                </a:solidFill>
                <a:latin typeface="Red Hat Display"/>
                <a:ea typeface="Red Hat Display"/>
                <a:cs typeface="Red Hat Display"/>
                <a:sym typeface="Red Hat Display"/>
              </a:rPr>
              <a:t>Delivers accurate and context-aware responses across varied queries and formats.</a:t>
            </a:r>
          </a:p>
        </p:txBody>
      </p:sp>
      <p:grpSp>
        <p:nvGrpSpPr>
          <p:cNvPr id="25" name="Group 25"/>
          <p:cNvGrpSpPr/>
          <p:nvPr/>
        </p:nvGrpSpPr>
        <p:grpSpPr>
          <a:xfrm>
            <a:off x="9321397" y="3862348"/>
            <a:ext cx="8216916" cy="2561528"/>
            <a:chOff x="0" y="0"/>
            <a:chExt cx="2750680" cy="857492"/>
          </a:xfrm>
        </p:grpSpPr>
        <p:sp>
          <p:nvSpPr>
            <p:cNvPr id="26" name="Freeform 26"/>
            <p:cNvSpPr/>
            <p:nvPr/>
          </p:nvSpPr>
          <p:spPr>
            <a:xfrm>
              <a:off x="0" y="0"/>
              <a:ext cx="2750680" cy="857492"/>
            </a:xfrm>
            <a:custGeom>
              <a:avLst/>
              <a:gdLst/>
              <a:ahLst/>
              <a:cxnLst/>
              <a:rect l="l" t="t" r="r" b="b"/>
              <a:pathLst>
                <a:path w="2750680" h="857492">
                  <a:moveTo>
                    <a:pt x="18844" y="0"/>
                  </a:moveTo>
                  <a:lnTo>
                    <a:pt x="2731836" y="0"/>
                  </a:lnTo>
                  <a:cubicBezTo>
                    <a:pt x="2736834" y="0"/>
                    <a:pt x="2741627" y="1985"/>
                    <a:pt x="2745161" y="5519"/>
                  </a:cubicBezTo>
                  <a:cubicBezTo>
                    <a:pt x="2748695" y="9053"/>
                    <a:pt x="2750680" y="13846"/>
                    <a:pt x="2750680" y="18844"/>
                  </a:cubicBezTo>
                  <a:lnTo>
                    <a:pt x="2750680" y="838649"/>
                  </a:lnTo>
                  <a:cubicBezTo>
                    <a:pt x="2750680" y="843646"/>
                    <a:pt x="2748695" y="848439"/>
                    <a:pt x="2745161" y="851973"/>
                  </a:cubicBezTo>
                  <a:cubicBezTo>
                    <a:pt x="2741627" y="855507"/>
                    <a:pt x="2736834" y="857492"/>
                    <a:pt x="2731836" y="857492"/>
                  </a:cubicBezTo>
                  <a:lnTo>
                    <a:pt x="18844" y="857492"/>
                  </a:lnTo>
                  <a:cubicBezTo>
                    <a:pt x="13846" y="857492"/>
                    <a:pt x="9053" y="855507"/>
                    <a:pt x="5519" y="851973"/>
                  </a:cubicBezTo>
                  <a:cubicBezTo>
                    <a:pt x="1985" y="848439"/>
                    <a:pt x="0" y="843646"/>
                    <a:pt x="0" y="838649"/>
                  </a:cubicBezTo>
                  <a:lnTo>
                    <a:pt x="0" y="18844"/>
                  </a:lnTo>
                  <a:cubicBezTo>
                    <a:pt x="0" y="13846"/>
                    <a:pt x="1985" y="9053"/>
                    <a:pt x="5519" y="5519"/>
                  </a:cubicBezTo>
                  <a:cubicBezTo>
                    <a:pt x="9053" y="1985"/>
                    <a:pt x="13846" y="0"/>
                    <a:pt x="18844" y="0"/>
                  </a:cubicBezTo>
                  <a:close/>
                </a:path>
              </a:pathLst>
            </a:custGeom>
            <a:solidFill>
              <a:srgbClr val="04001E"/>
            </a:solidFill>
            <a:ln w="38100" cap="sq">
              <a:solidFill>
                <a:srgbClr val="E5E1DA"/>
              </a:solidFill>
              <a:prstDash val="solid"/>
              <a:miter/>
            </a:ln>
          </p:spPr>
        </p:sp>
        <p:sp>
          <p:nvSpPr>
            <p:cNvPr id="27" name="TextBox 27"/>
            <p:cNvSpPr txBox="1"/>
            <p:nvPr/>
          </p:nvSpPr>
          <p:spPr>
            <a:xfrm>
              <a:off x="0" y="-38100"/>
              <a:ext cx="2750680" cy="89559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8" name="TextBox 28"/>
          <p:cNvSpPr txBox="1"/>
          <p:nvPr/>
        </p:nvSpPr>
        <p:spPr>
          <a:xfrm>
            <a:off x="9537007" y="4170701"/>
            <a:ext cx="7722293" cy="1839691"/>
          </a:xfrm>
          <a:prstGeom prst="rect">
            <a:avLst/>
          </a:prstGeom>
        </p:spPr>
        <p:txBody>
          <a:bodyPr lIns="0" tIns="0" rIns="0" bIns="0" rtlCol="0" anchor="t">
            <a:spAutoFit/>
          </a:bodyPr>
          <a:lstStyle/>
          <a:p>
            <a:pPr marL="0" lvl="0" indent="0" algn="ctr">
              <a:lnSpc>
                <a:spcPts val="3953"/>
              </a:lnSpc>
              <a:spcBef>
                <a:spcPct val="0"/>
              </a:spcBef>
            </a:pPr>
            <a:r>
              <a:rPr lang="en-US" sz="2928" b="1" spc="46">
                <a:solidFill>
                  <a:srgbClr val="FFFFFF"/>
                </a:solidFill>
                <a:latin typeface="Red Hat Display Bold"/>
                <a:ea typeface="Red Hat Display Bold"/>
                <a:cs typeface="Red Hat Display Bold"/>
                <a:sym typeface="Red Hat Display Bold"/>
              </a:rPr>
              <a:t>R</a:t>
            </a:r>
            <a:r>
              <a:rPr lang="en-US" sz="2928" b="1" u="none" spc="46">
                <a:solidFill>
                  <a:srgbClr val="FFFFFF"/>
                </a:solidFill>
                <a:latin typeface="Red Hat Display Bold"/>
                <a:ea typeface="Red Hat Display Bold"/>
                <a:cs typeface="Red Hat Display Bold"/>
                <a:sym typeface="Red Hat Display Bold"/>
              </a:rPr>
              <a:t>eal-Time Data Awareness:</a:t>
            </a:r>
          </a:p>
          <a:p>
            <a:pPr marL="0" lvl="0" indent="0" algn="ctr">
              <a:lnSpc>
                <a:spcPts val="2873"/>
              </a:lnSpc>
              <a:spcBef>
                <a:spcPct val="0"/>
              </a:spcBef>
            </a:pPr>
            <a:endParaRPr lang="en-US" sz="2928" b="1" u="none" spc="46">
              <a:solidFill>
                <a:srgbClr val="FFFFFF"/>
              </a:solidFill>
              <a:latin typeface="Red Hat Display Bold"/>
              <a:ea typeface="Red Hat Display Bold"/>
              <a:cs typeface="Red Hat Display Bold"/>
              <a:sym typeface="Red Hat Display Bold"/>
            </a:endParaRPr>
          </a:p>
          <a:p>
            <a:pPr marL="0" lvl="0" indent="0" algn="just">
              <a:lnSpc>
                <a:spcPts val="3953"/>
              </a:lnSpc>
              <a:spcBef>
                <a:spcPct val="0"/>
              </a:spcBef>
            </a:pPr>
            <a:r>
              <a:rPr lang="en-US" sz="2928" u="none" spc="46">
                <a:solidFill>
                  <a:srgbClr val="FFFFFF"/>
                </a:solidFill>
                <a:latin typeface="Red Hat Display"/>
                <a:ea typeface="Red Hat Display"/>
                <a:cs typeface="Red Hat Display"/>
                <a:sym typeface="Red Hat Display"/>
              </a:rPr>
              <a:t>Continuously updated to reflect the most recent information and trends.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flipH="1">
            <a:off x="-4255355" y="462151"/>
            <a:ext cx="12221289" cy="8822969"/>
          </a:xfrm>
          <a:custGeom>
            <a:avLst/>
            <a:gdLst/>
            <a:ahLst/>
            <a:cxnLst/>
            <a:rect l="l" t="t" r="r" b="b"/>
            <a:pathLst>
              <a:path w="12221289" h="8822969">
                <a:moveTo>
                  <a:pt x="12221289" y="0"/>
                </a:moveTo>
                <a:lnTo>
                  <a:pt x="0" y="0"/>
                </a:lnTo>
                <a:lnTo>
                  <a:pt x="0" y="8822968"/>
                </a:lnTo>
                <a:lnTo>
                  <a:pt x="12221289" y="8822968"/>
                </a:lnTo>
                <a:lnTo>
                  <a:pt x="12221289" y="0"/>
                </a:lnTo>
                <a:close/>
              </a:path>
            </a:pathLst>
          </a:custGeom>
          <a:blipFill>
            <a:blip r:embed="rId3"/>
            <a:stretch>
              <a:fillRect/>
            </a:stretch>
          </a:blipFill>
        </p:spPr>
      </p:sp>
      <p:sp>
        <p:nvSpPr>
          <p:cNvPr id="4" name="Freeform 4"/>
          <p:cNvSpPr/>
          <p:nvPr/>
        </p:nvSpPr>
        <p:spPr>
          <a:xfrm>
            <a:off x="16362880" y="8130249"/>
            <a:ext cx="896420" cy="896420"/>
          </a:xfrm>
          <a:custGeom>
            <a:avLst/>
            <a:gdLst/>
            <a:ahLst/>
            <a:cxnLst/>
            <a:rect l="l" t="t" r="r" b="b"/>
            <a:pathLst>
              <a:path w="896420" h="896420">
                <a:moveTo>
                  <a:pt x="0" y="0"/>
                </a:moveTo>
                <a:lnTo>
                  <a:pt x="896420" y="0"/>
                </a:lnTo>
                <a:lnTo>
                  <a:pt x="896420" y="896420"/>
                </a:lnTo>
                <a:lnTo>
                  <a:pt x="0" y="896420"/>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1028700" y="1470089"/>
            <a:ext cx="6749359" cy="6768991"/>
            <a:chOff x="0" y="0"/>
            <a:chExt cx="8999145" cy="9025321"/>
          </a:xfrm>
        </p:grpSpPr>
        <p:grpSp>
          <p:nvGrpSpPr>
            <p:cNvPr id="6" name="Group 6"/>
            <p:cNvGrpSpPr/>
            <p:nvPr/>
          </p:nvGrpSpPr>
          <p:grpSpPr>
            <a:xfrm>
              <a:off x="0" y="0"/>
              <a:ext cx="8999145" cy="9025321"/>
              <a:chOff x="0" y="0"/>
              <a:chExt cx="1777609" cy="1782780"/>
            </a:xfrm>
          </p:grpSpPr>
          <p:sp>
            <p:nvSpPr>
              <p:cNvPr id="7" name="Freeform 7"/>
              <p:cNvSpPr/>
              <p:nvPr/>
            </p:nvSpPr>
            <p:spPr>
              <a:xfrm>
                <a:off x="0" y="0"/>
                <a:ext cx="1777609" cy="1782780"/>
              </a:xfrm>
              <a:custGeom>
                <a:avLst/>
                <a:gdLst/>
                <a:ahLst/>
                <a:cxnLst/>
                <a:rect l="l" t="t" r="r" b="b"/>
                <a:pathLst>
                  <a:path w="1777609" h="1782780">
                    <a:moveTo>
                      <a:pt x="22941" y="0"/>
                    </a:moveTo>
                    <a:lnTo>
                      <a:pt x="1754668" y="0"/>
                    </a:lnTo>
                    <a:cubicBezTo>
                      <a:pt x="1767338" y="0"/>
                      <a:pt x="1777609" y="10271"/>
                      <a:pt x="1777609" y="22941"/>
                    </a:cubicBezTo>
                    <a:lnTo>
                      <a:pt x="1777609" y="1759838"/>
                    </a:lnTo>
                    <a:cubicBezTo>
                      <a:pt x="1777609" y="1765923"/>
                      <a:pt x="1775192" y="1771758"/>
                      <a:pt x="1770890" y="1776060"/>
                    </a:cubicBezTo>
                    <a:cubicBezTo>
                      <a:pt x="1766587" y="1780362"/>
                      <a:pt x="1760752" y="1782780"/>
                      <a:pt x="1754668" y="1782780"/>
                    </a:cubicBezTo>
                    <a:lnTo>
                      <a:pt x="22941" y="1782780"/>
                    </a:lnTo>
                    <a:cubicBezTo>
                      <a:pt x="16857" y="1782780"/>
                      <a:pt x="11022" y="1780362"/>
                      <a:pt x="6719" y="1776060"/>
                    </a:cubicBezTo>
                    <a:cubicBezTo>
                      <a:pt x="2417" y="1771758"/>
                      <a:pt x="0" y="1765923"/>
                      <a:pt x="0" y="1759838"/>
                    </a:cubicBezTo>
                    <a:lnTo>
                      <a:pt x="0" y="22941"/>
                    </a:lnTo>
                    <a:cubicBezTo>
                      <a:pt x="0" y="10271"/>
                      <a:pt x="10271" y="0"/>
                      <a:pt x="22941" y="0"/>
                    </a:cubicBezTo>
                    <a:close/>
                  </a:path>
                </a:pathLst>
              </a:custGeom>
              <a:solidFill>
                <a:srgbClr val="04001E"/>
              </a:solidFill>
              <a:ln w="38100" cap="sq">
                <a:solidFill>
                  <a:srgbClr val="E5E1DA"/>
                </a:solidFill>
                <a:prstDash val="solid"/>
                <a:miter/>
              </a:ln>
            </p:spPr>
          </p:sp>
          <p:sp>
            <p:nvSpPr>
              <p:cNvPr id="8" name="TextBox 8"/>
              <p:cNvSpPr txBox="1"/>
              <p:nvPr/>
            </p:nvSpPr>
            <p:spPr>
              <a:xfrm>
                <a:off x="0" y="-38100"/>
                <a:ext cx="1777609" cy="1820880"/>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639966" y="1115685"/>
              <a:ext cx="7461309" cy="6052820"/>
            </a:xfrm>
            <a:prstGeom prst="rect">
              <a:avLst/>
            </a:prstGeom>
          </p:spPr>
          <p:txBody>
            <a:bodyPr lIns="0" tIns="0" rIns="0" bIns="0" rtlCol="0" anchor="t">
              <a:spAutoFit/>
            </a:bodyPr>
            <a:lstStyle/>
            <a:p>
              <a:pPr algn="l">
                <a:lnSpc>
                  <a:spcPts val="8730"/>
                </a:lnSpc>
              </a:pPr>
              <a:r>
                <a:rPr lang="en-US" sz="9000">
                  <a:solidFill>
                    <a:srgbClr val="F4F4ED"/>
                  </a:solidFill>
                  <a:latin typeface="Archivo Black"/>
                  <a:ea typeface="Archivo Black"/>
                  <a:cs typeface="Archivo Black"/>
                  <a:sym typeface="Archivo Black"/>
                </a:rPr>
                <a:t>What does the user want?</a:t>
              </a:r>
            </a:p>
          </p:txBody>
        </p:sp>
        <p:sp>
          <p:nvSpPr>
            <p:cNvPr id="10" name="TextBox 10"/>
            <p:cNvSpPr txBox="1"/>
            <p:nvPr/>
          </p:nvSpPr>
          <p:spPr>
            <a:xfrm>
              <a:off x="723315" y="7655415"/>
              <a:ext cx="6744584" cy="445135"/>
            </a:xfrm>
            <a:prstGeom prst="rect">
              <a:avLst/>
            </a:prstGeom>
          </p:spPr>
          <p:txBody>
            <a:bodyPr lIns="0" tIns="0" rIns="0" bIns="0" rtlCol="0" anchor="t">
              <a:spAutoFit/>
            </a:bodyPr>
            <a:lstStyle/>
            <a:p>
              <a:pPr marL="0" lvl="0" indent="0" algn="l">
                <a:lnSpc>
                  <a:spcPts val="2834"/>
                </a:lnSpc>
                <a:spcBef>
                  <a:spcPct val="0"/>
                </a:spcBef>
              </a:pPr>
              <a:endParaRPr/>
            </a:p>
          </p:txBody>
        </p:sp>
      </p:grpSp>
      <p:sp>
        <p:nvSpPr>
          <p:cNvPr id="11" name="AutoShape 11"/>
          <p:cNvSpPr/>
          <p:nvPr/>
        </p:nvSpPr>
        <p:spPr>
          <a:xfrm flipV="1">
            <a:off x="8482550" y="-2607264"/>
            <a:ext cx="0" cy="15773061"/>
          </a:xfrm>
          <a:prstGeom prst="line">
            <a:avLst/>
          </a:prstGeom>
          <a:ln w="19050" cap="flat">
            <a:solidFill>
              <a:srgbClr val="F4F4ED"/>
            </a:solidFill>
            <a:prstDash val="solid"/>
            <a:headEnd type="none" w="sm" len="sm"/>
            <a:tailEnd type="none" w="sm" len="sm"/>
          </a:ln>
        </p:spPr>
      </p:sp>
      <p:grpSp>
        <p:nvGrpSpPr>
          <p:cNvPr id="12" name="Group 12"/>
          <p:cNvGrpSpPr/>
          <p:nvPr/>
        </p:nvGrpSpPr>
        <p:grpSpPr>
          <a:xfrm rot="-5400000">
            <a:off x="8285183" y="7065390"/>
            <a:ext cx="394734" cy="718264"/>
            <a:chOff x="0" y="0"/>
            <a:chExt cx="812800" cy="1478982"/>
          </a:xfrm>
        </p:grpSpPr>
        <p:sp>
          <p:nvSpPr>
            <p:cNvPr id="13" name="Freeform 13"/>
            <p:cNvSpPr/>
            <p:nvPr/>
          </p:nvSpPr>
          <p:spPr>
            <a:xfrm>
              <a:off x="0" y="0"/>
              <a:ext cx="812800" cy="1478982"/>
            </a:xfrm>
            <a:custGeom>
              <a:avLst/>
              <a:gdLst/>
              <a:ahLst/>
              <a:cxnLst/>
              <a:rect l="l" t="t" r="r" b="b"/>
              <a:pathLst>
                <a:path w="812800" h="1478982">
                  <a:moveTo>
                    <a:pt x="406400" y="0"/>
                  </a:moveTo>
                  <a:lnTo>
                    <a:pt x="535715" y="504187"/>
                  </a:lnTo>
                  <a:lnTo>
                    <a:pt x="812800" y="739491"/>
                  </a:lnTo>
                  <a:lnTo>
                    <a:pt x="535715" y="974794"/>
                  </a:lnTo>
                  <a:lnTo>
                    <a:pt x="406400" y="1478982"/>
                  </a:lnTo>
                  <a:lnTo>
                    <a:pt x="277085" y="974794"/>
                  </a:lnTo>
                  <a:lnTo>
                    <a:pt x="0" y="739491"/>
                  </a:lnTo>
                  <a:lnTo>
                    <a:pt x="277085" y="504187"/>
                  </a:lnTo>
                  <a:lnTo>
                    <a:pt x="406400" y="0"/>
                  </a:lnTo>
                  <a:close/>
                </a:path>
              </a:pathLst>
            </a:custGeom>
            <a:solidFill>
              <a:srgbClr val="FFFFFF"/>
            </a:solidFill>
            <a:ln cap="sq">
              <a:noFill/>
              <a:prstDash val="solid"/>
              <a:miter/>
            </a:ln>
          </p:spPr>
        </p:sp>
        <p:sp>
          <p:nvSpPr>
            <p:cNvPr id="14" name="TextBox 14"/>
            <p:cNvSpPr txBox="1"/>
            <p:nvPr/>
          </p:nvSpPr>
          <p:spPr>
            <a:xfrm>
              <a:off x="190500" y="384736"/>
              <a:ext cx="431800" cy="747609"/>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15" name="Group 15"/>
          <p:cNvGrpSpPr/>
          <p:nvPr/>
        </p:nvGrpSpPr>
        <p:grpSpPr>
          <a:xfrm rot="-5400000">
            <a:off x="8285183" y="4279917"/>
            <a:ext cx="394734" cy="718264"/>
            <a:chOff x="0" y="0"/>
            <a:chExt cx="812800" cy="1478982"/>
          </a:xfrm>
        </p:grpSpPr>
        <p:sp>
          <p:nvSpPr>
            <p:cNvPr id="16" name="Freeform 16"/>
            <p:cNvSpPr/>
            <p:nvPr/>
          </p:nvSpPr>
          <p:spPr>
            <a:xfrm>
              <a:off x="0" y="0"/>
              <a:ext cx="812800" cy="1478982"/>
            </a:xfrm>
            <a:custGeom>
              <a:avLst/>
              <a:gdLst/>
              <a:ahLst/>
              <a:cxnLst/>
              <a:rect l="l" t="t" r="r" b="b"/>
              <a:pathLst>
                <a:path w="812800" h="1478982">
                  <a:moveTo>
                    <a:pt x="406400" y="0"/>
                  </a:moveTo>
                  <a:lnTo>
                    <a:pt x="535715" y="504187"/>
                  </a:lnTo>
                  <a:lnTo>
                    <a:pt x="812800" y="739491"/>
                  </a:lnTo>
                  <a:lnTo>
                    <a:pt x="535715" y="974794"/>
                  </a:lnTo>
                  <a:lnTo>
                    <a:pt x="406400" y="1478982"/>
                  </a:lnTo>
                  <a:lnTo>
                    <a:pt x="277085" y="974794"/>
                  </a:lnTo>
                  <a:lnTo>
                    <a:pt x="0" y="739491"/>
                  </a:lnTo>
                  <a:lnTo>
                    <a:pt x="277085" y="504187"/>
                  </a:lnTo>
                  <a:lnTo>
                    <a:pt x="406400" y="0"/>
                  </a:lnTo>
                  <a:close/>
                </a:path>
              </a:pathLst>
            </a:custGeom>
            <a:solidFill>
              <a:srgbClr val="FFFFFF"/>
            </a:solidFill>
            <a:ln cap="sq">
              <a:noFill/>
              <a:prstDash val="solid"/>
              <a:miter/>
            </a:ln>
          </p:spPr>
        </p:sp>
        <p:sp>
          <p:nvSpPr>
            <p:cNvPr id="17" name="TextBox 17"/>
            <p:cNvSpPr txBox="1"/>
            <p:nvPr/>
          </p:nvSpPr>
          <p:spPr>
            <a:xfrm>
              <a:off x="190500" y="384736"/>
              <a:ext cx="431800" cy="747609"/>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18" name="Group 18"/>
          <p:cNvGrpSpPr/>
          <p:nvPr/>
        </p:nvGrpSpPr>
        <p:grpSpPr>
          <a:xfrm rot="-5400000">
            <a:off x="8285183" y="1379587"/>
            <a:ext cx="394734" cy="718264"/>
            <a:chOff x="0" y="0"/>
            <a:chExt cx="812800" cy="1478982"/>
          </a:xfrm>
        </p:grpSpPr>
        <p:sp>
          <p:nvSpPr>
            <p:cNvPr id="19" name="Freeform 19"/>
            <p:cNvSpPr/>
            <p:nvPr/>
          </p:nvSpPr>
          <p:spPr>
            <a:xfrm>
              <a:off x="0" y="0"/>
              <a:ext cx="812800" cy="1478982"/>
            </a:xfrm>
            <a:custGeom>
              <a:avLst/>
              <a:gdLst/>
              <a:ahLst/>
              <a:cxnLst/>
              <a:rect l="l" t="t" r="r" b="b"/>
              <a:pathLst>
                <a:path w="812800" h="1478982">
                  <a:moveTo>
                    <a:pt x="406400" y="0"/>
                  </a:moveTo>
                  <a:lnTo>
                    <a:pt x="535715" y="504187"/>
                  </a:lnTo>
                  <a:lnTo>
                    <a:pt x="812800" y="739491"/>
                  </a:lnTo>
                  <a:lnTo>
                    <a:pt x="535715" y="974794"/>
                  </a:lnTo>
                  <a:lnTo>
                    <a:pt x="406400" y="1478982"/>
                  </a:lnTo>
                  <a:lnTo>
                    <a:pt x="277085" y="974794"/>
                  </a:lnTo>
                  <a:lnTo>
                    <a:pt x="0" y="739491"/>
                  </a:lnTo>
                  <a:lnTo>
                    <a:pt x="277085" y="504187"/>
                  </a:lnTo>
                  <a:lnTo>
                    <a:pt x="406400" y="0"/>
                  </a:lnTo>
                  <a:close/>
                </a:path>
              </a:pathLst>
            </a:custGeom>
            <a:solidFill>
              <a:srgbClr val="FFFFFF"/>
            </a:solidFill>
            <a:ln cap="sq">
              <a:noFill/>
              <a:prstDash val="solid"/>
              <a:miter/>
            </a:ln>
          </p:spPr>
        </p:sp>
        <p:sp>
          <p:nvSpPr>
            <p:cNvPr id="20" name="TextBox 20"/>
            <p:cNvSpPr txBox="1"/>
            <p:nvPr/>
          </p:nvSpPr>
          <p:spPr>
            <a:xfrm>
              <a:off x="190500" y="384736"/>
              <a:ext cx="431800" cy="747609"/>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21" name="Group 21"/>
          <p:cNvGrpSpPr/>
          <p:nvPr/>
        </p:nvGrpSpPr>
        <p:grpSpPr>
          <a:xfrm>
            <a:off x="9321397" y="1095257"/>
            <a:ext cx="8216916" cy="2561528"/>
            <a:chOff x="0" y="0"/>
            <a:chExt cx="2750680" cy="857492"/>
          </a:xfrm>
        </p:grpSpPr>
        <p:sp>
          <p:nvSpPr>
            <p:cNvPr id="22" name="Freeform 22"/>
            <p:cNvSpPr/>
            <p:nvPr/>
          </p:nvSpPr>
          <p:spPr>
            <a:xfrm>
              <a:off x="0" y="0"/>
              <a:ext cx="2750680" cy="857492"/>
            </a:xfrm>
            <a:custGeom>
              <a:avLst/>
              <a:gdLst/>
              <a:ahLst/>
              <a:cxnLst/>
              <a:rect l="l" t="t" r="r" b="b"/>
              <a:pathLst>
                <a:path w="2750680" h="857492">
                  <a:moveTo>
                    <a:pt x="18844" y="0"/>
                  </a:moveTo>
                  <a:lnTo>
                    <a:pt x="2731836" y="0"/>
                  </a:lnTo>
                  <a:cubicBezTo>
                    <a:pt x="2736834" y="0"/>
                    <a:pt x="2741627" y="1985"/>
                    <a:pt x="2745161" y="5519"/>
                  </a:cubicBezTo>
                  <a:cubicBezTo>
                    <a:pt x="2748695" y="9053"/>
                    <a:pt x="2750680" y="13846"/>
                    <a:pt x="2750680" y="18844"/>
                  </a:cubicBezTo>
                  <a:lnTo>
                    <a:pt x="2750680" y="838649"/>
                  </a:lnTo>
                  <a:cubicBezTo>
                    <a:pt x="2750680" y="843646"/>
                    <a:pt x="2748695" y="848439"/>
                    <a:pt x="2745161" y="851973"/>
                  </a:cubicBezTo>
                  <a:cubicBezTo>
                    <a:pt x="2741627" y="855507"/>
                    <a:pt x="2736834" y="857492"/>
                    <a:pt x="2731836" y="857492"/>
                  </a:cubicBezTo>
                  <a:lnTo>
                    <a:pt x="18844" y="857492"/>
                  </a:lnTo>
                  <a:cubicBezTo>
                    <a:pt x="13846" y="857492"/>
                    <a:pt x="9053" y="855507"/>
                    <a:pt x="5519" y="851973"/>
                  </a:cubicBezTo>
                  <a:cubicBezTo>
                    <a:pt x="1985" y="848439"/>
                    <a:pt x="0" y="843646"/>
                    <a:pt x="0" y="838649"/>
                  </a:cubicBezTo>
                  <a:lnTo>
                    <a:pt x="0" y="18844"/>
                  </a:lnTo>
                  <a:cubicBezTo>
                    <a:pt x="0" y="13846"/>
                    <a:pt x="1985" y="9053"/>
                    <a:pt x="5519" y="5519"/>
                  </a:cubicBezTo>
                  <a:cubicBezTo>
                    <a:pt x="9053" y="1985"/>
                    <a:pt x="13846" y="0"/>
                    <a:pt x="18844" y="0"/>
                  </a:cubicBezTo>
                  <a:close/>
                </a:path>
              </a:pathLst>
            </a:custGeom>
            <a:solidFill>
              <a:srgbClr val="04001E"/>
            </a:solidFill>
            <a:ln w="38100" cap="sq">
              <a:solidFill>
                <a:srgbClr val="E5E1DA"/>
              </a:solidFill>
              <a:prstDash val="solid"/>
              <a:miter/>
            </a:ln>
          </p:spPr>
        </p:sp>
        <p:sp>
          <p:nvSpPr>
            <p:cNvPr id="23" name="TextBox 23"/>
            <p:cNvSpPr txBox="1"/>
            <p:nvPr/>
          </p:nvSpPr>
          <p:spPr>
            <a:xfrm>
              <a:off x="0" y="-38100"/>
              <a:ext cx="2750680" cy="89559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4" name="TextBox 24"/>
          <p:cNvSpPr txBox="1"/>
          <p:nvPr/>
        </p:nvSpPr>
        <p:spPr>
          <a:xfrm>
            <a:off x="9537007" y="1408933"/>
            <a:ext cx="7722293" cy="1820868"/>
          </a:xfrm>
          <a:prstGeom prst="rect">
            <a:avLst/>
          </a:prstGeom>
        </p:spPr>
        <p:txBody>
          <a:bodyPr lIns="0" tIns="0" rIns="0" bIns="0" rtlCol="0" anchor="t">
            <a:spAutoFit/>
          </a:bodyPr>
          <a:lstStyle/>
          <a:p>
            <a:pPr marL="0" lvl="0" indent="0" algn="ctr">
              <a:lnSpc>
                <a:spcPts val="3937"/>
              </a:lnSpc>
              <a:spcBef>
                <a:spcPct val="0"/>
              </a:spcBef>
            </a:pPr>
            <a:r>
              <a:rPr lang="en-US" sz="2916" b="1" spc="46">
                <a:solidFill>
                  <a:srgbClr val="FFFFFF"/>
                </a:solidFill>
                <a:latin typeface="Red Hat Display Bold"/>
                <a:ea typeface="Red Hat Display Bold"/>
                <a:cs typeface="Red Hat Display Bold"/>
                <a:sym typeface="Red Hat Display Bold"/>
              </a:rPr>
              <a:t>H</a:t>
            </a:r>
            <a:r>
              <a:rPr lang="en-US" sz="2916" b="1" u="none" spc="46">
                <a:solidFill>
                  <a:srgbClr val="FFFFFF"/>
                </a:solidFill>
                <a:latin typeface="Red Hat Display Bold"/>
                <a:ea typeface="Red Hat Display Bold"/>
                <a:cs typeface="Red Hat Display Bold"/>
                <a:sym typeface="Red Hat Display Bold"/>
              </a:rPr>
              <a:t>igh Relevance &amp; Robustness:</a:t>
            </a:r>
          </a:p>
          <a:p>
            <a:pPr marL="0" lvl="0" indent="0" algn="ctr">
              <a:lnSpc>
                <a:spcPts val="2722"/>
              </a:lnSpc>
              <a:spcBef>
                <a:spcPct val="0"/>
              </a:spcBef>
            </a:pPr>
            <a:endParaRPr lang="en-US" sz="2916" b="1" u="none" spc="46">
              <a:solidFill>
                <a:srgbClr val="FFFFFF"/>
              </a:solidFill>
              <a:latin typeface="Red Hat Display Bold"/>
              <a:ea typeface="Red Hat Display Bold"/>
              <a:cs typeface="Red Hat Display Bold"/>
              <a:sym typeface="Red Hat Display Bold"/>
            </a:endParaRPr>
          </a:p>
          <a:p>
            <a:pPr marL="0" lvl="0" indent="0" algn="just">
              <a:lnSpc>
                <a:spcPts val="3937"/>
              </a:lnSpc>
              <a:spcBef>
                <a:spcPct val="0"/>
              </a:spcBef>
            </a:pPr>
            <a:r>
              <a:rPr lang="en-US" sz="2916" u="none" spc="46">
                <a:solidFill>
                  <a:srgbClr val="FFFFFF"/>
                </a:solidFill>
                <a:latin typeface="Red Hat Display"/>
                <a:ea typeface="Red Hat Display"/>
                <a:cs typeface="Red Hat Display"/>
                <a:sym typeface="Red Hat Display"/>
              </a:rPr>
              <a:t>Delivers accurate and context-aware responses across varied queries and formats.</a:t>
            </a:r>
          </a:p>
        </p:txBody>
      </p:sp>
      <p:grpSp>
        <p:nvGrpSpPr>
          <p:cNvPr id="25" name="Group 25"/>
          <p:cNvGrpSpPr/>
          <p:nvPr/>
        </p:nvGrpSpPr>
        <p:grpSpPr>
          <a:xfrm>
            <a:off x="9321397" y="3862348"/>
            <a:ext cx="8216916" cy="2561528"/>
            <a:chOff x="0" y="0"/>
            <a:chExt cx="2750680" cy="857492"/>
          </a:xfrm>
        </p:grpSpPr>
        <p:sp>
          <p:nvSpPr>
            <p:cNvPr id="26" name="Freeform 26"/>
            <p:cNvSpPr/>
            <p:nvPr/>
          </p:nvSpPr>
          <p:spPr>
            <a:xfrm>
              <a:off x="0" y="0"/>
              <a:ext cx="2750680" cy="857492"/>
            </a:xfrm>
            <a:custGeom>
              <a:avLst/>
              <a:gdLst/>
              <a:ahLst/>
              <a:cxnLst/>
              <a:rect l="l" t="t" r="r" b="b"/>
              <a:pathLst>
                <a:path w="2750680" h="857492">
                  <a:moveTo>
                    <a:pt x="18844" y="0"/>
                  </a:moveTo>
                  <a:lnTo>
                    <a:pt x="2731836" y="0"/>
                  </a:lnTo>
                  <a:cubicBezTo>
                    <a:pt x="2736834" y="0"/>
                    <a:pt x="2741627" y="1985"/>
                    <a:pt x="2745161" y="5519"/>
                  </a:cubicBezTo>
                  <a:cubicBezTo>
                    <a:pt x="2748695" y="9053"/>
                    <a:pt x="2750680" y="13846"/>
                    <a:pt x="2750680" y="18844"/>
                  </a:cubicBezTo>
                  <a:lnTo>
                    <a:pt x="2750680" y="838649"/>
                  </a:lnTo>
                  <a:cubicBezTo>
                    <a:pt x="2750680" y="843646"/>
                    <a:pt x="2748695" y="848439"/>
                    <a:pt x="2745161" y="851973"/>
                  </a:cubicBezTo>
                  <a:cubicBezTo>
                    <a:pt x="2741627" y="855507"/>
                    <a:pt x="2736834" y="857492"/>
                    <a:pt x="2731836" y="857492"/>
                  </a:cubicBezTo>
                  <a:lnTo>
                    <a:pt x="18844" y="857492"/>
                  </a:lnTo>
                  <a:cubicBezTo>
                    <a:pt x="13846" y="857492"/>
                    <a:pt x="9053" y="855507"/>
                    <a:pt x="5519" y="851973"/>
                  </a:cubicBezTo>
                  <a:cubicBezTo>
                    <a:pt x="1985" y="848439"/>
                    <a:pt x="0" y="843646"/>
                    <a:pt x="0" y="838649"/>
                  </a:cubicBezTo>
                  <a:lnTo>
                    <a:pt x="0" y="18844"/>
                  </a:lnTo>
                  <a:cubicBezTo>
                    <a:pt x="0" y="13846"/>
                    <a:pt x="1985" y="9053"/>
                    <a:pt x="5519" y="5519"/>
                  </a:cubicBezTo>
                  <a:cubicBezTo>
                    <a:pt x="9053" y="1985"/>
                    <a:pt x="13846" y="0"/>
                    <a:pt x="18844" y="0"/>
                  </a:cubicBezTo>
                  <a:close/>
                </a:path>
              </a:pathLst>
            </a:custGeom>
            <a:solidFill>
              <a:srgbClr val="04001E"/>
            </a:solidFill>
            <a:ln w="38100" cap="sq">
              <a:solidFill>
                <a:srgbClr val="E5E1DA"/>
              </a:solidFill>
              <a:prstDash val="solid"/>
              <a:miter/>
            </a:ln>
          </p:spPr>
        </p:sp>
        <p:sp>
          <p:nvSpPr>
            <p:cNvPr id="27" name="TextBox 27"/>
            <p:cNvSpPr txBox="1"/>
            <p:nvPr/>
          </p:nvSpPr>
          <p:spPr>
            <a:xfrm>
              <a:off x="0" y="-38100"/>
              <a:ext cx="2750680" cy="89559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8" name="TextBox 28"/>
          <p:cNvSpPr txBox="1"/>
          <p:nvPr/>
        </p:nvSpPr>
        <p:spPr>
          <a:xfrm>
            <a:off x="9537007" y="4170701"/>
            <a:ext cx="7722293" cy="1839691"/>
          </a:xfrm>
          <a:prstGeom prst="rect">
            <a:avLst/>
          </a:prstGeom>
        </p:spPr>
        <p:txBody>
          <a:bodyPr lIns="0" tIns="0" rIns="0" bIns="0" rtlCol="0" anchor="t">
            <a:spAutoFit/>
          </a:bodyPr>
          <a:lstStyle/>
          <a:p>
            <a:pPr marL="0" lvl="0" indent="0" algn="ctr">
              <a:lnSpc>
                <a:spcPts val="3953"/>
              </a:lnSpc>
              <a:spcBef>
                <a:spcPct val="0"/>
              </a:spcBef>
            </a:pPr>
            <a:r>
              <a:rPr lang="en-US" sz="2928" b="1" spc="46">
                <a:solidFill>
                  <a:srgbClr val="FFFFFF"/>
                </a:solidFill>
                <a:latin typeface="Red Hat Display Bold"/>
                <a:ea typeface="Red Hat Display Bold"/>
                <a:cs typeface="Red Hat Display Bold"/>
                <a:sym typeface="Red Hat Display Bold"/>
              </a:rPr>
              <a:t>R</a:t>
            </a:r>
            <a:r>
              <a:rPr lang="en-US" sz="2928" b="1" u="none" spc="46">
                <a:solidFill>
                  <a:srgbClr val="FFFFFF"/>
                </a:solidFill>
                <a:latin typeface="Red Hat Display Bold"/>
                <a:ea typeface="Red Hat Display Bold"/>
                <a:cs typeface="Red Hat Display Bold"/>
                <a:sym typeface="Red Hat Display Bold"/>
              </a:rPr>
              <a:t>eal-Time Data Awareness:</a:t>
            </a:r>
          </a:p>
          <a:p>
            <a:pPr marL="0" lvl="0" indent="0" algn="ctr">
              <a:lnSpc>
                <a:spcPts val="2873"/>
              </a:lnSpc>
              <a:spcBef>
                <a:spcPct val="0"/>
              </a:spcBef>
            </a:pPr>
            <a:endParaRPr lang="en-US" sz="2928" b="1" u="none" spc="46">
              <a:solidFill>
                <a:srgbClr val="FFFFFF"/>
              </a:solidFill>
              <a:latin typeface="Red Hat Display Bold"/>
              <a:ea typeface="Red Hat Display Bold"/>
              <a:cs typeface="Red Hat Display Bold"/>
              <a:sym typeface="Red Hat Display Bold"/>
            </a:endParaRPr>
          </a:p>
          <a:p>
            <a:pPr marL="0" lvl="0" indent="0" algn="just">
              <a:lnSpc>
                <a:spcPts val="3953"/>
              </a:lnSpc>
              <a:spcBef>
                <a:spcPct val="0"/>
              </a:spcBef>
            </a:pPr>
            <a:r>
              <a:rPr lang="en-US" sz="2928" u="none" spc="46">
                <a:solidFill>
                  <a:srgbClr val="FFFFFF"/>
                </a:solidFill>
                <a:latin typeface="Red Hat Display"/>
                <a:ea typeface="Red Hat Display"/>
                <a:cs typeface="Red Hat Display"/>
                <a:sym typeface="Red Hat Display"/>
              </a:rPr>
              <a:t>Continuously updated to reflect the most recent information and trends.</a:t>
            </a:r>
          </a:p>
        </p:txBody>
      </p:sp>
      <p:grpSp>
        <p:nvGrpSpPr>
          <p:cNvPr id="29" name="Group 29"/>
          <p:cNvGrpSpPr/>
          <p:nvPr/>
        </p:nvGrpSpPr>
        <p:grpSpPr>
          <a:xfrm>
            <a:off x="9321397" y="6633426"/>
            <a:ext cx="8216916" cy="2561528"/>
            <a:chOff x="0" y="0"/>
            <a:chExt cx="2750680" cy="857492"/>
          </a:xfrm>
        </p:grpSpPr>
        <p:sp>
          <p:nvSpPr>
            <p:cNvPr id="30" name="Freeform 30"/>
            <p:cNvSpPr/>
            <p:nvPr/>
          </p:nvSpPr>
          <p:spPr>
            <a:xfrm>
              <a:off x="0" y="0"/>
              <a:ext cx="2750680" cy="857492"/>
            </a:xfrm>
            <a:custGeom>
              <a:avLst/>
              <a:gdLst/>
              <a:ahLst/>
              <a:cxnLst/>
              <a:rect l="l" t="t" r="r" b="b"/>
              <a:pathLst>
                <a:path w="2750680" h="857492">
                  <a:moveTo>
                    <a:pt x="18844" y="0"/>
                  </a:moveTo>
                  <a:lnTo>
                    <a:pt x="2731836" y="0"/>
                  </a:lnTo>
                  <a:cubicBezTo>
                    <a:pt x="2736834" y="0"/>
                    <a:pt x="2741627" y="1985"/>
                    <a:pt x="2745161" y="5519"/>
                  </a:cubicBezTo>
                  <a:cubicBezTo>
                    <a:pt x="2748695" y="9053"/>
                    <a:pt x="2750680" y="13846"/>
                    <a:pt x="2750680" y="18844"/>
                  </a:cubicBezTo>
                  <a:lnTo>
                    <a:pt x="2750680" y="838649"/>
                  </a:lnTo>
                  <a:cubicBezTo>
                    <a:pt x="2750680" y="843646"/>
                    <a:pt x="2748695" y="848439"/>
                    <a:pt x="2745161" y="851973"/>
                  </a:cubicBezTo>
                  <a:cubicBezTo>
                    <a:pt x="2741627" y="855507"/>
                    <a:pt x="2736834" y="857492"/>
                    <a:pt x="2731836" y="857492"/>
                  </a:cubicBezTo>
                  <a:lnTo>
                    <a:pt x="18844" y="857492"/>
                  </a:lnTo>
                  <a:cubicBezTo>
                    <a:pt x="13846" y="857492"/>
                    <a:pt x="9053" y="855507"/>
                    <a:pt x="5519" y="851973"/>
                  </a:cubicBezTo>
                  <a:cubicBezTo>
                    <a:pt x="1985" y="848439"/>
                    <a:pt x="0" y="843646"/>
                    <a:pt x="0" y="838649"/>
                  </a:cubicBezTo>
                  <a:lnTo>
                    <a:pt x="0" y="18844"/>
                  </a:lnTo>
                  <a:cubicBezTo>
                    <a:pt x="0" y="13846"/>
                    <a:pt x="1985" y="9053"/>
                    <a:pt x="5519" y="5519"/>
                  </a:cubicBezTo>
                  <a:cubicBezTo>
                    <a:pt x="9053" y="1985"/>
                    <a:pt x="13846" y="0"/>
                    <a:pt x="18844" y="0"/>
                  </a:cubicBezTo>
                  <a:close/>
                </a:path>
              </a:pathLst>
            </a:custGeom>
            <a:solidFill>
              <a:srgbClr val="04001E"/>
            </a:solidFill>
            <a:ln w="38100" cap="sq">
              <a:solidFill>
                <a:srgbClr val="E5E1DA"/>
              </a:solidFill>
              <a:prstDash val="solid"/>
              <a:miter/>
            </a:ln>
          </p:spPr>
        </p:sp>
        <p:sp>
          <p:nvSpPr>
            <p:cNvPr id="31" name="TextBox 31"/>
            <p:cNvSpPr txBox="1"/>
            <p:nvPr/>
          </p:nvSpPr>
          <p:spPr>
            <a:xfrm>
              <a:off x="0" y="-38100"/>
              <a:ext cx="2750680" cy="89559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32" name="TextBox 32"/>
          <p:cNvSpPr txBox="1"/>
          <p:nvPr/>
        </p:nvSpPr>
        <p:spPr>
          <a:xfrm>
            <a:off x="9537007" y="6941778"/>
            <a:ext cx="7722293" cy="1820641"/>
          </a:xfrm>
          <a:prstGeom prst="rect">
            <a:avLst/>
          </a:prstGeom>
        </p:spPr>
        <p:txBody>
          <a:bodyPr lIns="0" tIns="0" rIns="0" bIns="0" rtlCol="0" anchor="t">
            <a:spAutoFit/>
          </a:bodyPr>
          <a:lstStyle/>
          <a:p>
            <a:pPr marL="0" lvl="0" indent="0" algn="ctr">
              <a:lnSpc>
                <a:spcPts val="3953"/>
              </a:lnSpc>
              <a:spcBef>
                <a:spcPct val="0"/>
              </a:spcBef>
            </a:pPr>
            <a:r>
              <a:rPr lang="en-US" sz="2928" b="1" spc="46">
                <a:solidFill>
                  <a:srgbClr val="FFFFFF"/>
                </a:solidFill>
                <a:latin typeface="Red Hat Display Bold"/>
                <a:ea typeface="Red Hat Display Bold"/>
                <a:cs typeface="Red Hat Display Bold"/>
                <a:sym typeface="Red Hat Display Bold"/>
              </a:rPr>
              <a:t>Mu</a:t>
            </a:r>
            <a:r>
              <a:rPr lang="en-US" sz="2928" b="1" u="none" spc="46">
                <a:solidFill>
                  <a:srgbClr val="FFFFFF"/>
                </a:solidFill>
                <a:latin typeface="Red Hat Display Bold"/>
                <a:ea typeface="Red Hat Display Bold"/>
                <a:cs typeface="Red Hat Display Bold"/>
                <a:sym typeface="Red Hat Display Bold"/>
              </a:rPr>
              <a:t>lti-Modal Understanding:</a:t>
            </a:r>
          </a:p>
          <a:p>
            <a:pPr marL="0" lvl="0" indent="0" algn="ctr">
              <a:lnSpc>
                <a:spcPts val="2738"/>
              </a:lnSpc>
              <a:spcBef>
                <a:spcPct val="0"/>
              </a:spcBef>
            </a:pPr>
            <a:endParaRPr lang="en-US" sz="2928" b="1" u="none" spc="46">
              <a:solidFill>
                <a:srgbClr val="FFFFFF"/>
              </a:solidFill>
              <a:latin typeface="Red Hat Display Bold"/>
              <a:ea typeface="Red Hat Display Bold"/>
              <a:cs typeface="Red Hat Display Bold"/>
              <a:sym typeface="Red Hat Display Bold"/>
            </a:endParaRPr>
          </a:p>
          <a:p>
            <a:pPr marL="0" lvl="0" indent="0" algn="just">
              <a:lnSpc>
                <a:spcPts val="3953"/>
              </a:lnSpc>
              <a:spcBef>
                <a:spcPct val="0"/>
              </a:spcBef>
            </a:pPr>
            <a:r>
              <a:rPr lang="en-US" sz="2928" u="none" spc="46">
                <a:solidFill>
                  <a:srgbClr val="FFFFFF"/>
                </a:solidFill>
                <a:latin typeface="Red Hat Display"/>
                <a:ea typeface="Red Hat Display"/>
                <a:cs typeface="Red Hat Display"/>
                <a:sym typeface="Red Hat Display"/>
              </a:rPr>
              <a:t>Capable of reading and reasoning over PDFs, documents, and images effectively.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a:off x="11878550" y="2429250"/>
            <a:ext cx="12221289" cy="8822969"/>
          </a:xfrm>
          <a:custGeom>
            <a:avLst/>
            <a:gdLst/>
            <a:ahLst/>
            <a:cxnLst/>
            <a:rect l="l" t="t" r="r" b="b"/>
            <a:pathLst>
              <a:path w="12221289" h="8822969">
                <a:moveTo>
                  <a:pt x="0" y="0"/>
                </a:moveTo>
                <a:lnTo>
                  <a:pt x="12221289" y="0"/>
                </a:lnTo>
                <a:lnTo>
                  <a:pt x="12221289" y="8822969"/>
                </a:lnTo>
                <a:lnTo>
                  <a:pt x="0" y="8822969"/>
                </a:lnTo>
                <a:lnTo>
                  <a:pt x="0" y="0"/>
                </a:lnTo>
                <a:close/>
              </a:path>
            </a:pathLst>
          </a:custGeom>
          <a:blipFill>
            <a:blip r:embed="rId3"/>
            <a:stretch>
              <a:fillRect/>
            </a:stretch>
          </a:blipFill>
        </p:spPr>
      </p:sp>
      <p:grpSp>
        <p:nvGrpSpPr>
          <p:cNvPr id="4" name="Group 4"/>
          <p:cNvGrpSpPr/>
          <p:nvPr/>
        </p:nvGrpSpPr>
        <p:grpSpPr>
          <a:xfrm>
            <a:off x="1028700" y="1794704"/>
            <a:ext cx="13851811" cy="8041531"/>
            <a:chOff x="0" y="0"/>
            <a:chExt cx="3648214" cy="2117934"/>
          </a:xfrm>
        </p:grpSpPr>
        <p:sp>
          <p:nvSpPr>
            <p:cNvPr id="5" name="Freeform 5"/>
            <p:cNvSpPr/>
            <p:nvPr/>
          </p:nvSpPr>
          <p:spPr>
            <a:xfrm>
              <a:off x="0" y="0"/>
              <a:ext cx="3648214" cy="2117934"/>
            </a:xfrm>
            <a:custGeom>
              <a:avLst/>
              <a:gdLst/>
              <a:ahLst/>
              <a:cxnLst/>
              <a:rect l="l" t="t" r="r" b="b"/>
              <a:pathLst>
                <a:path w="3648214" h="2117934">
                  <a:moveTo>
                    <a:pt x="11178" y="0"/>
                  </a:moveTo>
                  <a:lnTo>
                    <a:pt x="3637035" y="0"/>
                  </a:lnTo>
                  <a:cubicBezTo>
                    <a:pt x="3643209" y="0"/>
                    <a:pt x="3648214" y="5005"/>
                    <a:pt x="3648214" y="11178"/>
                  </a:cubicBezTo>
                  <a:lnTo>
                    <a:pt x="3648214" y="2106756"/>
                  </a:lnTo>
                  <a:cubicBezTo>
                    <a:pt x="3648214" y="2112930"/>
                    <a:pt x="3643209" y="2117934"/>
                    <a:pt x="3637035" y="2117934"/>
                  </a:cubicBezTo>
                  <a:lnTo>
                    <a:pt x="11178" y="2117934"/>
                  </a:lnTo>
                  <a:cubicBezTo>
                    <a:pt x="5005" y="2117934"/>
                    <a:pt x="0" y="2112930"/>
                    <a:pt x="0" y="2106756"/>
                  </a:cubicBezTo>
                  <a:lnTo>
                    <a:pt x="0" y="11178"/>
                  </a:lnTo>
                  <a:cubicBezTo>
                    <a:pt x="0" y="5005"/>
                    <a:pt x="5005" y="0"/>
                    <a:pt x="11178" y="0"/>
                  </a:cubicBezTo>
                  <a:close/>
                </a:path>
              </a:pathLst>
            </a:custGeom>
            <a:solidFill>
              <a:srgbClr val="04001E"/>
            </a:solidFill>
            <a:ln w="38100" cap="sq">
              <a:solidFill>
                <a:srgbClr val="E5E1DA"/>
              </a:solidFill>
              <a:prstDash val="solid"/>
              <a:miter/>
            </a:ln>
          </p:spPr>
        </p:sp>
        <p:sp>
          <p:nvSpPr>
            <p:cNvPr id="6" name="TextBox 6"/>
            <p:cNvSpPr txBox="1"/>
            <p:nvPr/>
          </p:nvSpPr>
          <p:spPr>
            <a:xfrm>
              <a:off x="0" y="-38100"/>
              <a:ext cx="3648214" cy="2156034"/>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1990894" y="2698143"/>
            <a:ext cx="10571670" cy="2282190"/>
          </a:xfrm>
          <a:prstGeom prst="rect">
            <a:avLst/>
          </a:prstGeom>
        </p:spPr>
        <p:txBody>
          <a:bodyPr lIns="0" tIns="0" rIns="0" bIns="0" rtlCol="0" anchor="t">
            <a:spAutoFit/>
          </a:bodyPr>
          <a:lstStyle/>
          <a:p>
            <a:pPr algn="l">
              <a:lnSpc>
                <a:spcPts val="8730"/>
              </a:lnSpc>
            </a:pPr>
            <a:r>
              <a:rPr lang="en-US" sz="9000">
                <a:solidFill>
                  <a:srgbClr val="F4F4ED"/>
                </a:solidFill>
                <a:latin typeface="Archivo Black"/>
                <a:ea typeface="Archivo Black"/>
                <a:cs typeface="Archivo Black"/>
                <a:sym typeface="Archivo Black"/>
              </a:rPr>
              <a:t>How do we plan to apply?</a:t>
            </a:r>
          </a:p>
        </p:txBody>
      </p:sp>
      <p:sp>
        <p:nvSpPr>
          <p:cNvPr id="8" name="Freeform 8"/>
          <p:cNvSpPr/>
          <p:nvPr/>
        </p:nvSpPr>
        <p:spPr>
          <a:xfrm>
            <a:off x="12271832" y="7270926"/>
            <a:ext cx="896420" cy="896420"/>
          </a:xfrm>
          <a:custGeom>
            <a:avLst/>
            <a:gdLst/>
            <a:ahLst/>
            <a:cxnLst/>
            <a:rect l="l" t="t" r="r" b="b"/>
            <a:pathLst>
              <a:path w="896420" h="896420">
                <a:moveTo>
                  <a:pt x="0" y="0"/>
                </a:moveTo>
                <a:lnTo>
                  <a:pt x="896421" y="0"/>
                </a:lnTo>
                <a:lnTo>
                  <a:pt x="896421" y="896421"/>
                </a:lnTo>
                <a:lnTo>
                  <a:pt x="0" y="896421"/>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4001E"/>
        </a:solidFill>
        <a:effectLst/>
      </p:bgPr>
    </p:bg>
    <p:spTree>
      <p:nvGrpSpPr>
        <p:cNvPr id="1" name=""/>
        <p:cNvGrpSpPr/>
        <p:nvPr/>
      </p:nvGrpSpPr>
      <p:grpSpPr>
        <a:xfrm>
          <a:off x="0" y="0"/>
          <a:ext cx="0" cy="0"/>
          <a:chOff x="0" y="0"/>
          <a:chExt cx="0" cy="0"/>
        </a:xfrm>
      </p:grpSpPr>
      <p:sp>
        <p:nvSpPr>
          <p:cNvPr id="2" name="Freeform 2"/>
          <p:cNvSpPr/>
          <p:nvPr/>
        </p:nvSpPr>
        <p:spPr>
          <a:xfrm rot="6626729">
            <a:off x="11878550" y="2429250"/>
            <a:ext cx="12221289" cy="8822969"/>
          </a:xfrm>
          <a:custGeom>
            <a:avLst/>
            <a:gdLst/>
            <a:ahLst/>
            <a:cxnLst/>
            <a:rect l="l" t="t" r="r" b="b"/>
            <a:pathLst>
              <a:path w="12221289" h="8822969">
                <a:moveTo>
                  <a:pt x="0" y="0"/>
                </a:moveTo>
                <a:lnTo>
                  <a:pt x="12221289" y="0"/>
                </a:lnTo>
                <a:lnTo>
                  <a:pt x="12221289" y="8822969"/>
                </a:lnTo>
                <a:lnTo>
                  <a:pt x="0" y="8822969"/>
                </a:lnTo>
                <a:lnTo>
                  <a:pt x="0" y="0"/>
                </a:lnTo>
                <a:close/>
              </a:path>
            </a:pathLst>
          </a:custGeom>
          <a:blipFill>
            <a:blip r:embed="rId2"/>
            <a:stretch>
              <a:fillRect/>
            </a:stretch>
          </a:blipFill>
        </p:spPr>
      </p:sp>
      <p:grpSp>
        <p:nvGrpSpPr>
          <p:cNvPr id="3" name="Group 3"/>
          <p:cNvGrpSpPr/>
          <p:nvPr/>
        </p:nvGrpSpPr>
        <p:grpSpPr>
          <a:xfrm>
            <a:off x="1028700" y="1794704"/>
            <a:ext cx="13851811" cy="8041531"/>
            <a:chOff x="0" y="0"/>
            <a:chExt cx="3648214" cy="2117934"/>
          </a:xfrm>
        </p:grpSpPr>
        <p:sp>
          <p:nvSpPr>
            <p:cNvPr id="4" name="Freeform 4"/>
            <p:cNvSpPr/>
            <p:nvPr/>
          </p:nvSpPr>
          <p:spPr>
            <a:xfrm>
              <a:off x="0" y="0"/>
              <a:ext cx="3648214" cy="2117934"/>
            </a:xfrm>
            <a:custGeom>
              <a:avLst/>
              <a:gdLst/>
              <a:ahLst/>
              <a:cxnLst/>
              <a:rect l="l" t="t" r="r" b="b"/>
              <a:pathLst>
                <a:path w="3648214" h="2117934">
                  <a:moveTo>
                    <a:pt x="11178" y="0"/>
                  </a:moveTo>
                  <a:lnTo>
                    <a:pt x="3637035" y="0"/>
                  </a:lnTo>
                  <a:cubicBezTo>
                    <a:pt x="3643209" y="0"/>
                    <a:pt x="3648214" y="5005"/>
                    <a:pt x="3648214" y="11178"/>
                  </a:cubicBezTo>
                  <a:lnTo>
                    <a:pt x="3648214" y="2106756"/>
                  </a:lnTo>
                  <a:cubicBezTo>
                    <a:pt x="3648214" y="2112930"/>
                    <a:pt x="3643209" y="2117934"/>
                    <a:pt x="3637035" y="2117934"/>
                  </a:cubicBezTo>
                  <a:lnTo>
                    <a:pt x="11178" y="2117934"/>
                  </a:lnTo>
                  <a:cubicBezTo>
                    <a:pt x="5005" y="2117934"/>
                    <a:pt x="0" y="2112930"/>
                    <a:pt x="0" y="2106756"/>
                  </a:cubicBezTo>
                  <a:lnTo>
                    <a:pt x="0" y="11178"/>
                  </a:lnTo>
                  <a:cubicBezTo>
                    <a:pt x="0" y="5005"/>
                    <a:pt x="5005" y="0"/>
                    <a:pt x="11178" y="0"/>
                  </a:cubicBezTo>
                  <a:close/>
                </a:path>
              </a:pathLst>
            </a:custGeom>
            <a:solidFill>
              <a:srgbClr val="04001E"/>
            </a:solidFill>
            <a:ln w="38100" cap="sq">
              <a:solidFill>
                <a:srgbClr val="E5E1DA"/>
              </a:solidFill>
              <a:prstDash val="solid"/>
              <a:miter/>
            </a:ln>
          </p:spPr>
        </p:sp>
        <p:sp>
          <p:nvSpPr>
            <p:cNvPr id="5" name="TextBox 5"/>
            <p:cNvSpPr txBox="1"/>
            <p:nvPr/>
          </p:nvSpPr>
          <p:spPr>
            <a:xfrm>
              <a:off x="0" y="-38100"/>
              <a:ext cx="3648214" cy="2156034"/>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754630" y="3227147"/>
            <a:ext cx="12399952" cy="4491990"/>
          </a:xfrm>
          <a:prstGeom prst="rect">
            <a:avLst/>
          </a:prstGeom>
        </p:spPr>
        <p:txBody>
          <a:bodyPr lIns="0" tIns="0" rIns="0" bIns="0" rtlCol="0" anchor="t">
            <a:spAutoFit/>
          </a:bodyPr>
          <a:lstStyle/>
          <a:p>
            <a:pPr algn="l">
              <a:lnSpc>
                <a:spcPts val="8730"/>
              </a:lnSpc>
            </a:pPr>
            <a:r>
              <a:rPr lang="en-US" sz="9000">
                <a:solidFill>
                  <a:srgbClr val="F4F4ED"/>
                </a:solidFill>
                <a:latin typeface="Archivo Black"/>
                <a:ea typeface="Archivo Black"/>
                <a:cs typeface="Archivo Black"/>
                <a:sym typeface="Archivo Black"/>
              </a:rPr>
              <a:t>Apply Adaptive Retreival and context enrichment strategy in our RAG</a:t>
            </a:r>
          </a:p>
        </p:txBody>
      </p:sp>
      <p:sp>
        <p:nvSpPr>
          <p:cNvPr id="7" name="Freeform 7"/>
          <p:cNvSpPr/>
          <p:nvPr/>
        </p:nvSpPr>
        <p:spPr>
          <a:xfrm>
            <a:off x="12271832" y="8281112"/>
            <a:ext cx="896420" cy="896420"/>
          </a:xfrm>
          <a:custGeom>
            <a:avLst/>
            <a:gdLst/>
            <a:ahLst/>
            <a:cxnLst/>
            <a:rect l="l" t="t" r="r" b="b"/>
            <a:pathLst>
              <a:path w="896420" h="896420">
                <a:moveTo>
                  <a:pt x="0" y="0"/>
                </a:moveTo>
                <a:lnTo>
                  <a:pt x="896421" y="0"/>
                </a:lnTo>
                <a:lnTo>
                  <a:pt x="896421" y="896420"/>
                </a:lnTo>
                <a:lnTo>
                  <a:pt x="0" y="896420"/>
                </a:lnTo>
                <a:lnTo>
                  <a:pt x="0" y="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flipH="1">
            <a:off x="-7192264" y="322201"/>
            <a:ext cx="12221289" cy="8822969"/>
          </a:xfrm>
          <a:custGeom>
            <a:avLst/>
            <a:gdLst/>
            <a:ahLst/>
            <a:cxnLst/>
            <a:rect l="l" t="t" r="r" b="b"/>
            <a:pathLst>
              <a:path w="12221289" h="8822969">
                <a:moveTo>
                  <a:pt x="12221289" y="0"/>
                </a:moveTo>
                <a:lnTo>
                  <a:pt x="0" y="0"/>
                </a:lnTo>
                <a:lnTo>
                  <a:pt x="0" y="8822969"/>
                </a:lnTo>
                <a:lnTo>
                  <a:pt x="12221289" y="8822969"/>
                </a:lnTo>
                <a:lnTo>
                  <a:pt x="12221289" y="0"/>
                </a:lnTo>
                <a:close/>
              </a:path>
            </a:pathLst>
          </a:custGeom>
          <a:blipFill>
            <a:blip r:embed="rId3"/>
            <a:stretch>
              <a:fillRect/>
            </a:stretch>
          </a:blipFill>
        </p:spPr>
      </p:sp>
      <p:grpSp>
        <p:nvGrpSpPr>
          <p:cNvPr id="4" name="Group 4"/>
          <p:cNvGrpSpPr/>
          <p:nvPr/>
        </p:nvGrpSpPr>
        <p:grpSpPr>
          <a:xfrm>
            <a:off x="175502" y="3271206"/>
            <a:ext cx="4062661" cy="2988898"/>
            <a:chOff x="0" y="0"/>
            <a:chExt cx="1070001" cy="787200"/>
          </a:xfrm>
        </p:grpSpPr>
        <p:sp>
          <p:nvSpPr>
            <p:cNvPr id="5" name="Freeform 5"/>
            <p:cNvSpPr/>
            <p:nvPr/>
          </p:nvSpPr>
          <p:spPr>
            <a:xfrm>
              <a:off x="0" y="0"/>
              <a:ext cx="1070001" cy="787200"/>
            </a:xfrm>
            <a:custGeom>
              <a:avLst/>
              <a:gdLst/>
              <a:ahLst/>
              <a:cxnLst/>
              <a:rect l="l" t="t" r="r" b="b"/>
              <a:pathLst>
                <a:path w="1070001" h="787200">
                  <a:moveTo>
                    <a:pt x="38113" y="0"/>
                  </a:moveTo>
                  <a:lnTo>
                    <a:pt x="1031889" y="0"/>
                  </a:lnTo>
                  <a:cubicBezTo>
                    <a:pt x="1041997" y="0"/>
                    <a:pt x="1051691" y="4015"/>
                    <a:pt x="1058838" y="11163"/>
                  </a:cubicBezTo>
                  <a:cubicBezTo>
                    <a:pt x="1065986" y="18310"/>
                    <a:pt x="1070001" y="28004"/>
                    <a:pt x="1070001" y="38113"/>
                  </a:cubicBezTo>
                  <a:lnTo>
                    <a:pt x="1070001" y="749087"/>
                  </a:lnTo>
                  <a:cubicBezTo>
                    <a:pt x="1070001" y="770136"/>
                    <a:pt x="1052938" y="787200"/>
                    <a:pt x="1031889" y="787200"/>
                  </a:cubicBezTo>
                  <a:lnTo>
                    <a:pt x="38113" y="787200"/>
                  </a:lnTo>
                  <a:cubicBezTo>
                    <a:pt x="17064" y="787200"/>
                    <a:pt x="0" y="770136"/>
                    <a:pt x="0" y="749087"/>
                  </a:cubicBezTo>
                  <a:lnTo>
                    <a:pt x="0" y="38113"/>
                  </a:lnTo>
                  <a:cubicBezTo>
                    <a:pt x="0" y="17064"/>
                    <a:pt x="17064" y="0"/>
                    <a:pt x="38113" y="0"/>
                  </a:cubicBezTo>
                  <a:close/>
                </a:path>
              </a:pathLst>
            </a:custGeom>
            <a:solidFill>
              <a:srgbClr val="04001E"/>
            </a:solidFill>
            <a:ln w="38100" cap="sq">
              <a:solidFill>
                <a:srgbClr val="E5E1DA"/>
              </a:solidFill>
              <a:prstDash val="solid"/>
              <a:miter/>
            </a:ln>
          </p:spPr>
        </p:sp>
        <p:sp>
          <p:nvSpPr>
            <p:cNvPr id="6" name="TextBox 6"/>
            <p:cNvSpPr txBox="1"/>
            <p:nvPr/>
          </p:nvSpPr>
          <p:spPr>
            <a:xfrm>
              <a:off x="0" y="-38100"/>
              <a:ext cx="1070001" cy="825300"/>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114300" y="3783275"/>
            <a:ext cx="4015707" cy="2015121"/>
          </a:xfrm>
          <a:prstGeom prst="rect">
            <a:avLst/>
          </a:prstGeom>
        </p:spPr>
        <p:txBody>
          <a:bodyPr lIns="0" tIns="0" rIns="0" bIns="0" rtlCol="0" anchor="t">
            <a:spAutoFit/>
          </a:bodyPr>
          <a:lstStyle/>
          <a:p>
            <a:pPr algn="ctr">
              <a:lnSpc>
                <a:spcPts val="5238"/>
              </a:lnSpc>
            </a:pPr>
            <a:r>
              <a:rPr lang="en-US" sz="5400">
                <a:solidFill>
                  <a:srgbClr val="FFFFFF"/>
                </a:solidFill>
                <a:latin typeface="Archivo Black"/>
                <a:ea typeface="Archivo Black"/>
                <a:cs typeface="Archivo Black"/>
                <a:sym typeface="Archivo Black"/>
              </a:rPr>
              <a:t>Adaptive RAG System</a:t>
            </a:r>
          </a:p>
        </p:txBody>
      </p:sp>
      <p:grpSp>
        <p:nvGrpSpPr>
          <p:cNvPr id="8" name="Group 8"/>
          <p:cNvGrpSpPr/>
          <p:nvPr/>
        </p:nvGrpSpPr>
        <p:grpSpPr>
          <a:xfrm>
            <a:off x="5186509" y="499640"/>
            <a:ext cx="12351804" cy="9346726"/>
            <a:chOff x="0" y="0"/>
            <a:chExt cx="16469072" cy="12462301"/>
          </a:xfrm>
        </p:grpSpPr>
        <p:grpSp>
          <p:nvGrpSpPr>
            <p:cNvPr id="9" name="Group 9"/>
            <p:cNvGrpSpPr/>
            <p:nvPr/>
          </p:nvGrpSpPr>
          <p:grpSpPr>
            <a:xfrm>
              <a:off x="0" y="0"/>
              <a:ext cx="16469072" cy="11290789"/>
              <a:chOff x="0" y="0"/>
              <a:chExt cx="4134868" cy="2834763"/>
            </a:xfrm>
          </p:grpSpPr>
          <p:sp>
            <p:nvSpPr>
              <p:cNvPr id="10" name="Freeform 10"/>
              <p:cNvSpPr/>
              <p:nvPr/>
            </p:nvSpPr>
            <p:spPr>
              <a:xfrm>
                <a:off x="0" y="0"/>
                <a:ext cx="4134868" cy="2834763"/>
              </a:xfrm>
              <a:custGeom>
                <a:avLst/>
                <a:gdLst/>
                <a:ahLst/>
                <a:cxnLst/>
                <a:rect l="l" t="t" r="r" b="b"/>
                <a:pathLst>
                  <a:path w="4134868" h="2834763">
                    <a:moveTo>
                      <a:pt x="12536" y="0"/>
                    </a:moveTo>
                    <a:lnTo>
                      <a:pt x="4122332" y="0"/>
                    </a:lnTo>
                    <a:cubicBezTo>
                      <a:pt x="4129255" y="0"/>
                      <a:pt x="4134868" y="5612"/>
                      <a:pt x="4134868" y="12536"/>
                    </a:cubicBezTo>
                    <a:lnTo>
                      <a:pt x="4134868" y="2822228"/>
                    </a:lnTo>
                    <a:cubicBezTo>
                      <a:pt x="4134868" y="2825552"/>
                      <a:pt x="4133547" y="2828741"/>
                      <a:pt x="4131196" y="2831092"/>
                    </a:cubicBezTo>
                    <a:cubicBezTo>
                      <a:pt x="4128845" y="2833443"/>
                      <a:pt x="4125657" y="2834763"/>
                      <a:pt x="4122332" y="2834763"/>
                    </a:cubicBezTo>
                    <a:lnTo>
                      <a:pt x="12536" y="2834763"/>
                    </a:lnTo>
                    <a:cubicBezTo>
                      <a:pt x="5612" y="2834763"/>
                      <a:pt x="0" y="2829151"/>
                      <a:pt x="0" y="2822228"/>
                    </a:cubicBezTo>
                    <a:lnTo>
                      <a:pt x="0" y="12536"/>
                    </a:lnTo>
                    <a:cubicBezTo>
                      <a:pt x="0" y="9211"/>
                      <a:pt x="1321" y="6023"/>
                      <a:pt x="3672" y="3672"/>
                    </a:cubicBezTo>
                    <a:cubicBezTo>
                      <a:pt x="6023" y="1321"/>
                      <a:pt x="9211" y="0"/>
                      <a:pt x="12536" y="0"/>
                    </a:cubicBezTo>
                    <a:close/>
                  </a:path>
                </a:pathLst>
              </a:custGeom>
              <a:solidFill>
                <a:srgbClr val="04001E"/>
              </a:solidFill>
              <a:ln w="38100" cap="sq">
                <a:solidFill>
                  <a:srgbClr val="E5E1DA"/>
                </a:solidFill>
                <a:prstDash val="solid"/>
                <a:miter/>
              </a:ln>
            </p:spPr>
          </p:sp>
          <p:sp>
            <p:nvSpPr>
              <p:cNvPr id="11" name="TextBox 11"/>
              <p:cNvSpPr txBox="1"/>
              <p:nvPr/>
            </p:nvSpPr>
            <p:spPr>
              <a:xfrm>
                <a:off x="0" y="-38100"/>
                <a:ext cx="4134868" cy="2872863"/>
              </a:xfrm>
              <a:prstGeom prst="rect">
                <a:avLst/>
              </a:prstGeom>
            </p:spPr>
            <p:txBody>
              <a:bodyPr lIns="50800" tIns="50800" rIns="50800" bIns="50800" rtlCol="0" anchor="ctr"/>
              <a:lstStyle/>
              <a:p>
                <a:pPr marL="410209" lvl="1" indent="-205105" algn="ctr">
                  <a:lnSpc>
                    <a:spcPts val="2659"/>
                  </a:lnSpc>
                  <a:buFont typeface="Arial"/>
                  <a:buChar char="•"/>
                </a:pPr>
                <a:r>
                  <a:rPr lang="en-US" sz="1899">
                    <a:solidFill>
                      <a:srgbClr val="000000"/>
                    </a:solidFill>
                    <a:latin typeface="Lato"/>
                    <a:ea typeface="Lato"/>
                    <a:cs typeface="Lato"/>
                    <a:sym typeface="Lato"/>
                  </a:rPr>
                  <a:t>fawf</a:t>
                </a:r>
              </a:p>
            </p:txBody>
          </p:sp>
        </p:grpSp>
        <p:sp>
          <p:nvSpPr>
            <p:cNvPr id="12" name="TextBox 12"/>
            <p:cNvSpPr txBox="1"/>
            <p:nvPr/>
          </p:nvSpPr>
          <p:spPr>
            <a:xfrm>
              <a:off x="614833" y="2448767"/>
              <a:ext cx="14804335" cy="10013534"/>
            </a:xfrm>
            <a:prstGeom prst="rect">
              <a:avLst/>
            </a:prstGeom>
          </p:spPr>
          <p:txBody>
            <a:bodyPr lIns="0" tIns="0" rIns="0" bIns="0" rtlCol="0" anchor="t">
              <a:spAutoFit/>
            </a:bodyPr>
            <a:lstStyle/>
            <a:p>
              <a:pPr marL="867134" lvl="1" indent="-433567" algn="l">
                <a:lnSpc>
                  <a:spcPts val="5422"/>
                </a:lnSpc>
                <a:buFont typeface="Arial"/>
                <a:buChar char="•"/>
              </a:pPr>
              <a:r>
                <a:rPr lang="en-US" sz="4016" u="none" spc="64">
                  <a:solidFill>
                    <a:srgbClr val="FFFFFF"/>
                  </a:solidFill>
                  <a:latin typeface="Red Hat Display"/>
                  <a:ea typeface="Red Hat Display"/>
                  <a:cs typeface="Red Hat Display"/>
                  <a:sym typeface="Red Hat Display"/>
                </a:rPr>
                <a:t> Query Classification</a:t>
              </a:r>
            </a:p>
            <a:p>
              <a:pPr algn="l">
                <a:lnSpc>
                  <a:spcPts val="5422"/>
                </a:lnSpc>
              </a:pPr>
              <a:endParaRPr lang="en-US" sz="4016" u="none" spc="64">
                <a:solidFill>
                  <a:srgbClr val="FFFFFF"/>
                </a:solidFill>
                <a:latin typeface="Red Hat Display"/>
                <a:ea typeface="Red Hat Display"/>
                <a:cs typeface="Red Hat Display"/>
                <a:sym typeface="Red Hat Display"/>
              </a:endParaRPr>
            </a:p>
            <a:p>
              <a:pPr marL="867134" lvl="1" indent="-433567" algn="l">
                <a:lnSpc>
                  <a:spcPts val="5422"/>
                </a:lnSpc>
                <a:buFont typeface="Arial"/>
                <a:buChar char="•"/>
              </a:pPr>
              <a:r>
                <a:rPr lang="en-US" sz="4016" u="none" spc="64">
                  <a:solidFill>
                    <a:srgbClr val="FFFFFF"/>
                  </a:solidFill>
                  <a:latin typeface="Red Hat Display"/>
                  <a:ea typeface="Red Hat Display"/>
                  <a:cs typeface="Red Hat Display"/>
                  <a:sym typeface="Red Hat Display"/>
                </a:rPr>
                <a:t> Dynamic Strategy Selection</a:t>
              </a:r>
            </a:p>
            <a:p>
              <a:pPr algn="l">
                <a:lnSpc>
                  <a:spcPts val="5422"/>
                </a:lnSpc>
              </a:pPr>
              <a:endParaRPr lang="en-US" sz="4016" u="none" spc="64">
                <a:solidFill>
                  <a:srgbClr val="FFFFFF"/>
                </a:solidFill>
                <a:latin typeface="Red Hat Display"/>
                <a:ea typeface="Red Hat Display"/>
                <a:cs typeface="Red Hat Display"/>
                <a:sym typeface="Red Hat Display"/>
              </a:endParaRPr>
            </a:p>
            <a:p>
              <a:pPr marL="867134" lvl="1" indent="-433567" algn="l">
                <a:lnSpc>
                  <a:spcPts val="5422"/>
                </a:lnSpc>
                <a:buFont typeface="Arial"/>
                <a:buChar char="•"/>
              </a:pPr>
              <a:r>
                <a:rPr lang="en-US" sz="4016" u="none" spc="64">
                  <a:solidFill>
                    <a:srgbClr val="FFFFFF"/>
                  </a:solidFill>
                  <a:latin typeface="Red Hat Display"/>
                  <a:ea typeface="Red Hat Display"/>
                  <a:cs typeface="Red Hat Display"/>
                  <a:sym typeface="Red Hat Display"/>
                </a:rPr>
                <a:t> Tailored Retrieval</a:t>
              </a:r>
            </a:p>
            <a:p>
              <a:pPr algn="l">
                <a:lnSpc>
                  <a:spcPts val="5422"/>
                </a:lnSpc>
              </a:pPr>
              <a:endParaRPr lang="en-US" sz="4016" u="none" spc="64">
                <a:solidFill>
                  <a:srgbClr val="FFFFFF"/>
                </a:solidFill>
                <a:latin typeface="Red Hat Display"/>
                <a:ea typeface="Red Hat Display"/>
                <a:cs typeface="Red Hat Display"/>
                <a:sym typeface="Red Hat Display"/>
              </a:endParaRPr>
            </a:p>
            <a:p>
              <a:pPr marL="867134" lvl="1" indent="-433567" algn="l">
                <a:lnSpc>
                  <a:spcPts val="5422"/>
                </a:lnSpc>
                <a:buFont typeface="Arial"/>
                <a:buChar char="•"/>
              </a:pPr>
              <a:r>
                <a:rPr lang="en-US" sz="4016" u="none" spc="64">
                  <a:solidFill>
                    <a:srgbClr val="FFFFFF"/>
                  </a:solidFill>
                  <a:latin typeface="Red Hat Display"/>
                  <a:ea typeface="Red Hat Display"/>
                  <a:cs typeface="Red Hat Display"/>
                  <a:sym typeface="Red Hat Display"/>
                </a:rPr>
                <a:t> Improved Precision</a:t>
              </a:r>
            </a:p>
            <a:p>
              <a:pPr algn="l">
                <a:lnSpc>
                  <a:spcPts val="5422"/>
                </a:lnSpc>
              </a:pPr>
              <a:endParaRPr lang="en-US" sz="4016" u="none" spc="64">
                <a:solidFill>
                  <a:srgbClr val="FFFFFF"/>
                </a:solidFill>
                <a:latin typeface="Red Hat Display"/>
                <a:ea typeface="Red Hat Display"/>
                <a:cs typeface="Red Hat Display"/>
                <a:sym typeface="Red Hat Display"/>
              </a:endParaRPr>
            </a:p>
            <a:p>
              <a:pPr algn="l">
                <a:lnSpc>
                  <a:spcPts val="5422"/>
                </a:lnSpc>
              </a:pPr>
              <a:endParaRPr lang="en-US" sz="4016" u="none" spc="64">
                <a:solidFill>
                  <a:srgbClr val="FFFFFF"/>
                </a:solidFill>
                <a:latin typeface="Red Hat Display"/>
                <a:ea typeface="Red Hat Display"/>
                <a:cs typeface="Red Hat Display"/>
                <a:sym typeface="Red Hat Display"/>
              </a:endParaRPr>
            </a:p>
            <a:p>
              <a:pPr algn="l">
                <a:lnSpc>
                  <a:spcPts val="5422"/>
                </a:lnSpc>
              </a:pPr>
              <a:endParaRPr lang="en-US" sz="4016" u="none" spc="64">
                <a:solidFill>
                  <a:srgbClr val="FFFFFF"/>
                </a:solidFill>
                <a:latin typeface="Red Hat Display"/>
                <a:ea typeface="Red Hat Display"/>
                <a:cs typeface="Red Hat Display"/>
                <a:sym typeface="Red Hat Display"/>
              </a:endParaRPr>
            </a:p>
            <a:p>
              <a:pPr algn="l">
                <a:lnSpc>
                  <a:spcPts val="5422"/>
                </a:lnSpc>
              </a:pPr>
              <a:endParaRPr lang="en-US" sz="4016" u="none" spc="64">
                <a:solidFill>
                  <a:srgbClr val="FFFFFF"/>
                </a:solidFill>
                <a:latin typeface="Red Hat Display"/>
                <a:ea typeface="Red Hat Display"/>
                <a:cs typeface="Red Hat Display"/>
                <a:sym typeface="Red Hat Display"/>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flipH="1">
            <a:off x="-7192264" y="322201"/>
            <a:ext cx="12221289" cy="8822969"/>
          </a:xfrm>
          <a:custGeom>
            <a:avLst/>
            <a:gdLst/>
            <a:ahLst/>
            <a:cxnLst/>
            <a:rect l="l" t="t" r="r" b="b"/>
            <a:pathLst>
              <a:path w="12221289" h="8822969">
                <a:moveTo>
                  <a:pt x="12221289" y="0"/>
                </a:moveTo>
                <a:lnTo>
                  <a:pt x="0" y="0"/>
                </a:lnTo>
                <a:lnTo>
                  <a:pt x="0" y="8822969"/>
                </a:lnTo>
                <a:lnTo>
                  <a:pt x="12221289" y="8822969"/>
                </a:lnTo>
                <a:lnTo>
                  <a:pt x="12221289" y="0"/>
                </a:lnTo>
                <a:close/>
              </a:path>
            </a:pathLst>
          </a:custGeom>
          <a:blipFill>
            <a:blip r:embed="rId3"/>
            <a:stretch>
              <a:fillRect/>
            </a:stretch>
          </a:blipFill>
        </p:spPr>
      </p:sp>
      <p:grpSp>
        <p:nvGrpSpPr>
          <p:cNvPr id="4" name="Group 4"/>
          <p:cNvGrpSpPr/>
          <p:nvPr/>
        </p:nvGrpSpPr>
        <p:grpSpPr>
          <a:xfrm>
            <a:off x="175502" y="3271206"/>
            <a:ext cx="4062661" cy="2988898"/>
            <a:chOff x="0" y="0"/>
            <a:chExt cx="1070001" cy="787200"/>
          </a:xfrm>
        </p:grpSpPr>
        <p:sp>
          <p:nvSpPr>
            <p:cNvPr id="5" name="Freeform 5"/>
            <p:cNvSpPr/>
            <p:nvPr/>
          </p:nvSpPr>
          <p:spPr>
            <a:xfrm>
              <a:off x="0" y="0"/>
              <a:ext cx="1070001" cy="787200"/>
            </a:xfrm>
            <a:custGeom>
              <a:avLst/>
              <a:gdLst/>
              <a:ahLst/>
              <a:cxnLst/>
              <a:rect l="l" t="t" r="r" b="b"/>
              <a:pathLst>
                <a:path w="1070001" h="787200">
                  <a:moveTo>
                    <a:pt x="38113" y="0"/>
                  </a:moveTo>
                  <a:lnTo>
                    <a:pt x="1031889" y="0"/>
                  </a:lnTo>
                  <a:cubicBezTo>
                    <a:pt x="1041997" y="0"/>
                    <a:pt x="1051691" y="4015"/>
                    <a:pt x="1058838" y="11163"/>
                  </a:cubicBezTo>
                  <a:cubicBezTo>
                    <a:pt x="1065986" y="18310"/>
                    <a:pt x="1070001" y="28004"/>
                    <a:pt x="1070001" y="38113"/>
                  </a:cubicBezTo>
                  <a:lnTo>
                    <a:pt x="1070001" y="749087"/>
                  </a:lnTo>
                  <a:cubicBezTo>
                    <a:pt x="1070001" y="770136"/>
                    <a:pt x="1052938" y="787200"/>
                    <a:pt x="1031889" y="787200"/>
                  </a:cubicBezTo>
                  <a:lnTo>
                    <a:pt x="38113" y="787200"/>
                  </a:lnTo>
                  <a:cubicBezTo>
                    <a:pt x="17064" y="787200"/>
                    <a:pt x="0" y="770136"/>
                    <a:pt x="0" y="749087"/>
                  </a:cubicBezTo>
                  <a:lnTo>
                    <a:pt x="0" y="38113"/>
                  </a:lnTo>
                  <a:cubicBezTo>
                    <a:pt x="0" y="17064"/>
                    <a:pt x="17064" y="0"/>
                    <a:pt x="38113" y="0"/>
                  </a:cubicBezTo>
                  <a:close/>
                </a:path>
              </a:pathLst>
            </a:custGeom>
            <a:solidFill>
              <a:srgbClr val="04001E"/>
            </a:solidFill>
            <a:ln w="38100" cap="sq">
              <a:solidFill>
                <a:srgbClr val="E5E1DA"/>
              </a:solidFill>
              <a:prstDash val="solid"/>
              <a:miter/>
            </a:ln>
          </p:spPr>
        </p:sp>
        <p:sp>
          <p:nvSpPr>
            <p:cNvPr id="6" name="TextBox 6"/>
            <p:cNvSpPr txBox="1"/>
            <p:nvPr/>
          </p:nvSpPr>
          <p:spPr>
            <a:xfrm>
              <a:off x="0" y="-38100"/>
              <a:ext cx="1070001" cy="825300"/>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4394594" y="223993"/>
            <a:ext cx="13674331" cy="9839013"/>
          </a:xfrm>
          <a:custGeom>
            <a:avLst/>
            <a:gdLst/>
            <a:ahLst/>
            <a:cxnLst/>
            <a:rect l="l" t="t" r="r" b="b"/>
            <a:pathLst>
              <a:path w="13674331" h="9839013">
                <a:moveTo>
                  <a:pt x="0" y="0"/>
                </a:moveTo>
                <a:lnTo>
                  <a:pt x="13674331" y="0"/>
                </a:lnTo>
                <a:lnTo>
                  <a:pt x="13674331" y="9839014"/>
                </a:lnTo>
                <a:lnTo>
                  <a:pt x="0" y="9839014"/>
                </a:lnTo>
                <a:lnTo>
                  <a:pt x="0" y="0"/>
                </a:lnTo>
                <a:close/>
              </a:path>
            </a:pathLst>
          </a:custGeom>
          <a:blipFill>
            <a:blip r:embed="rId4"/>
            <a:stretch>
              <a:fillRect/>
            </a:stretch>
          </a:blipFill>
        </p:spPr>
      </p:sp>
      <p:sp>
        <p:nvSpPr>
          <p:cNvPr id="8" name="TextBox 8"/>
          <p:cNvSpPr txBox="1"/>
          <p:nvPr/>
        </p:nvSpPr>
        <p:spPr>
          <a:xfrm>
            <a:off x="114300" y="3783275"/>
            <a:ext cx="4015707" cy="2015121"/>
          </a:xfrm>
          <a:prstGeom prst="rect">
            <a:avLst/>
          </a:prstGeom>
        </p:spPr>
        <p:txBody>
          <a:bodyPr lIns="0" tIns="0" rIns="0" bIns="0" rtlCol="0" anchor="t">
            <a:spAutoFit/>
          </a:bodyPr>
          <a:lstStyle/>
          <a:p>
            <a:pPr algn="ctr">
              <a:lnSpc>
                <a:spcPts val="5238"/>
              </a:lnSpc>
            </a:pPr>
            <a:r>
              <a:rPr lang="en-US" sz="5400">
                <a:solidFill>
                  <a:srgbClr val="FFFFFF"/>
                </a:solidFill>
                <a:latin typeface="Archivo Black"/>
                <a:ea typeface="Archivo Black"/>
                <a:cs typeface="Archivo Black"/>
                <a:sym typeface="Archivo Black"/>
              </a:rPr>
              <a:t>Adaptive RAG System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flipH="1">
            <a:off x="-7192264" y="322201"/>
            <a:ext cx="12221289" cy="8822969"/>
          </a:xfrm>
          <a:custGeom>
            <a:avLst/>
            <a:gdLst/>
            <a:ahLst/>
            <a:cxnLst/>
            <a:rect l="l" t="t" r="r" b="b"/>
            <a:pathLst>
              <a:path w="12221289" h="8822969">
                <a:moveTo>
                  <a:pt x="12221289" y="0"/>
                </a:moveTo>
                <a:lnTo>
                  <a:pt x="0" y="0"/>
                </a:lnTo>
                <a:lnTo>
                  <a:pt x="0" y="8822969"/>
                </a:lnTo>
                <a:lnTo>
                  <a:pt x="12221289" y="8822969"/>
                </a:lnTo>
                <a:lnTo>
                  <a:pt x="12221289" y="0"/>
                </a:lnTo>
                <a:close/>
              </a:path>
            </a:pathLst>
          </a:custGeom>
          <a:blipFill>
            <a:blip r:embed="rId3"/>
            <a:stretch>
              <a:fillRect/>
            </a:stretch>
          </a:blipFill>
        </p:spPr>
      </p:sp>
      <p:grpSp>
        <p:nvGrpSpPr>
          <p:cNvPr id="4" name="Group 4"/>
          <p:cNvGrpSpPr/>
          <p:nvPr/>
        </p:nvGrpSpPr>
        <p:grpSpPr>
          <a:xfrm>
            <a:off x="718427" y="3271206"/>
            <a:ext cx="6600436" cy="2988898"/>
            <a:chOff x="0" y="0"/>
            <a:chExt cx="1738386" cy="787200"/>
          </a:xfrm>
        </p:grpSpPr>
        <p:sp>
          <p:nvSpPr>
            <p:cNvPr id="5" name="Freeform 5"/>
            <p:cNvSpPr/>
            <p:nvPr/>
          </p:nvSpPr>
          <p:spPr>
            <a:xfrm>
              <a:off x="0" y="0"/>
              <a:ext cx="1738386" cy="787200"/>
            </a:xfrm>
            <a:custGeom>
              <a:avLst/>
              <a:gdLst/>
              <a:ahLst/>
              <a:cxnLst/>
              <a:rect l="l" t="t" r="r" b="b"/>
              <a:pathLst>
                <a:path w="1738386" h="787200">
                  <a:moveTo>
                    <a:pt x="23459" y="0"/>
                  </a:moveTo>
                  <a:lnTo>
                    <a:pt x="1714927" y="0"/>
                  </a:lnTo>
                  <a:cubicBezTo>
                    <a:pt x="1721149" y="0"/>
                    <a:pt x="1727116" y="2472"/>
                    <a:pt x="1731515" y="6871"/>
                  </a:cubicBezTo>
                  <a:cubicBezTo>
                    <a:pt x="1735915" y="11270"/>
                    <a:pt x="1738386" y="17237"/>
                    <a:pt x="1738386" y="23459"/>
                  </a:cubicBezTo>
                  <a:lnTo>
                    <a:pt x="1738386" y="763741"/>
                  </a:lnTo>
                  <a:cubicBezTo>
                    <a:pt x="1738386" y="769962"/>
                    <a:pt x="1735915" y="775929"/>
                    <a:pt x="1731515" y="780329"/>
                  </a:cubicBezTo>
                  <a:cubicBezTo>
                    <a:pt x="1727116" y="784728"/>
                    <a:pt x="1721149" y="787200"/>
                    <a:pt x="1714927" y="787200"/>
                  </a:cubicBezTo>
                  <a:lnTo>
                    <a:pt x="23459" y="787200"/>
                  </a:lnTo>
                  <a:cubicBezTo>
                    <a:pt x="17237" y="787200"/>
                    <a:pt x="11270" y="784728"/>
                    <a:pt x="6871" y="780329"/>
                  </a:cubicBezTo>
                  <a:cubicBezTo>
                    <a:pt x="2472" y="775929"/>
                    <a:pt x="0" y="769962"/>
                    <a:pt x="0" y="763741"/>
                  </a:cubicBezTo>
                  <a:lnTo>
                    <a:pt x="0" y="23459"/>
                  </a:lnTo>
                  <a:cubicBezTo>
                    <a:pt x="0" y="17237"/>
                    <a:pt x="2472" y="11270"/>
                    <a:pt x="6871" y="6871"/>
                  </a:cubicBezTo>
                  <a:cubicBezTo>
                    <a:pt x="11270" y="2472"/>
                    <a:pt x="17237" y="0"/>
                    <a:pt x="23459" y="0"/>
                  </a:cubicBezTo>
                  <a:close/>
                </a:path>
              </a:pathLst>
            </a:custGeom>
            <a:solidFill>
              <a:srgbClr val="04001E"/>
            </a:solidFill>
            <a:ln w="38100" cap="sq">
              <a:solidFill>
                <a:srgbClr val="E5E1DA"/>
              </a:solidFill>
              <a:prstDash val="solid"/>
              <a:miter/>
            </a:ln>
          </p:spPr>
        </p:sp>
        <p:sp>
          <p:nvSpPr>
            <p:cNvPr id="6" name="TextBox 6"/>
            <p:cNvSpPr txBox="1"/>
            <p:nvPr/>
          </p:nvSpPr>
          <p:spPr>
            <a:xfrm>
              <a:off x="0" y="-38100"/>
              <a:ext cx="1738386" cy="8253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8010327" y="404262"/>
            <a:ext cx="6704168" cy="9517067"/>
            <a:chOff x="0" y="0"/>
            <a:chExt cx="2244276" cy="3185916"/>
          </a:xfrm>
        </p:grpSpPr>
        <p:sp>
          <p:nvSpPr>
            <p:cNvPr id="8" name="Freeform 8"/>
            <p:cNvSpPr/>
            <p:nvPr/>
          </p:nvSpPr>
          <p:spPr>
            <a:xfrm>
              <a:off x="0" y="0"/>
              <a:ext cx="2244276" cy="3185916"/>
            </a:xfrm>
            <a:custGeom>
              <a:avLst/>
              <a:gdLst/>
              <a:ahLst/>
              <a:cxnLst/>
              <a:rect l="l" t="t" r="r" b="b"/>
              <a:pathLst>
                <a:path w="2244276" h="3185916">
                  <a:moveTo>
                    <a:pt x="23096" y="0"/>
                  </a:moveTo>
                  <a:lnTo>
                    <a:pt x="2221180" y="0"/>
                  </a:lnTo>
                  <a:cubicBezTo>
                    <a:pt x="2233935" y="0"/>
                    <a:pt x="2244276" y="10340"/>
                    <a:pt x="2244276" y="23096"/>
                  </a:cubicBezTo>
                  <a:lnTo>
                    <a:pt x="2244276" y="3162821"/>
                  </a:lnTo>
                  <a:cubicBezTo>
                    <a:pt x="2244276" y="3168946"/>
                    <a:pt x="2241842" y="3174821"/>
                    <a:pt x="2237511" y="3179152"/>
                  </a:cubicBezTo>
                  <a:cubicBezTo>
                    <a:pt x="2233180" y="3183483"/>
                    <a:pt x="2227305" y="3185916"/>
                    <a:pt x="2221180" y="3185916"/>
                  </a:cubicBezTo>
                  <a:lnTo>
                    <a:pt x="23096" y="3185916"/>
                  </a:lnTo>
                  <a:cubicBezTo>
                    <a:pt x="10340" y="3185916"/>
                    <a:pt x="0" y="3175576"/>
                    <a:pt x="0" y="3162821"/>
                  </a:cubicBezTo>
                  <a:lnTo>
                    <a:pt x="0" y="23096"/>
                  </a:lnTo>
                  <a:cubicBezTo>
                    <a:pt x="0" y="10340"/>
                    <a:pt x="10340" y="0"/>
                    <a:pt x="23096" y="0"/>
                  </a:cubicBezTo>
                  <a:close/>
                </a:path>
              </a:pathLst>
            </a:custGeom>
            <a:solidFill>
              <a:srgbClr val="04001E"/>
            </a:solidFill>
            <a:ln w="38100" cap="sq">
              <a:solidFill>
                <a:srgbClr val="E5E1DA"/>
              </a:solidFill>
              <a:prstDash val="solid"/>
              <a:miter/>
            </a:ln>
          </p:spPr>
        </p:sp>
        <p:sp>
          <p:nvSpPr>
            <p:cNvPr id="9" name="TextBox 9"/>
            <p:cNvSpPr txBox="1"/>
            <p:nvPr/>
          </p:nvSpPr>
          <p:spPr>
            <a:xfrm>
              <a:off x="0" y="-38100"/>
              <a:ext cx="2244276" cy="3224016"/>
            </a:xfrm>
            <a:prstGeom prst="rect">
              <a:avLst/>
            </a:prstGeom>
          </p:spPr>
          <p:txBody>
            <a:bodyPr lIns="50800" tIns="50800" rIns="50800" bIns="50800" rtlCol="0" anchor="ctr"/>
            <a:lstStyle/>
            <a:p>
              <a:pPr marL="410209" lvl="1" indent="-205105" algn="ctr">
                <a:lnSpc>
                  <a:spcPts val="2659"/>
                </a:lnSpc>
                <a:buFont typeface="Arial"/>
                <a:buChar char="•"/>
              </a:pPr>
              <a:r>
                <a:rPr lang="en-US" sz="1899">
                  <a:solidFill>
                    <a:srgbClr val="000000"/>
                  </a:solidFill>
                  <a:latin typeface="Lato"/>
                  <a:ea typeface="Lato"/>
                  <a:cs typeface="Lato"/>
                  <a:sym typeface="Lato"/>
                </a:rPr>
                <a:t>fawf</a:t>
              </a:r>
            </a:p>
          </p:txBody>
        </p:sp>
      </p:grpSp>
      <p:sp>
        <p:nvSpPr>
          <p:cNvPr id="10" name="TextBox 10"/>
          <p:cNvSpPr txBox="1"/>
          <p:nvPr/>
        </p:nvSpPr>
        <p:spPr>
          <a:xfrm>
            <a:off x="657225" y="3783275"/>
            <a:ext cx="6201711" cy="2015121"/>
          </a:xfrm>
          <a:prstGeom prst="rect">
            <a:avLst/>
          </a:prstGeom>
        </p:spPr>
        <p:txBody>
          <a:bodyPr lIns="0" tIns="0" rIns="0" bIns="0" rtlCol="0" anchor="t">
            <a:spAutoFit/>
          </a:bodyPr>
          <a:lstStyle/>
          <a:p>
            <a:pPr algn="ctr">
              <a:lnSpc>
                <a:spcPts val="5238"/>
              </a:lnSpc>
            </a:pPr>
            <a:r>
              <a:rPr lang="en-US" sz="5400">
                <a:solidFill>
                  <a:srgbClr val="FFFFFF"/>
                </a:solidFill>
                <a:latin typeface="Archivo Black"/>
                <a:ea typeface="Archivo Black"/>
                <a:cs typeface="Archivo Black"/>
                <a:sym typeface="Archivo Black"/>
              </a:rPr>
              <a:t>Context</a:t>
            </a:r>
          </a:p>
          <a:p>
            <a:pPr algn="ctr">
              <a:lnSpc>
                <a:spcPts val="5238"/>
              </a:lnSpc>
            </a:pPr>
            <a:r>
              <a:rPr lang="en-US" sz="5400">
                <a:solidFill>
                  <a:srgbClr val="FFFFFF"/>
                </a:solidFill>
                <a:latin typeface="Archivo Black"/>
                <a:ea typeface="Archivo Black"/>
                <a:cs typeface="Archivo Black"/>
                <a:sym typeface="Archivo Black"/>
              </a:rPr>
              <a:t>Enrichment</a:t>
            </a:r>
          </a:p>
          <a:p>
            <a:pPr algn="ctr">
              <a:lnSpc>
                <a:spcPts val="5238"/>
              </a:lnSpc>
            </a:pPr>
            <a:r>
              <a:rPr lang="en-US" sz="5400">
                <a:solidFill>
                  <a:srgbClr val="FFFFFF"/>
                </a:solidFill>
                <a:latin typeface="Archivo Black"/>
                <a:ea typeface="Archivo Black"/>
                <a:cs typeface="Archivo Black"/>
                <a:sym typeface="Archivo Black"/>
              </a:rPr>
              <a:t>Strategy</a:t>
            </a:r>
          </a:p>
        </p:txBody>
      </p:sp>
      <p:sp>
        <p:nvSpPr>
          <p:cNvPr id="11" name="TextBox 11"/>
          <p:cNvSpPr txBox="1"/>
          <p:nvPr/>
        </p:nvSpPr>
        <p:spPr>
          <a:xfrm>
            <a:off x="8105577" y="1937050"/>
            <a:ext cx="6878323" cy="7722692"/>
          </a:xfrm>
          <a:prstGeom prst="rect">
            <a:avLst/>
          </a:prstGeom>
        </p:spPr>
        <p:txBody>
          <a:bodyPr lIns="0" tIns="0" rIns="0" bIns="0" rtlCol="0" anchor="t">
            <a:spAutoFit/>
          </a:bodyPr>
          <a:lstStyle/>
          <a:p>
            <a:pPr marL="759140" lvl="1" indent="-379570" algn="l">
              <a:lnSpc>
                <a:spcPts val="4746"/>
              </a:lnSpc>
              <a:buFont typeface="Arial"/>
              <a:buChar char="•"/>
            </a:pPr>
            <a:r>
              <a:rPr lang="en-US" sz="3516" spc="56">
                <a:solidFill>
                  <a:srgbClr val="FFFFFF"/>
                </a:solidFill>
                <a:latin typeface="Red Hat Display"/>
                <a:ea typeface="Red Hat Display"/>
                <a:cs typeface="Red Hat Display"/>
                <a:sym typeface="Red Hat Display"/>
              </a:rPr>
              <a:t> </a:t>
            </a:r>
            <a:r>
              <a:rPr lang="en-US" sz="3516" u="none" spc="56">
                <a:solidFill>
                  <a:srgbClr val="FFFFFF"/>
                </a:solidFill>
                <a:latin typeface="Red Hat Display"/>
                <a:ea typeface="Red Hat Display"/>
                <a:cs typeface="Red Hat Display"/>
                <a:sym typeface="Red Hat Display"/>
              </a:rPr>
              <a:t>Web Scraping for Context</a:t>
            </a:r>
          </a:p>
          <a:p>
            <a:pPr algn="l">
              <a:lnSpc>
                <a:spcPts val="4746"/>
              </a:lnSpc>
            </a:pPr>
            <a:endParaRPr lang="en-US" sz="3516" u="none" spc="56">
              <a:solidFill>
                <a:srgbClr val="FFFFFF"/>
              </a:solidFill>
              <a:latin typeface="Red Hat Display"/>
              <a:ea typeface="Red Hat Display"/>
              <a:cs typeface="Red Hat Display"/>
              <a:sym typeface="Red Hat Display"/>
            </a:endParaRPr>
          </a:p>
          <a:p>
            <a:pPr marL="759140" lvl="1" indent="-379570" algn="l">
              <a:lnSpc>
                <a:spcPts val="4746"/>
              </a:lnSpc>
              <a:buFont typeface="Arial"/>
              <a:buChar char="•"/>
            </a:pPr>
            <a:r>
              <a:rPr lang="en-US" sz="3516" u="none" spc="56">
                <a:solidFill>
                  <a:srgbClr val="FFFFFF"/>
                </a:solidFill>
                <a:latin typeface="Red Hat Display"/>
                <a:ea typeface="Red Hat Display"/>
                <a:cs typeface="Red Hat Display"/>
                <a:sym typeface="Red Hat Display"/>
              </a:rPr>
              <a:t> Semantic Chunking</a:t>
            </a:r>
          </a:p>
          <a:p>
            <a:pPr algn="l">
              <a:lnSpc>
                <a:spcPts val="4746"/>
              </a:lnSpc>
            </a:pPr>
            <a:endParaRPr lang="en-US" sz="3516" u="none" spc="56">
              <a:solidFill>
                <a:srgbClr val="FFFFFF"/>
              </a:solidFill>
              <a:latin typeface="Red Hat Display"/>
              <a:ea typeface="Red Hat Display"/>
              <a:cs typeface="Red Hat Display"/>
              <a:sym typeface="Red Hat Display"/>
            </a:endParaRPr>
          </a:p>
          <a:p>
            <a:pPr marL="759140" lvl="1" indent="-379570" algn="l">
              <a:lnSpc>
                <a:spcPts val="4746"/>
              </a:lnSpc>
              <a:buFont typeface="Arial"/>
              <a:buChar char="•"/>
            </a:pPr>
            <a:r>
              <a:rPr lang="en-US" sz="3516" u="none" spc="56">
                <a:solidFill>
                  <a:srgbClr val="FFFFFF"/>
                </a:solidFill>
                <a:latin typeface="Red Hat Display"/>
                <a:ea typeface="Red Hat Display"/>
                <a:cs typeface="Red Hat Display"/>
                <a:sym typeface="Red Hat Display"/>
              </a:rPr>
              <a:t>Context Enrichment</a:t>
            </a:r>
          </a:p>
          <a:p>
            <a:pPr algn="l">
              <a:lnSpc>
                <a:spcPts val="4746"/>
              </a:lnSpc>
            </a:pPr>
            <a:endParaRPr lang="en-US" sz="3516" u="none" spc="56">
              <a:solidFill>
                <a:srgbClr val="FFFFFF"/>
              </a:solidFill>
              <a:latin typeface="Red Hat Display"/>
              <a:ea typeface="Red Hat Display"/>
              <a:cs typeface="Red Hat Display"/>
              <a:sym typeface="Red Hat Display"/>
            </a:endParaRPr>
          </a:p>
          <a:p>
            <a:pPr marL="759140" lvl="1" indent="-379570" algn="l">
              <a:lnSpc>
                <a:spcPts val="4746"/>
              </a:lnSpc>
              <a:buFont typeface="Arial"/>
              <a:buChar char="•"/>
            </a:pPr>
            <a:r>
              <a:rPr lang="en-US" sz="3516" u="none" spc="56">
                <a:solidFill>
                  <a:srgbClr val="FFFFFF"/>
                </a:solidFill>
                <a:latin typeface="Red Hat Display"/>
                <a:ea typeface="Red Hat Display"/>
                <a:cs typeface="Red Hat Display"/>
                <a:sym typeface="Red Hat Display"/>
              </a:rPr>
              <a:t> Vector Embedding &amp; Storage</a:t>
            </a:r>
          </a:p>
          <a:p>
            <a:pPr algn="l">
              <a:lnSpc>
                <a:spcPts val="4746"/>
              </a:lnSpc>
            </a:pPr>
            <a:endParaRPr lang="en-US" sz="3516" u="none" spc="56">
              <a:solidFill>
                <a:srgbClr val="FFFFFF"/>
              </a:solidFill>
              <a:latin typeface="Red Hat Display"/>
              <a:ea typeface="Red Hat Display"/>
              <a:cs typeface="Red Hat Display"/>
              <a:sym typeface="Red Hat Display"/>
            </a:endParaRPr>
          </a:p>
          <a:p>
            <a:pPr marL="759140" lvl="1" indent="-379570" algn="l">
              <a:lnSpc>
                <a:spcPts val="4746"/>
              </a:lnSpc>
              <a:buFont typeface="Arial"/>
              <a:buChar char="•"/>
            </a:pPr>
            <a:r>
              <a:rPr lang="en-US" sz="3516" u="none" spc="56">
                <a:solidFill>
                  <a:srgbClr val="FFFFFF"/>
                </a:solidFill>
                <a:latin typeface="Red Hat Display"/>
                <a:ea typeface="Red Hat Display"/>
                <a:cs typeface="Red Hat Display"/>
                <a:sym typeface="Red Hat Display"/>
              </a:rPr>
              <a:t>Enhanced Retrieval</a:t>
            </a:r>
          </a:p>
          <a:p>
            <a:pPr algn="l">
              <a:lnSpc>
                <a:spcPts val="4746"/>
              </a:lnSpc>
            </a:pPr>
            <a:endParaRPr lang="en-US" sz="3516" u="none" spc="56">
              <a:solidFill>
                <a:srgbClr val="FFFFFF"/>
              </a:solidFill>
              <a:latin typeface="Red Hat Display"/>
              <a:ea typeface="Red Hat Display"/>
              <a:cs typeface="Red Hat Display"/>
              <a:sym typeface="Red Hat Display"/>
            </a:endParaRPr>
          </a:p>
          <a:p>
            <a:pPr algn="l">
              <a:lnSpc>
                <a:spcPts val="4746"/>
              </a:lnSpc>
            </a:pPr>
            <a:endParaRPr lang="en-US" sz="3516" u="none" spc="56">
              <a:solidFill>
                <a:srgbClr val="FFFFFF"/>
              </a:solidFill>
              <a:latin typeface="Red Hat Display"/>
              <a:ea typeface="Red Hat Display"/>
              <a:cs typeface="Red Hat Display"/>
              <a:sym typeface="Red Hat Display"/>
            </a:endParaRPr>
          </a:p>
          <a:p>
            <a:pPr algn="l">
              <a:lnSpc>
                <a:spcPts val="4746"/>
              </a:lnSpc>
            </a:pPr>
            <a:endParaRPr lang="en-US" sz="3516" u="none" spc="56">
              <a:solidFill>
                <a:srgbClr val="FFFFFF"/>
              </a:solidFill>
              <a:latin typeface="Red Hat Display"/>
              <a:ea typeface="Red Hat Display"/>
              <a:cs typeface="Red Hat Display"/>
              <a:sym typeface="Red Hat Display"/>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flipH="1">
            <a:off x="-7192264" y="322201"/>
            <a:ext cx="12221289" cy="8822969"/>
          </a:xfrm>
          <a:custGeom>
            <a:avLst/>
            <a:gdLst/>
            <a:ahLst/>
            <a:cxnLst/>
            <a:rect l="l" t="t" r="r" b="b"/>
            <a:pathLst>
              <a:path w="12221289" h="8822969">
                <a:moveTo>
                  <a:pt x="12221289" y="0"/>
                </a:moveTo>
                <a:lnTo>
                  <a:pt x="0" y="0"/>
                </a:lnTo>
                <a:lnTo>
                  <a:pt x="0" y="8822969"/>
                </a:lnTo>
                <a:lnTo>
                  <a:pt x="12221289" y="8822969"/>
                </a:lnTo>
                <a:lnTo>
                  <a:pt x="12221289" y="0"/>
                </a:lnTo>
                <a:close/>
              </a:path>
            </a:pathLst>
          </a:custGeom>
          <a:blipFill>
            <a:blip r:embed="rId3"/>
            <a:stretch>
              <a:fillRect/>
            </a:stretch>
          </a:blipFill>
        </p:spPr>
      </p:sp>
      <p:grpSp>
        <p:nvGrpSpPr>
          <p:cNvPr id="4" name="Group 4"/>
          <p:cNvGrpSpPr/>
          <p:nvPr/>
        </p:nvGrpSpPr>
        <p:grpSpPr>
          <a:xfrm>
            <a:off x="718427" y="3271206"/>
            <a:ext cx="6600436" cy="2988898"/>
            <a:chOff x="0" y="0"/>
            <a:chExt cx="1738386" cy="787200"/>
          </a:xfrm>
        </p:grpSpPr>
        <p:sp>
          <p:nvSpPr>
            <p:cNvPr id="5" name="Freeform 5"/>
            <p:cNvSpPr/>
            <p:nvPr/>
          </p:nvSpPr>
          <p:spPr>
            <a:xfrm>
              <a:off x="0" y="0"/>
              <a:ext cx="1738386" cy="787200"/>
            </a:xfrm>
            <a:custGeom>
              <a:avLst/>
              <a:gdLst/>
              <a:ahLst/>
              <a:cxnLst/>
              <a:rect l="l" t="t" r="r" b="b"/>
              <a:pathLst>
                <a:path w="1738386" h="787200">
                  <a:moveTo>
                    <a:pt x="23459" y="0"/>
                  </a:moveTo>
                  <a:lnTo>
                    <a:pt x="1714927" y="0"/>
                  </a:lnTo>
                  <a:cubicBezTo>
                    <a:pt x="1721149" y="0"/>
                    <a:pt x="1727116" y="2472"/>
                    <a:pt x="1731515" y="6871"/>
                  </a:cubicBezTo>
                  <a:cubicBezTo>
                    <a:pt x="1735915" y="11270"/>
                    <a:pt x="1738386" y="17237"/>
                    <a:pt x="1738386" y="23459"/>
                  </a:cubicBezTo>
                  <a:lnTo>
                    <a:pt x="1738386" y="763741"/>
                  </a:lnTo>
                  <a:cubicBezTo>
                    <a:pt x="1738386" y="769962"/>
                    <a:pt x="1735915" y="775929"/>
                    <a:pt x="1731515" y="780329"/>
                  </a:cubicBezTo>
                  <a:cubicBezTo>
                    <a:pt x="1727116" y="784728"/>
                    <a:pt x="1721149" y="787200"/>
                    <a:pt x="1714927" y="787200"/>
                  </a:cubicBezTo>
                  <a:lnTo>
                    <a:pt x="23459" y="787200"/>
                  </a:lnTo>
                  <a:cubicBezTo>
                    <a:pt x="17237" y="787200"/>
                    <a:pt x="11270" y="784728"/>
                    <a:pt x="6871" y="780329"/>
                  </a:cubicBezTo>
                  <a:cubicBezTo>
                    <a:pt x="2472" y="775929"/>
                    <a:pt x="0" y="769962"/>
                    <a:pt x="0" y="763741"/>
                  </a:cubicBezTo>
                  <a:lnTo>
                    <a:pt x="0" y="23459"/>
                  </a:lnTo>
                  <a:cubicBezTo>
                    <a:pt x="0" y="17237"/>
                    <a:pt x="2472" y="11270"/>
                    <a:pt x="6871" y="6871"/>
                  </a:cubicBezTo>
                  <a:cubicBezTo>
                    <a:pt x="11270" y="2472"/>
                    <a:pt x="17237" y="0"/>
                    <a:pt x="23459" y="0"/>
                  </a:cubicBezTo>
                  <a:close/>
                </a:path>
              </a:pathLst>
            </a:custGeom>
            <a:solidFill>
              <a:srgbClr val="04001E"/>
            </a:solidFill>
            <a:ln w="38100" cap="sq">
              <a:solidFill>
                <a:srgbClr val="E5E1DA"/>
              </a:solidFill>
              <a:prstDash val="solid"/>
              <a:miter/>
            </a:ln>
          </p:spPr>
        </p:sp>
        <p:sp>
          <p:nvSpPr>
            <p:cNvPr id="6" name="TextBox 6"/>
            <p:cNvSpPr txBox="1"/>
            <p:nvPr/>
          </p:nvSpPr>
          <p:spPr>
            <a:xfrm>
              <a:off x="0" y="-38100"/>
              <a:ext cx="1738386" cy="8253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8010327" y="404262"/>
            <a:ext cx="6704168" cy="9517067"/>
            <a:chOff x="0" y="0"/>
            <a:chExt cx="2244276" cy="3185916"/>
          </a:xfrm>
        </p:grpSpPr>
        <p:sp>
          <p:nvSpPr>
            <p:cNvPr id="8" name="Freeform 8"/>
            <p:cNvSpPr/>
            <p:nvPr/>
          </p:nvSpPr>
          <p:spPr>
            <a:xfrm>
              <a:off x="0" y="0"/>
              <a:ext cx="2244276" cy="3185916"/>
            </a:xfrm>
            <a:custGeom>
              <a:avLst/>
              <a:gdLst/>
              <a:ahLst/>
              <a:cxnLst/>
              <a:rect l="l" t="t" r="r" b="b"/>
              <a:pathLst>
                <a:path w="2244276" h="3185916">
                  <a:moveTo>
                    <a:pt x="23096" y="0"/>
                  </a:moveTo>
                  <a:lnTo>
                    <a:pt x="2221180" y="0"/>
                  </a:lnTo>
                  <a:cubicBezTo>
                    <a:pt x="2233935" y="0"/>
                    <a:pt x="2244276" y="10340"/>
                    <a:pt x="2244276" y="23096"/>
                  </a:cubicBezTo>
                  <a:lnTo>
                    <a:pt x="2244276" y="3162821"/>
                  </a:lnTo>
                  <a:cubicBezTo>
                    <a:pt x="2244276" y="3168946"/>
                    <a:pt x="2241842" y="3174821"/>
                    <a:pt x="2237511" y="3179152"/>
                  </a:cubicBezTo>
                  <a:cubicBezTo>
                    <a:pt x="2233180" y="3183483"/>
                    <a:pt x="2227305" y="3185916"/>
                    <a:pt x="2221180" y="3185916"/>
                  </a:cubicBezTo>
                  <a:lnTo>
                    <a:pt x="23096" y="3185916"/>
                  </a:lnTo>
                  <a:cubicBezTo>
                    <a:pt x="10340" y="3185916"/>
                    <a:pt x="0" y="3175576"/>
                    <a:pt x="0" y="3162821"/>
                  </a:cubicBezTo>
                  <a:lnTo>
                    <a:pt x="0" y="23096"/>
                  </a:lnTo>
                  <a:cubicBezTo>
                    <a:pt x="0" y="10340"/>
                    <a:pt x="10340" y="0"/>
                    <a:pt x="23096" y="0"/>
                  </a:cubicBezTo>
                  <a:close/>
                </a:path>
              </a:pathLst>
            </a:custGeom>
            <a:solidFill>
              <a:srgbClr val="04001E"/>
            </a:solidFill>
            <a:ln w="38100" cap="sq">
              <a:solidFill>
                <a:srgbClr val="E5E1DA"/>
              </a:solidFill>
              <a:prstDash val="solid"/>
              <a:miter/>
            </a:ln>
          </p:spPr>
        </p:sp>
        <p:sp>
          <p:nvSpPr>
            <p:cNvPr id="9" name="TextBox 9"/>
            <p:cNvSpPr txBox="1"/>
            <p:nvPr/>
          </p:nvSpPr>
          <p:spPr>
            <a:xfrm>
              <a:off x="0" y="-38100"/>
              <a:ext cx="2244276" cy="3224016"/>
            </a:xfrm>
            <a:prstGeom prst="rect">
              <a:avLst/>
            </a:prstGeom>
          </p:spPr>
          <p:txBody>
            <a:bodyPr lIns="50800" tIns="50800" rIns="50800" bIns="50800" rtlCol="0" anchor="ctr"/>
            <a:lstStyle/>
            <a:p>
              <a:pPr marL="410209" lvl="1" indent="-205105" algn="ctr">
                <a:lnSpc>
                  <a:spcPts val="2659"/>
                </a:lnSpc>
                <a:buFont typeface="Arial"/>
                <a:buChar char="•"/>
              </a:pPr>
              <a:r>
                <a:rPr lang="en-US" sz="1899">
                  <a:solidFill>
                    <a:srgbClr val="000000"/>
                  </a:solidFill>
                  <a:latin typeface="Lato"/>
                  <a:ea typeface="Lato"/>
                  <a:cs typeface="Lato"/>
                  <a:sym typeface="Lato"/>
                </a:rPr>
                <a:t>fawf</a:t>
              </a:r>
            </a:p>
          </p:txBody>
        </p:sp>
      </p:grpSp>
      <p:sp>
        <p:nvSpPr>
          <p:cNvPr id="10" name="Freeform 10"/>
          <p:cNvSpPr/>
          <p:nvPr/>
        </p:nvSpPr>
        <p:spPr>
          <a:xfrm>
            <a:off x="8010327" y="365671"/>
            <a:ext cx="6704168" cy="9555658"/>
          </a:xfrm>
          <a:custGeom>
            <a:avLst/>
            <a:gdLst/>
            <a:ahLst/>
            <a:cxnLst/>
            <a:rect l="l" t="t" r="r" b="b"/>
            <a:pathLst>
              <a:path w="6704168" h="9555658">
                <a:moveTo>
                  <a:pt x="0" y="0"/>
                </a:moveTo>
                <a:lnTo>
                  <a:pt x="6704168" y="0"/>
                </a:lnTo>
                <a:lnTo>
                  <a:pt x="6704168" y="9555658"/>
                </a:lnTo>
                <a:lnTo>
                  <a:pt x="0" y="9555658"/>
                </a:lnTo>
                <a:lnTo>
                  <a:pt x="0" y="0"/>
                </a:lnTo>
                <a:close/>
              </a:path>
            </a:pathLst>
          </a:custGeom>
          <a:blipFill>
            <a:blip r:embed="rId4"/>
            <a:stretch>
              <a:fillRect/>
            </a:stretch>
          </a:blipFill>
        </p:spPr>
      </p:sp>
      <p:sp>
        <p:nvSpPr>
          <p:cNvPr id="11" name="TextBox 11"/>
          <p:cNvSpPr txBox="1"/>
          <p:nvPr/>
        </p:nvSpPr>
        <p:spPr>
          <a:xfrm>
            <a:off x="657225" y="3783275"/>
            <a:ext cx="6201711" cy="2015121"/>
          </a:xfrm>
          <a:prstGeom prst="rect">
            <a:avLst/>
          </a:prstGeom>
        </p:spPr>
        <p:txBody>
          <a:bodyPr lIns="0" tIns="0" rIns="0" bIns="0" rtlCol="0" anchor="t">
            <a:spAutoFit/>
          </a:bodyPr>
          <a:lstStyle/>
          <a:p>
            <a:pPr algn="ctr">
              <a:lnSpc>
                <a:spcPts val="5238"/>
              </a:lnSpc>
            </a:pPr>
            <a:r>
              <a:rPr lang="en-US" sz="5400">
                <a:solidFill>
                  <a:srgbClr val="FFFFFF"/>
                </a:solidFill>
                <a:latin typeface="Archivo Black"/>
                <a:ea typeface="Archivo Black"/>
                <a:cs typeface="Archivo Black"/>
                <a:sym typeface="Archivo Black"/>
              </a:rPr>
              <a:t>Context</a:t>
            </a:r>
          </a:p>
          <a:p>
            <a:pPr algn="ctr">
              <a:lnSpc>
                <a:spcPts val="5238"/>
              </a:lnSpc>
            </a:pPr>
            <a:r>
              <a:rPr lang="en-US" sz="5400">
                <a:solidFill>
                  <a:srgbClr val="FFFFFF"/>
                </a:solidFill>
                <a:latin typeface="Archivo Black"/>
                <a:ea typeface="Archivo Black"/>
                <a:cs typeface="Archivo Black"/>
                <a:sym typeface="Archivo Black"/>
              </a:rPr>
              <a:t>enrichment</a:t>
            </a:r>
          </a:p>
          <a:p>
            <a:pPr algn="ctr">
              <a:lnSpc>
                <a:spcPts val="5238"/>
              </a:lnSpc>
            </a:pPr>
            <a:r>
              <a:rPr lang="en-US" sz="5400">
                <a:solidFill>
                  <a:srgbClr val="FFFFFF"/>
                </a:solidFill>
                <a:latin typeface="Archivo Black"/>
                <a:ea typeface="Archivo Black"/>
                <a:cs typeface="Archivo Black"/>
                <a:sym typeface="Archivo Black"/>
              </a:rPr>
              <a:t>strategy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1028700" y="2058291"/>
            <a:ext cx="16630429" cy="7314309"/>
          </a:xfrm>
          <a:custGeom>
            <a:avLst/>
            <a:gdLst/>
            <a:ahLst/>
            <a:cxnLst/>
            <a:rect l="l" t="t" r="r" b="b"/>
            <a:pathLst>
              <a:path w="16630429" h="7314309">
                <a:moveTo>
                  <a:pt x="0" y="0"/>
                </a:moveTo>
                <a:lnTo>
                  <a:pt x="16630429" y="0"/>
                </a:lnTo>
                <a:lnTo>
                  <a:pt x="16630429" y="7314309"/>
                </a:lnTo>
                <a:lnTo>
                  <a:pt x="0" y="7314309"/>
                </a:lnTo>
                <a:lnTo>
                  <a:pt x="0" y="0"/>
                </a:lnTo>
                <a:close/>
              </a:path>
            </a:pathLst>
          </a:custGeom>
          <a:blipFill>
            <a:blip r:embed="rId3"/>
            <a:stretch>
              <a:fillRect/>
            </a:stretch>
          </a:blipFill>
        </p:spPr>
      </p:sp>
      <p:sp>
        <p:nvSpPr>
          <p:cNvPr id="4" name="TextBox 4"/>
          <p:cNvSpPr txBox="1"/>
          <p:nvPr/>
        </p:nvSpPr>
        <p:spPr>
          <a:xfrm>
            <a:off x="2561887" y="609600"/>
            <a:ext cx="12783226" cy="1177290"/>
          </a:xfrm>
          <a:prstGeom prst="rect">
            <a:avLst/>
          </a:prstGeom>
        </p:spPr>
        <p:txBody>
          <a:bodyPr lIns="0" tIns="0" rIns="0" bIns="0" rtlCol="0" anchor="t">
            <a:spAutoFit/>
          </a:bodyPr>
          <a:lstStyle/>
          <a:p>
            <a:pPr marL="0" lvl="1" indent="0" algn="ctr">
              <a:lnSpc>
                <a:spcPts val="8730"/>
              </a:lnSpc>
              <a:spcBef>
                <a:spcPct val="0"/>
              </a:spcBef>
            </a:pPr>
            <a:r>
              <a:rPr lang="en-US" sz="9000">
                <a:solidFill>
                  <a:srgbClr val="FFFFFF"/>
                </a:solidFill>
                <a:latin typeface="Archivo Black"/>
                <a:ea typeface="Archivo Black"/>
                <a:cs typeface="Archivo Black"/>
                <a:sym typeface="Archivo Black"/>
              </a:rPr>
              <a:t>Overall Workflow</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flipH="1">
            <a:off x="-7192264" y="322201"/>
            <a:ext cx="12221289" cy="8822969"/>
          </a:xfrm>
          <a:custGeom>
            <a:avLst/>
            <a:gdLst/>
            <a:ahLst/>
            <a:cxnLst/>
            <a:rect l="l" t="t" r="r" b="b"/>
            <a:pathLst>
              <a:path w="12221289" h="8822969">
                <a:moveTo>
                  <a:pt x="12221289" y="0"/>
                </a:moveTo>
                <a:lnTo>
                  <a:pt x="0" y="0"/>
                </a:lnTo>
                <a:lnTo>
                  <a:pt x="0" y="8822969"/>
                </a:lnTo>
                <a:lnTo>
                  <a:pt x="12221289" y="8822969"/>
                </a:lnTo>
                <a:lnTo>
                  <a:pt x="12221289" y="0"/>
                </a:lnTo>
                <a:close/>
              </a:path>
            </a:pathLst>
          </a:custGeom>
          <a:blipFill>
            <a:blip r:embed="rId3"/>
            <a:stretch>
              <a:fillRect/>
            </a:stretch>
          </a:blipFill>
        </p:spPr>
      </p:sp>
      <p:grpSp>
        <p:nvGrpSpPr>
          <p:cNvPr id="4" name="Group 4"/>
          <p:cNvGrpSpPr/>
          <p:nvPr/>
        </p:nvGrpSpPr>
        <p:grpSpPr>
          <a:xfrm>
            <a:off x="718427" y="3271206"/>
            <a:ext cx="6600436" cy="2988898"/>
            <a:chOff x="0" y="0"/>
            <a:chExt cx="1738386" cy="787200"/>
          </a:xfrm>
        </p:grpSpPr>
        <p:sp>
          <p:nvSpPr>
            <p:cNvPr id="5" name="Freeform 5"/>
            <p:cNvSpPr/>
            <p:nvPr/>
          </p:nvSpPr>
          <p:spPr>
            <a:xfrm>
              <a:off x="0" y="0"/>
              <a:ext cx="1738386" cy="787200"/>
            </a:xfrm>
            <a:custGeom>
              <a:avLst/>
              <a:gdLst/>
              <a:ahLst/>
              <a:cxnLst/>
              <a:rect l="l" t="t" r="r" b="b"/>
              <a:pathLst>
                <a:path w="1738386" h="787200">
                  <a:moveTo>
                    <a:pt x="23459" y="0"/>
                  </a:moveTo>
                  <a:lnTo>
                    <a:pt x="1714927" y="0"/>
                  </a:lnTo>
                  <a:cubicBezTo>
                    <a:pt x="1721149" y="0"/>
                    <a:pt x="1727116" y="2472"/>
                    <a:pt x="1731515" y="6871"/>
                  </a:cubicBezTo>
                  <a:cubicBezTo>
                    <a:pt x="1735915" y="11270"/>
                    <a:pt x="1738386" y="17237"/>
                    <a:pt x="1738386" y="23459"/>
                  </a:cubicBezTo>
                  <a:lnTo>
                    <a:pt x="1738386" y="763741"/>
                  </a:lnTo>
                  <a:cubicBezTo>
                    <a:pt x="1738386" y="769962"/>
                    <a:pt x="1735915" y="775929"/>
                    <a:pt x="1731515" y="780329"/>
                  </a:cubicBezTo>
                  <a:cubicBezTo>
                    <a:pt x="1727116" y="784728"/>
                    <a:pt x="1721149" y="787200"/>
                    <a:pt x="1714927" y="787200"/>
                  </a:cubicBezTo>
                  <a:lnTo>
                    <a:pt x="23459" y="787200"/>
                  </a:lnTo>
                  <a:cubicBezTo>
                    <a:pt x="17237" y="787200"/>
                    <a:pt x="11270" y="784728"/>
                    <a:pt x="6871" y="780329"/>
                  </a:cubicBezTo>
                  <a:cubicBezTo>
                    <a:pt x="2472" y="775929"/>
                    <a:pt x="0" y="769962"/>
                    <a:pt x="0" y="763741"/>
                  </a:cubicBezTo>
                  <a:lnTo>
                    <a:pt x="0" y="23459"/>
                  </a:lnTo>
                  <a:cubicBezTo>
                    <a:pt x="0" y="17237"/>
                    <a:pt x="2472" y="11270"/>
                    <a:pt x="6871" y="6871"/>
                  </a:cubicBezTo>
                  <a:cubicBezTo>
                    <a:pt x="11270" y="2472"/>
                    <a:pt x="17237" y="0"/>
                    <a:pt x="23459" y="0"/>
                  </a:cubicBezTo>
                  <a:close/>
                </a:path>
              </a:pathLst>
            </a:custGeom>
            <a:solidFill>
              <a:srgbClr val="04001E"/>
            </a:solidFill>
            <a:ln w="38100" cap="sq">
              <a:solidFill>
                <a:srgbClr val="E5E1DA"/>
              </a:solidFill>
              <a:prstDash val="solid"/>
              <a:miter/>
            </a:ln>
          </p:spPr>
        </p:sp>
        <p:sp>
          <p:nvSpPr>
            <p:cNvPr id="6" name="TextBox 6"/>
            <p:cNvSpPr txBox="1"/>
            <p:nvPr/>
          </p:nvSpPr>
          <p:spPr>
            <a:xfrm>
              <a:off x="0" y="-38100"/>
              <a:ext cx="1738386" cy="825300"/>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7561902" y="2542952"/>
            <a:ext cx="10289519" cy="6005357"/>
          </a:xfrm>
          <a:custGeom>
            <a:avLst/>
            <a:gdLst/>
            <a:ahLst/>
            <a:cxnLst/>
            <a:rect l="l" t="t" r="r" b="b"/>
            <a:pathLst>
              <a:path w="10289519" h="6005357">
                <a:moveTo>
                  <a:pt x="0" y="0"/>
                </a:moveTo>
                <a:lnTo>
                  <a:pt x="10289520" y="0"/>
                </a:lnTo>
                <a:lnTo>
                  <a:pt x="10289520" y="6005357"/>
                </a:lnTo>
                <a:lnTo>
                  <a:pt x="0" y="6005357"/>
                </a:lnTo>
                <a:lnTo>
                  <a:pt x="0" y="0"/>
                </a:lnTo>
                <a:close/>
              </a:path>
            </a:pathLst>
          </a:custGeom>
          <a:blipFill>
            <a:blip r:embed="rId4"/>
            <a:stretch>
              <a:fillRect l="-56497" t="-44731" r="-4625" b="-10556"/>
            </a:stretch>
          </a:blipFill>
        </p:spPr>
      </p:sp>
      <p:sp>
        <p:nvSpPr>
          <p:cNvPr id="8" name="TextBox 8"/>
          <p:cNvSpPr txBox="1"/>
          <p:nvPr/>
        </p:nvSpPr>
        <p:spPr>
          <a:xfrm>
            <a:off x="657225" y="4111887"/>
            <a:ext cx="6201711" cy="1357896"/>
          </a:xfrm>
          <a:prstGeom prst="rect">
            <a:avLst/>
          </a:prstGeom>
        </p:spPr>
        <p:txBody>
          <a:bodyPr lIns="0" tIns="0" rIns="0" bIns="0" rtlCol="0" anchor="t">
            <a:spAutoFit/>
          </a:bodyPr>
          <a:lstStyle/>
          <a:p>
            <a:pPr algn="ctr">
              <a:lnSpc>
                <a:spcPts val="5238"/>
              </a:lnSpc>
            </a:pPr>
            <a:r>
              <a:rPr lang="en-US" sz="5400">
                <a:solidFill>
                  <a:srgbClr val="FFFFFF"/>
                </a:solidFill>
                <a:latin typeface="Archivo Black"/>
                <a:ea typeface="Archivo Black"/>
                <a:cs typeface="Archivo Black"/>
                <a:sym typeface="Archivo Black"/>
              </a:rPr>
              <a:t>Sentiment Analysis</a:t>
            </a:r>
          </a:p>
        </p:txBody>
      </p:sp>
      <p:sp>
        <p:nvSpPr>
          <p:cNvPr id="9" name="Freeform 9"/>
          <p:cNvSpPr/>
          <p:nvPr/>
        </p:nvSpPr>
        <p:spPr>
          <a:xfrm>
            <a:off x="7580482" y="1772134"/>
            <a:ext cx="10270940" cy="780344"/>
          </a:xfrm>
          <a:custGeom>
            <a:avLst/>
            <a:gdLst/>
            <a:ahLst/>
            <a:cxnLst/>
            <a:rect l="l" t="t" r="r" b="b"/>
            <a:pathLst>
              <a:path w="10270940" h="780344">
                <a:moveTo>
                  <a:pt x="0" y="0"/>
                </a:moveTo>
                <a:lnTo>
                  <a:pt x="10270940" y="0"/>
                </a:lnTo>
                <a:lnTo>
                  <a:pt x="10270940" y="780343"/>
                </a:lnTo>
                <a:lnTo>
                  <a:pt x="0" y="780343"/>
                </a:lnTo>
                <a:lnTo>
                  <a:pt x="0" y="0"/>
                </a:lnTo>
                <a:close/>
              </a:path>
            </a:pathLst>
          </a:custGeom>
          <a:blipFill>
            <a:blip r:embed="rId4"/>
            <a:stretch>
              <a:fillRect l="-56961" t="-20434" r="-4453" b="-1074629"/>
            </a:stretch>
          </a:blipFill>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flipH="1">
            <a:off x="9456655" y="6667261"/>
            <a:ext cx="12221289" cy="8822969"/>
          </a:xfrm>
          <a:custGeom>
            <a:avLst/>
            <a:gdLst/>
            <a:ahLst/>
            <a:cxnLst/>
            <a:rect l="l" t="t" r="r" b="b"/>
            <a:pathLst>
              <a:path w="12221289" h="8822969">
                <a:moveTo>
                  <a:pt x="12221289" y="0"/>
                </a:moveTo>
                <a:lnTo>
                  <a:pt x="0" y="0"/>
                </a:lnTo>
                <a:lnTo>
                  <a:pt x="0" y="8822969"/>
                </a:lnTo>
                <a:lnTo>
                  <a:pt x="12221289" y="8822969"/>
                </a:lnTo>
                <a:lnTo>
                  <a:pt x="12221289" y="0"/>
                </a:lnTo>
                <a:close/>
              </a:path>
            </a:pathLst>
          </a:custGeom>
          <a:blipFill>
            <a:blip r:embed="rId3"/>
            <a:stretch>
              <a:fillRect/>
            </a:stretch>
          </a:blipFill>
        </p:spPr>
      </p:sp>
      <p:sp>
        <p:nvSpPr>
          <p:cNvPr id="4" name="Freeform 4"/>
          <p:cNvSpPr/>
          <p:nvPr/>
        </p:nvSpPr>
        <p:spPr>
          <a:xfrm>
            <a:off x="-2207810" y="-3420776"/>
            <a:ext cx="6799707" cy="8229600"/>
          </a:xfrm>
          <a:custGeom>
            <a:avLst/>
            <a:gdLst/>
            <a:ahLst/>
            <a:cxnLst/>
            <a:rect l="l" t="t" r="r" b="b"/>
            <a:pathLst>
              <a:path w="6799707" h="8229600">
                <a:moveTo>
                  <a:pt x="0" y="0"/>
                </a:moveTo>
                <a:lnTo>
                  <a:pt x="6799707" y="0"/>
                </a:lnTo>
                <a:lnTo>
                  <a:pt x="6799707" y="8229600"/>
                </a:lnTo>
                <a:lnTo>
                  <a:pt x="0" y="8229600"/>
                </a:lnTo>
                <a:lnTo>
                  <a:pt x="0" y="0"/>
                </a:lnTo>
                <a:close/>
              </a:path>
            </a:pathLst>
          </a:custGeom>
          <a:blipFill>
            <a:blip r:embed="rId4"/>
            <a:stretch>
              <a:fillRect/>
            </a:stretch>
          </a:blipFill>
        </p:spPr>
      </p:sp>
      <p:grpSp>
        <p:nvGrpSpPr>
          <p:cNvPr id="5" name="Group 5"/>
          <p:cNvGrpSpPr/>
          <p:nvPr/>
        </p:nvGrpSpPr>
        <p:grpSpPr>
          <a:xfrm>
            <a:off x="11672061" y="6595378"/>
            <a:ext cx="5587239" cy="2662922"/>
            <a:chOff x="0" y="0"/>
            <a:chExt cx="2065940" cy="984643"/>
          </a:xfrm>
        </p:grpSpPr>
        <p:sp>
          <p:nvSpPr>
            <p:cNvPr id="6" name="Freeform 6"/>
            <p:cNvSpPr/>
            <p:nvPr/>
          </p:nvSpPr>
          <p:spPr>
            <a:xfrm>
              <a:off x="0" y="0"/>
              <a:ext cx="2065940" cy="984643"/>
            </a:xfrm>
            <a:custGeom>
              <a:avLst/>
              <a:gdLst/>
              <a:ahLst/>
              <a:cxnLst/>
              <a:rect l="l" t="t" r="r" b="b"/>
              <a:pathLst>
                <a:path w="2065940" h="984643">
                  <a:moveTo>
                    <a:pt x="27713" y="0"/>
                  </a:moveTo>
                  <a:lnTo>
                    <a:pt x="2038228" y="0"/>
                  </a:lnTo>
                  <a:cubicBezTo>
                    <a:pt x="2053533" y="0"/>
                    <a:pt x="2065940" y="12407"/>
                    <a:pt x="2065940" y="27713"/>
                  </a:cubicBezTo>
                  <a:lnTo>
                    <a:pt x="2065940" y="956931"/>
                  </a:lnTo>
                  <a:cubicBezTo>
                    <a:pt x="2065940" y="964280"/>
                    <a:pt x="2063021" y="971329"/>
                    <a:pt x="2057823" y="976527"/>
                  </a:cubicBezTo>
                  <a:cubicBezTo>
                    <a:pt x="2052626" y="981724"/>
                    <a:pt x="2045577" y="984643"/>
                    <a:pt x="2038228" y="984643"/>
                  </a:cubicBezTo>
                  <a:lnTo>
                    <a:pt x="27713" y="984643"/>
                  </a:lnTo>
                  <a:cubicBezTo>
                    <a:pt x="20363" y="984643"/>
                    <a:pt x="13314" y="981724"/>
                    <a:pt x="8117" y="976527"/>
                  </a:cubicBezTo>
                  <a:cubicBezTo>
                    <a:pt x="2920" y="971329"/>
                    <a:pt x="0" y="964280"/>
                    <a:pt x="0" y="956931"/>
                  </a:cubicBezTo>
                  <a:lnTo>
                    <a:pt x="0" y="27713"/>
                  </a:lnTo>
                  <a:cubicBezTo>
                    <a:pt x="0" y="12407"/>
                    <a:pt x="12407" y="0"/>
                    <a:pt x="27713" y="0"/>
                  </a:cubicBezTo>
                  <a:close/>
                </a:path>
              </a:pathLst>
            </a:custGeom>
            <a:solidFill>
              <a:srgbClr val="04001E"/>
            </a:solidFill>
            <a:ln w="38100" cap="sq">
              <a:solidFill>
                <a:srgbClr val="E5E1DA"/>
              </a:solidFill>
              <a:prstDash val="solid"/>
              <a:miter/>
            </a:ln>
          </p:spPr>
        </p:sp>
        <p:sp>
          <p:nvSpPr>
            <p:cNvPr id="7" name="TextBox 7"/>
            <p:cNvSpPr txBox="1"/>
            <p:nvPr/>
          </p:nvSpPr>
          <p:spPr>
            <a:xfrm>
              <a:off x="0" y="-38100"/>
              <a:ext cx="2065940" cy="102274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8" name="Freeform 8"/>
          <p:cNvSpPr/>
          <p:nvPr/>
        </p:nvSpPr>
        <p:spPr>
          <a:xfrm>
            <a:off x="2042687" y="1028700"/>
            <a:ext cx="6207193" cy="6035037"/>
          </a:xfrm>
          <a:custGeom>
            <a:avLst/>
            <a:gdLst/>
            <a:ahLst/>
            <a:cxnLst/>
            <a:rect l="l" t="t" r="r" b="b"/>
            <a:pathLst>
              <a:path w="6207193" h="6035037">
                <a:moveTo>
                  <a:pt x="0" y="0"/>
                </a:moveTo>
                <a:lnTo>
                  <a:pt x="6207194" y="0"/>
                </a:lnTo>
                <a:lnTo>
                  <a:pt x="6207194" y="6035037"/>
                </a:lnTo>
                <a:lnTo>
                  <a:pt x="0" y="6035037"/>
                </a:lnTo>
                <a:lnTo>
                  <a:pt x="0" y="0"/>
                </a:lnTo>
                <a:close/>
              </a:path>
            </a:pathLst>
          </a:custGeom>
          <a:blipFill>
            <a:blip r:embed="rId5"/>
            <a:stretch>
              <a:fillRect/>
            </a:stretch>
          </a:blipFill>
        </p:spPr>
      </p:sp>
      <p:sp>
        <p:nvSpPr>
          <p:cNvPr id="9" name="TextBox 9"/>
          <p:cNvSpPr txBox="1"/>
          <p:nvPr/>
        </p:nvSpPr>
        <p:spPr>
          <a:xfrm>
            <a:off x="11824829" y="6750062"/>
            <a:ext cx="5314398" cy="3047175"/>
          </a:xfrm>
          <a:prstGeom prst="rect">
            <a:avLst/>
          </a:prstGeom>
        </p:spPr>
        <p:txBody>
          <a:bodyPr lIns="0" tIns="0" rIns="0" bIns="0" rtlCol="0" anchor="t">
            <a:spAutoFit/>
          </a:bodyPr>
          <a:lstStyle/>
          <a:p>
            <a:pPr marL="0" lvl="0" indent="0" algn="ctr">
              <a:lnSpc>
                <a:spcPts val="3501"/>
              </a:lnSpc>
              <a:spcBef>
                <a:spcPct val="0"/>
              </a:spcBef>
            </a:pPr>
            <a:r>
              <a:rPr lang="en-US" sz="2349" b="1">
                <a:solidFill>
                  <a:srgbClr val="FFFFFF"/>
                </a:solidFill>
                <a:latin typeface="Red Hat Display Bold"/>
                <a:ea typeface="Red Hat Display Bold"/>
                <a:cs typeface="Red Hat Display Bold"/>
                <a:sym typeface="Red Hat Display Bold"/>
              </a:rPr>
              <a:t>A</a:t>
            </a:r>
            <a:r>
              <a:rPr lang="en-US" sz="2349" b="1" u="none" strike="noStrike">
                <a:solidFill>
                  <a:srgbClr val="FFFFFF"/>
                </a:solidFill>
                <a:latin typeface="Red Hat Display Bold"/>
                <a:ea typeface="Red Hat Display Bold"/>
                <a:cs typeface="Red Hat Display Bold"/>
                <a:sym typeface="Red Hat Display Bold"/>
              </a:rPr>
              <a:t>synchronous n8n Integration:</a:t>
            </a:r>
          </a:p>
          <a:p>
            <a:pPr marL="0" lvl="0" indent="0" algn="ctr">
              <a:lnSpc>
                <a:spcPts val="3501"/>
              </a:lnSpc>
              <a:spcBef>
                <a:spcPct val="0"/>
              </a:spcBef>
            </a:pPr>
            <a:r>
              <a:rPr lang="en-US" sz="2349" u="none" strike="noStrike">
                <a:solidFill>
                  <a:srgbClr val="FFFFFF"/>
                </a:solidFill>
                <a:latin typeface="Red Hat Display"/>
                <a:ea typeface="Red Hat Display"/>
                <a:cs typeface="Red Hat Display"/>
                <a:sym typeface="Red Hat Display"/>
              </a:rPr>
              <a:t>Our system integrates with n8n to trigger external workflows by sending data payloads asynchronously using a background thread. </a:t>
            </a:r>
          </a:p>
          <a:p>
            <a:pPr marL="0" lvl="0" indent="0" algn="ctr">
              <a:lnSpc>
                <a:spcPts val="3501"/>
              </a:lnSpc>
              <a:spcBef>
                <a:spcPct val="0"/>
              </a:spcBef>
            </a:pPr>
            <a:endParaRPr lang="en-US" sz="2349" u="none" strike="noStrike">
              <a:solidFill>
                <a:srgbClr val="FFFFFF"/>
              </a:solidFill>
              <a:latin typeface="Red Hat Display"/>
              <a:ea typeface="Red Hat Display"/>
              <a:cs typeface="Red Hat Display"/>
              <a:sym typeface="Red Hat Display"/>
            </a:endParaRPr>
          </a:p>
          <a:p>
            <a:pPr marL="0" lvl="0" indent="0" algn="ctr">
              <a:lnSpc>
                <a:spcPts val="3501"/>
              </a:lnSpc>
              <a:spcBef>
                <a:spcPct val="0"/>
              </a:spcBef>
            </a:pPr>
            <a:endParaRPr lang="en-US" sz="2349" u="none" strike="noStrike">
              <a:solidFill>
                <a:srgbClr val="FFFFFF"/>
              </a:solidFill>
              <a:latin typeface="Red Hat Display"/>
              <a:ea typeface="Red Hat Display"/>
              <a:cs typeface="Red Hat Display"/>
              <a:sym typeface="Red Hat Display"/>
            </a:endParaRPr>
          </a:p>
        </p:txBody>
      </p:sp>
      <p:sp>
        <p:nvSpPr>
          <p:cNvPr id="10" name="AutoShape 10"/>
          <p:cNvSpPr/>
          <p:nvPr/>
        </p:nvSpPr>
        <p:spPr>
          <a:xfrm flipH="1">
            <a:off x="8249881" y="4046219"/>
            <a:ext cx="4260927" cy="0"/>
          </a:xfrm>
          <a:prstGeom prst="line">
            <a:avLst/>
          </a:prstGeom>
          <a:ln w="38100" cap="flat">
            <a:solidFill>
              <a:srgbClr val="FFFFFF"/>
            </a:solidFill>
            <a:prstDash val="solid"/>
            <a:headEnd type="none" w="sm" len="sm"/>
            <a:tailEnd type="triangle" w="lg" len="med"/>
          </a:ln>
        </p:spPr>
      </p:sp>
      <p:sp>
        <p:nvSpPr>
          <p:cNvPr id="11" name="AutoShape 11"/>
          <p:cNvSpPr/>
          <p:nvPr/>
        </p:nvSpPr>
        <p:spPr>
          <a:xfrm flipH="1" flipV="1">
            <a:off x="12489852" y="4046219"/>
            <a:ext cx="0" cy="2512723"/>
          </a:xfrm>
          <a:prstGeom prst="line">
            <a:avLst/>
          </a:prstGeom>
          <a:ln w="38100" cap="flat">
            <a:solidFill>
              <a:srgbClr val="FFFFFF"/>
            </a:solidFill>
            <a:prstDash val="solid"/>
            <a:headEnd type="none" w="sm" len="sm"/>
            <a:tailEnd type="none" w="sm" len="sm"/>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grpSp>
        <p:nvGrpSpPr>
          <p:cNvPr id="3" name="Group 3"/>
          <p:cNvGrpSpPr/>
          <p:nvPr/>
        </p:nvGrpSpPr>
        <p:grpSpPr>
          <a:xfrm>
            <a:off x="6995244" y="2635327"/>
            <a:ext cx="4297511" cy="4346993"/>
            <a:chOff x="0" y="0"/>
            <a:chExt cx="5730015" cy="5795991"/>
          </a:xfrm>
        </p:grpSpPr>
        <p:sp>
          <p:nvSpPr>
            <p:cNvPr id="4" name="Freeform 4"/>
            <p:cNvSpPr/>
            <p:nvPr/>
          </p:nvSpPr>
          <p:spPr>
            <a:xfrm rot="-7900054">
              <a:off x="402458" y="402817"/>
              <a:ext cx="1350642" cy="606561"/>
            </a:xfrm>
            <a:custGeom>
              <a:avLst/>
              <a:gdLst/>
              <a:ahLst/>
              <a:cxnLst/>
              <a:rect l="l" t="t" r="r" b="b"/>
              <a:pathLst>
                <a:path w="1350642" h="606561">
                  <a:moveTo>
                    <a:pt x="0" y="0"/>
                  </a:moveTo>
                  <a:lnTo>
                    <a:pt x="1350641" y="0"/>
                  </a:lnTo>
                  <a:lnTo>
                    <a:pt x="1350641" y="606561"/>
                  </a:lnTo>
                  <a:lnTo>
                    <a:pt x="0" y="6065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2700000">
              <a:off x="3960453" y="418109"/>
              <a:ext cx="1350642" cy="606561"/>
            </a:xfrm>
            <a:custGeom>
              <a:avLst/>
              <a:gdLst/>
              <a:ahLst/>
              <a:cxnLst/>
              <a:rect l="l" t="t" r="r" b="b"/>
              <a:pathLst>
                <a:path w="1350642" h="606561">
                  <a:moveTo>
                    <a:pt x="0" y="0"/>
                  </a:moveTo>
                  <a:lnTo>
                    <a:pt x="1350642" y="0"/>
                  </a:lnTo>
                  <a:lnTo>
                    <a:pt x="1350642" y="606561"/>
                  </a:lnTo>
                  <a:lnTo>
                    <a:pt x="0" y="6065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rot="3209977">
              <a:off x="4029166" y="4769452"/>
              <a:ext cx="1350642" cy="606561"/>
            </a:xfrm>
            <a:custGeom>
              <a:avLst/>
              <a:gdLst/>
              <a:ahLst/>
              <a:cxnLst/>
              <a:rect l="l" t="t" r="r" b="b"/>
              <a:pathLst>
                <a:path w="1350642" h="606561">
                  <a:moveTo>
                    <a:pt x="0" y="0"/>
                  </a:moveTo>
                  <a:lnTo>
                    <a:pt x="1350642" y="0"/>
                  </a:lnTo>
                  <a:lnTo>
                    <a:pt x="1350642" y="606561"/>
                  </a:lnTo>
                  <a:lnTo>
                    <a:pt x="0" y="6065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rot="7866361">
              <a:off x="377227" y="4737277"/>
              <a:ext cx="1350642" cy="606561"/>
            </a:xfrm>
            <a:custGeom>
              <a:avLst/>
              <a:gdLst/>
              <a:ahLst/>
              <a:cxnLst/>
              <a:rect l="l" t="t" r="r" b="b"/>
              <a:pathLst>
                <a:path w="1350642" h="606561">
                  <a:moveTo>
                    <a:pt x="0" y="0"/>
                  </a:moveTo>
                  <a:lnTo>
                    <a:pt x="1350642" y="0"/>
                  </a:lnTo>
                  <a:lnTo>
                    <a:pt x="1350642" y="606561"/>
                  </a:lnTo>
                  <a:lnTo>
                    <a:pt x="0" y="6065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0" y="1736398"/>
              <a:ext cx="5730015" cy="2415758"/>
            </a:xfrm>
            <a:prstGeom prst="rect">
              <a:avLst/>
            </a:prstGeom>
          </p:spPr>
          <p:txBody>
            <a:bodyPr lIns="0" tIns="0" rIns="0" bIns="0" rtlCol="0" anchor="t">
              <a:spAutoFit/>
            </a:bodyPr>
            <a:lstStyle/>
            <a:p>
              <a:pPr marL="0" lvl="1" indent="0" algn="ctr">
                <a:lnSpc>
                  <a:spcPts val="6790"/>
                </a:lnSpc>
                <a:spcBef>
                  <a:spcPct val="0"/>
                </a:spcBef>
              </a:pPr>
              <a:r>
                <a:rPr lang="en-US" sz="7000">
                  <a:solidFill>
                    <a:srgbClr val="FFFFFF"/>
                  </a:solidFill>
                  <a:latin typeface="Archivo Black"/>
                  <a:ea typeface="Archivo Black"/>
                  <a:cs typeface="Archivo Black"/>
                  <a:sym typeface="Archivo Black"/>
                </a:rPr>
                <a:t>Others</a:t>
              </a:r>
            </a:p>
            <a:p>
              <a:pPr algn="ctr">
                <a:lnSpc>
                  <a:spcPts val="6790"/>
                </a:lnSpc>
                <a:spcBef>
                  <a:spcPct val="0"/>
                </a:spcBef>
              </a:pPr>
              <a:r>
                <a:rPr lang="en-US" sz="7000" u="none" strike="noStrike">
                  <a:solidFill>
                    <a:srgbClr val="FFFFFF"/>
                  </a:solidFill>
                  <a:latin typeface="Archivo Black"/>
                  <a:ea typeface="Archivo Black"/>
                  <a:cs typeface="Archivo Black"/>
                  <a:sym typeface="Archivo Black"/>
                </a:rPr>
                <a:t>Features</a:t>
              </a:r>
            </a:p>
          </p:txBody>
        </p:sp>
      </p:grpSp>
      <p:sp>
        <p:nvSpPr>
          <p:cNvPr id="9" name="Freeform 9"/>
          <p:cNvSpPr/>
          <p:nvPr/>
        </p:nvSpPr>
        <p:spPr>
          <a:xfrm rot="6626729" flipH="1">
            <a:off x="9456655" y="6667261"/>
            <a:ext cx="12221289" cy="8822969"/>
          </a:xfrm>
          <a:custGeom>
            <a:avLst/>
            <a:gdLst/>
            <a:ahLst/>
            <a:cxnLst/>
            <a:rect l="l" t="t" r="r" b="b"/>
            <a:pathLst>
              <a:path w="12221289" h="8822969">
                <a:moveTo>
                  <a:pt x="12221289" y="0"/>
                </a:moveTo>
                <a:lnTo>
                  <a:pt x="0" y="0"/>
                </a:lnTo>
                <a:lnTo>
                  <a:pt x="0" y="8822969"/>
                </a:lnTo>
                <a:lnTo>
                  <a:pt x="12221289" y="8822969"/>
                </a:lnTo>
                <a:lnTo>
                  <a:pt x="12221289" y="0"/>
                </a:lnTo>
                <a:close/>
              </a:path>
            </a:pathLst>
          </a:custGeom>
          <a:blipFill>
            <a:blip r:embed="rId4"/>
            <a:stretch>
              <a:fillRect/>
            </a:stretch>
          </a:blipFill>
        </p:spPr>
      </p:sp>
      <p:sp>
        <p:nvSpPr>
          <p:cNvPr id="10" name="Freeform 10"/>
          <p:cNvSpPr/>
          <p:nvPr/>
        </p:nvSpPr>
        <p:spPr>
          <a:xfrm>
            <a:off x="-2207810" y="-3420776"/>
            <a:ext cx="6799707" cy="8229600"/>
          </a:xfrm>
          <a:custGeom>
            <a:avLst/>
            <a:gdLst/>
            <a:ahLst/>
            <a:cxnLst/>
            <a:rect l="l" t="t" r="r" b="b"/>
            <a:pathLst>
              <a:path w="6799707" h="8229600">
                <a:moveTo>
                  <a:pt x="0" y="0"/>
                </a:moveTo>
                <a:lnTo>
                  <a:pt x="6799707" y="0"/>
                </a:lnTo>
                <a:lnTo>
                  <a:pt x="6799707" y="8229600"/>
                </a:lnTo>
                <a:lnTo>
                  <a:pt x="0" y="8229600"/>
                </a:lnTo>
                <a:lnTo>
                  <a:pt x="0" y="0"/>
                </a:lnTo>
                <a:close/>
              </a:path>
            </a:pathLst>
          </a:custGeom>
          <a:blipFill>
            <a:blip r:embed="rId5"/>
            <a:stretch>
              <a:fillRect/>
            </a:stretch>
          </a:blipFill>
        </p:spPr>
      </p:sp>
      <p:grpSp>
        <p:nvGrpSpPr>
          <p:cNvPr id="11" name="Group 11"/>
          <p:cNvGrpSpPr/>
          <p:nvPr/>
        </p:nvGrpSpPr>
        <p:grpSpPr>
          <a:xfrm>
            <a:off x="1028700" y="1028700"/>
            <a:ext cx="5587239" cy="2662922"/>
            <a:chOff x="0" y="0"/>
            <a:chExt cx="2065940" cy="984643"/>
          </a:xfrm>
        </p:grpSpPr>
        <p:sp>
          <p:nvSpPr>
            <p:cNvPr id="12" name="Freeform 12"/>
            <p:cNvSpPr/>
            <p:nvPr/>
          </p:nvSpPr>
          <p:spPr>
            <a:xfrm>
              <a:off x="0" y="0"/>
              <a:ext cx="2065940" cy="984643"/>
            </a:xfrm>
            <a:custGeom>
              <a:avLst/>
              <a:gdLst/>
              <a:ahLst/>
              <a:cxnLst/>
              <a:rect l="l" t="t" r="r" b="b"/>
              <a:pathLst>
                <a:path w="2065940" h="984643">
                  <a:moveTo>
                    <a:pt x="27713" y="0"/>
                  </a:moveTo>
                  <a:lnTo>
                    <a:pt x="2038228" y="0"/>
                  </a:lnTo>
                  <a:cubicBezTo>
                    <a:pt x="2053533" y="0"/>
                    <a:pt x="2065940" y="12407"/>
                    <a:pt x="2065940" y="27713"/>
                  </a:cubicBezTo>
                  <a:lnTo>
                    <a:pt x="2065940" y="956931"/>
                  </a:lnTo>
                  <a:cubicBezTo>
                    <a:pt x="2065940" y="964280"/>
                    <a:pt x="2063021" y="971329"/>
                    <a:pt x="2057823" y="976527"/>
                  </a:cubicBezTo>
                  <a:cubicBezTo>
                    <a:pt x="2052626" y="981724"/>
                    <a:pt x="2045577" y="984643"/>
                    <a:pt x="2038228" y="984643"/>
                  </a:cubicBezTo>
                  <a:lnTo>
                    <a:pt x="27713" y="984643"/>
                  </a:lnTo>
                  <a:cubicBezTo>
                    <a:pt x="20363" y="984643"/>
                    <a:pt x="13314" y="981724"/>
                    <a:pt x="8117" y="976527"/>
                  </a:cubicBezTo>
                  <a:cubicBezTo>
                    <a:pt x="2920" y="971329"/>
                    <a:pt x="0" y="964280"/>
                    <a:pt x="0" y="956931"/>
                  </a:cubicBezTo>
                  <a:lnTo>
                    <a:pt x="0" y="27713"/>
                  </a:lnTo>
                  <a:cubicBezTo>
                    <a:pt x="0" y="12407"/>
                    <a:pt x="12407" y="0"/>
                    <a:pt x="27713" y="0"/>
                  </a:cubicBezTo>
                  <a:close/>
                </a:path>
              </a:pathLst>
            </a:custGeom>
            <a:solidFill>
              <a:srgbClr val="04001E"/>
            </a:solidFill>
            <a:ln w="38100" cap="sq">
              <a:solidFill>
                <a:srgbClr val="E5E1DA"/>
              </a:solidFill>
              <a:prstDash val="solid"/>
              <a:miter/>
            </a:ln>
          </p:spPr>
        </p:sp>
        <p:sp>
          <p:nvSpPr>
            <p:cNvPr id="13" name="TextBox 13"/>
            <p:cNvSpPr txBox="1"/>
            <p:nvPr/>
          </p:nvSpPr>
          <p:spPr>
            <a:xfrm>
              <a:off x="0" y="-38100"/>
              <a:ext cx="2065940" cy="102274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4" name="Group 14"/>
          <p:cNvGrpSpPr/>
          <p:nvPr/>
        </p:nvGrpSpPr>
        <p:grpSpPr>
          <a:xfrm>
            <a:off x="1028700" y="6598786"/>
            <a:ext cx="5587239" cy="2662922"/>
            <a:chOff x="0" y="0"/>
            <a:chExt cx="2065940" cy="984643"/>
          </a:xfrm>
        </p:grpSpPr>
        <p:sp>
          <p:nvSpPr>
            <p:cNvPr id="15" name="Freeform 15"/>
            <p:cNvSpPr/>
            <p:nvPr/>
          </p:nvSpPr>
          <p:spPr>
            <a:xfrm>
              <a:off x="0" y="0"/>
              <a:ext cx="2065940" cy="984643"/>
            </a:xfrm>
            <a:custGeom>
              <a:avLst/>
              <a:gdLst/>
              <a:ahLst/>
              <a:cxnLst/>
              <a:rect l="l" t="t" r="r" b="b"/>
              <a:pathLst>
                <a:path w="2065940" h="984643">
                  <a:moveTo>
                    <a:pt x="27713" y="0"/>
                  </a:moveTo>
                  <a:lnTo>
                    <a:pt x="2038228" y="0"/>
                  </a:lnTo>
                  <a:cubicBezTo>
                    <a:pt x="2053533" y="0"/>
                    <a:pt x="2065940" y="12407"/>
                    <a:pt x="2065940" y="27713"/>
                  </a:cubicBezTo>
                  <a:lnTo>
                    <a:pt x="2065940" y="956931"/>
                  </a:lnTo>
                  <a:cubicBezTo>
                    <a:pt x="2065940" y="964280"/>
                    <a:pt x="2063021" y="971329"/>
                    <a:pt x="2057823" y="976527"/>
                  </a:cubicBezTo>
                  <a:cubicBezTo>
                    <a:pt x="2052626" y="981724"/>
                    <a:pt x="2045577" y="984643"/>
                    <a:pt x="2038228" y="984643"/>
                  </a:cubicBezTo>
                  <a:lnTo>
                    <a:pt x="27713" y="984643"/>
                  </a:lnTo>
                  <a:cubicBezTo>
                    <a:pt x="20363" y="984643"/>
                    <a:pt x="13314" y="981724"/>
                    <a:pt x="8117" y="976527"/>
                  </a:cubicBezTo>
                  <a:cubicBezTo>
                    <a:pt x="2920" y="971329"/>
                    <a:pt x="0" y="964280"/>
                    <a:pt x="0" y="956931"/>
                  </a:cubicBezTo>
                  <a:lnTo>
                    <a:pt x="0" y="27713"/>
                  </a:lnTo>
                  <a:cubicBezTo>
                    <a:pt x="0" y="12407"/>
                    <a:pt x="12407" y="0"/>
                    <a:pt x="27713" y="0"/>
                  </a:cubicBezTo>
                  <a:close/>
                </a:path>
              </a:pathLst>
            </a:custGeom>
            <a:solidFill>
              <a:srgbClr val="04001E"/>
            </a:solidFill>
            <a:ln w="38100" cap="sq">
              <a:solidFill>
                <a:srgbClr val="E5E1DA"/>
              </a:solidFill>
              <a:prstDash val="solid"/>
              <a:miter/>
            </a:ln>
          </p:spPr>
        </p:sp>
        <p:sp>
          <p:nvSpPr>
            <p:cNvPr id="16" name="TextBox 16"/>
            <p:cNvSpPr txBox="1"/>
            <p:nvPr/>
          </p:nvSpPr>
          <p:spPr>
            <a:xfrm>
              <a:off x="0" y="-38100"/>
              <a:ext cx="2065940" cy="102274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7" name="Group 17"/>
          <p:cNvGrpSpPr/>
          <p:nvPr/>
        </p:nvGrpSpPr>
        <p:grpSpPr>
          <a:xfrm>
            <a:off x="11672061" y="1025292"/>
            <a:ext cx="5587239" cy="2662922"/>
            <a:chOff x="0" y="0"/>
            <a:chExt cx="2065940" cy="984643"/>
          </a:xfrm>
        </p:grpSpPr>
        <p:sp>
          <p:nvSpPr>
            <p:cNvPr id="18" name="Freeform 18"/>
            <p:cNvSpPr/>
            <p:nvPr/>
          </p:nvSpPr>
          <p:spPr>
            <a:xfrm>
              <a:off x="0" y="0"/>
              <a:ext cx="2065940" cy="984643"/>
            </a:xfrm>
            <a:custGeom>
              <a:avLst/>
              <a:gdLst/>
              <a:ahLst/>
              <a:cxnLst/>
              <a:rect l="l" t="t" r="r" b="b"/>
              <a:pathLst>
                <a:path w="2065940" h="984643">
                  <a:moveTo>
                    <a:pt x="27713" y="0"/>
                  </a:moveTo>
                  <a:lnTo>
                    <a:pt x="2038228" y="0"/>
                  </a:lnTo>
                  <a:cubicBezTo>
                    <a:pt x="2053533" y="0"/>
                    <a:pt x="2065940" y="12407"/>
                    <a:pt x="2065940" y="27713"/>
                  </a:cubicBezTo>
                  <a:lnTo>
                    <a:pt x="2065940" y="956931"/>
                  </a:lnTo>
                  <a:cubicBezTo>
                    <a:pt x="2065940" y="964280"/>
                    <a:pt x="2063021" y="971329"/>
                    <a:pt x="2057823" y="976527"/>
                  </a:cubicBezTo>
                  <a:cubicBezTo>
                    <a:pt x="2052626" y="981724"/>
                    <a:pt x="2045577" y="984643"/>
                    <a:pt x="2038228" y="984643"/>
                  </a:cubicBezTo>
                  <a:lnTo>
                    <a:pt x="27713" y="984643"/>
                  </a:lnTo>
                  <a:cubicBezTo>
                    <a:pt x="20363" y="984643"/>
                    <a:pt x="13314" y="981724"/>
                    <a:pt x="8117" y="976527"/>
                  </a:cubicBezTo>
                  <a:cubicBezTo>
                    <a:pt x="2920" y="971329"/>
                    <a:pt x="0" y="964280"/>
                    <a:pt x="0" y="956931"/>
                  </a:cubicBezTo>
                  <a:lnTo>
                    <a:pt x="0" y="27713"/>
                  </a:lnTo>
                  <a:cubicBezTo>
                    <a:pt x="0" y="12407"/>
                    <a:pt x="12407" y="0"/>
                    <a:pt x="27713" y="0"/>
                  </a:cubicBezTo>
                  <a:close/>
                </a:path>
              </a:pathLst>
            </a:custGeom>
            <a:solidFill>
              <a:srgbClr val="04001E"/>
            </a:solidFill>
            <a:ln w="38100" cap="sq">
              <a:solidFill>
                <a:srgbClr val="E5E1DA"/>
              </a:solidFill>
              <a:prstDash val="solid"/>
              <a:miter/>
            </a:ln>
          </p:spPr>
        </p:sp>
        <p:sp>
          <p:nvSpPr>
            <p:cNvPr id="19" name="TextBox 19"/>
            <p:cNvSpPr txBox="1"/>
            <p:nvPr/>
          </p:nvSpPr>
          <p:spPr>
            <a:xfrm>
              <a:off x="0" y="-38100"/>
              <a:ext cx="2065940" cy="102274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0" name="Group 20"/>
          <p:cNvGrpSpPr/>
          <p:nvPr/>
        </p:nvGrpSpPr>
        <p:grpSpPr>
          <a:xfrm>
            <a:off x="11672061" y="6595378"/>
            <a:ext cx="5587239" cy="2662922"/>
            <a:chOff x="0" y="0"/>
            <a:chExt cx="2065940" cy="984643"/>
          </a:xfrm>
        </p:grpSpPr>
        <p:sp>
          <p:nvSpPr>
            <p:cNvPr id="21" name="Freeform 21"/>
            <p:cNvSpPr/>
            <p:nvPr/>
          </p:nvSpPr>
          <p:spPr>
            <a:xfrm>
              <a:off x="0" y="0"/>
              <a:ext cx="2065940" cy="984643"/>
            </a:xfrm>
            <a:custGeom>
              <a:avLst/>
              <a:gdLst/>
              <a:ahLst/>
              <a:cxnLst/>
              <a:rect l="l" t="t" r="r" b="b"/>
              <a:pathLst>
                <a:path w="2065940" h="984643">
                  <a:moveTo>
                    <a:pt x="27713" y="0"/>
                  </a:moveTo>
                  <a:lnTo>
                    <a:pt x="2038228" y="0"/>
                  </a:lnTo>
                  <a:cubicBezTo>
                    <a:pt x="2053533" y="0"/>
                    <a:pt x="2065940" y="12407"/>
                    <a:pt x="2065940" y="27713"/>
                  </a:cubicBezTo>
                  <a:lnTo>
                    <a:pt x="2065940" y="956931"/>
                  </a:lnTo>
                  <a:cubicBezTo>
                    <a:pt x="2065940" y="964280"/>
                    <a:pt x="2063021" y="971329"/>
                    <a:pt x="2057823" y="976527"/>
                  </a:cubicBezTo>
                  <a:cubicBezTo>
                    <a:pt x="2052626" y="981724"/>
                    <a:pt x="2045577" y="984643"/>
                    <a:pt x="2038228" y="984643"/>
                  </a:cubicBezTo>
                  <a:lnTo>
                    <a:pt x="27713" y="984643"/>
                  </a:lnTo>
                  <a:cubicBezTo>
                    <a:pt x="20363" y="984643"/>
                    <a:pt x="13314" y="981724"/>
                    <a:pt x="8117" y="976527"/>
                  </a:cubicBezTo>
                  <a:cubicBezTo>
                    <a:pt x="2920" y="971329"/>
                    <a:pt x="0" y="964280"/>
                    <a:pt x="0" y="956931"/>
                  </a:cubicBezTo>
                  <a:lnTo>
                    <a:pt x="0" y="27713"/>
                  </a:lnTo>
                  <a:cubicBezTo>
                    <a:pt x="0" y="12407"/>
                    <a:pt x="12407" y="0"/>
                    <a:pt x="27713" y="0"/>
                  </a:cubicBezTo>
                  <a:close/>
                </a:path>
              </a:pathLst>
            </a:custGeom>
            <a:solidFill>
              <a:srgbClr val="04001E"/>
            </a:solidFill>
            <a:ln w="38100" cap="sq">
              <a:solidFill>
                <a:srgbClr val="E5E1DA"/>
              </a:solidFill>
              <a:prstDash val="solid"/>
              <a:miter/>
            </a:ln>
          </p:spPr>
        </p:sp>
        <p:sp>
          <p:nvSpPr>
            <p:cNvPr id="22" name="TextBox 22"/>
            <p:cNvSpPr txBox="1"/>
            <p:nvPr/>
          </p:nvSpPr>
          <p:spPr>
            <a:xfrm>
              <a:off x="0" y="-38100"/>
              <a:ext cx="2065940" cy="102274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3" name="TextBox 23"/>
          <p:cNvSpPr txBox="1"/>
          <p:nvPr/>
        </p:nvSpPr>
        <p:spPr>
          <a:xfrm>
            <a:off x="11891504" y="1273316"/>
            <a:ext cx="5088826" cy="2109723"/>
          </a:xfrm>
          <a:prstGeom prst="rect">
            <a:avLst/>
          </a:prstGeom>
        </p:spPr>
        <p:txBody>
          <a:bodyPr lIns="0" tIns="0" rIns="0" bIns="0" rtlCol="0" anchor="t">
            <a:spAutoFit/>
          </a:bodyPr>
          <a:lstStyle/>
          <a:p>
            <a:pPr marL="0" lvl="0" indent="0" algn="ctr">
              <a:lnSpc>
                <a:spcPts val="3054"/>
              </a:lnSpc>
            </a:pPr>
            <a:r>
              <a:rPr lang="en-US" sz="2050" b="1">
                <a:solidFill>
                  <a:srgbClr val="FFFFFF"/>
                </a:solidFill>
                <a:latin typeface="Red Hat Display Bold"/>
                <a:ea typeface="Red Hat Display Bold"/>
                <a:cs typeface="Red Hat Display Bold"/>
                <a:sym typeface="Red Hat Display Bold"/>
              </a:rPr>
              <a:t>Context-Awa</a:t>
            </a:r>
            <a:r>
              <a:rPr lang="en-US" sz="2050" b="1" u="none" strike="noStrike">
                <a:solidFill>
                  <a:srgbClr val="FFFFFF"/>
                </a:solidFill>
                <a:latin typeface="Red Hat Display Bold"/>
                <a:ea typeface="Red Hat Display Bold"/>
                <a:cs typeface="Red Hat Display Bold"/>
                <a:sym typeface="Red Hat Display Bold"/>
              </a:rPr>
              <a:t>re Conversational Memory:</a:t>
            </a:r>
          </a:p>
          <a:p>
            <a:pPr marL="0" lvl="0" indent="0" algn="ctr">
              <a:lnSpc>
                <a:spcPts val="3501"/>
              </a:lnSpc>
            </a:pPr>
            <a:r>
              <a:rPr lang="en-US" sz="2350" u="none" strike="noStrike">
                <a:solidFill>
                  <a:srgbClr val="FFFFFF"/>
                </a:solidFill>
                <a:latin typeface="Red Hat Display"/>
                <a:ea typeface="Red Hat Display"/>
                <a:cs typeface="Red Hat Display"/>
                <a:sym typeface="Red Hat Display"/>
              </a:rPr>
              <a:t>Our platform builds a dynamic memory for each individual user session, creating a unique and persistent conversational thread.</a:t>
            </a:r>
          </a:p>
        </p:txBody>
      </p:sp>
      <p:sp>
        <p:nvSpPr>
          <p:cNvPr id="24" name="TextBox 24"/>
          <p:cNvSpPr txBox="1"/>
          <p:nvPr/>
        </p:nvSpPr>
        <p:spPr>
          <a:xfrm>
            <a:off x="1201569" y="6760711"/>
            <a:ext cx="5266492" cy="2315912"/>
          </a:xfrm>
          <a:prstGeom prst="rect">
            <a:avLst/>
          </a:prstGeom>
        </p:spPr>
        <p:txBody>
          <a:bodyPr lIns="0" tIns="0" rIns="0" bIns="0" rtlCol="0" anchor="t">
            <a:spAutoFit/>
          </a:bodyPr>
          <a:lstStyle/>
          <a:p>
            <a:pPr algn="ctr">
              <a:lnSpc>
                <a:spcPts val="2643"/>
              </a:lnSpc>
            </a:pPr>
            <a:r>
              <a:rPr lang="en-US" sz="1774" b="1">
                <a:solidFill>
                  <a:srgbClr val="FFFFFF"/>
                </a:solidFill>
                <a:latin typeface="Red Hat Display Bold"/>
                <a:ea typeface="Red Hat Display Bold"/>
                <a:cs typeface="Red Hat Display Bold"/>
                <a:sym typeface="Red Hat Display Bold"/>
              </a:rPr>
              <a:t>MultiModal Understanding:</a:t>
            </a:r>
          </a:p>
          <a:p>
            <a:pPr marL="0" lvl="0" indent="0" algn="ctr">
              <a:lnSpc>
                <a:spcPts val="2643"/>
              </a:lnSpc>
            </a:pPr>
            <a:r>
              <a:rPr lang="en-US" sz="1774">
                <a:solidFill>
                  <a:srgbClr val="FFFFFF"/>
                </a:solidFill>
                <a:latin typeface="Red Hat Display"/>
                <a:ea typeface="Red Hat Display"/>
                <a:cs typeface="Red Hat Display"/>
                <a:sym typeface="Red Hat Display"/>
              </a:rPr>
              <a:t>A</a:t>
            </a:r>
            <a:r>
              <a:rPr lang="en-US" sz="1774" u="none" strike="noStrike">
                <a:solidFill>
                  <a:srgbClr val="FFFFFF"/>
                </a:solidFill>
                <a:latin typeface="Red Hat Display"/>
                <a:ea typeface="Red Hat Display"/>
                <a:cs typeface="Red Hat Display"/>
                <a:sym typeface="Red Hat Display"/>
              </a:rPr>
              <a:t> MultiModalProcessor converts files into standardized text before sending them to the LLM. It detects the file type and uses specialized parsers—extracting text from documents, OCR for images, summaries for structured data, and metadata from media.</a:t>
            </a:r>
          </a:p>
        </p:txBody>
      </p:sp>
      <p:sp>
        <p:nvSpPr>
          <p:cNvPr id="25" name="TextBox 25"/>
          <p:cNvSpPr txBox="1"/>
          <p:nvPr/>
        </p:nvSpPr>
        <p:spPr>
          <a:xfrm>
            <a:off x="1239669" y="1261975"/>
            <a:ext cx="5079301" cy="2103832"/>
          </a:xfrm>
          <a:prstGeom prst="rect">
            <a:avLst/>
          </a:prstGeom>
        </p:spPr>
        <p:txBody>
          <a:bodyPr lIns="0" tIns="0" rIns="0" bIns="0" rtlCol="0" anchor="t">
            <a:spAutoFit/>
          </a:bodyPr>
          <a:lstStyle/>
          <a:p>
            <a:pPr algn="ctr">
              <a:lnSpc>
                <a:spcPts val="4265"/>
              </a:lnSpc>
            </a:pPr>
            <a:r>
              <a:rPr lang="en-US" sz="3046" b="1">
                <a:solidFill>
                  <a:srgbClr val="FFFFFF"/>
                </a:solidFill>
                <a:latin typeface="Red Hat Display Bold"/>
                <a:ea typeface="Red Hat Display Bold"/>
                <a:cs typeface="Red Hat Display Bold"/>
                <a:sym typeface="Red Hat Display Bold"/>
              </a:rPr>
              <a:t>Real time data:</a:t>
            </a:r>
          </a:p>
          <a:p>
            <a:pPr algn="ctr">
              <a:lnSpc>
                <a:spcPts val="4265"/>
              </a:lnSpc>
              <a:spcBef>
                <a:spcPct val="0"/>
              </a:spcBef>
            </a:pPr>
            <a:r>
              <a:rPr lang="en-US" sz="3046">
                <a:solidFill>
                  <a:srgbClr val="FFFFFF"/>
                </a:solidFill>
                <a:latin typeface="Red Hat Display"/>
                <a:ea typeface="Red Hat Display"/>
                <a:cs typeface="Red Hat Display"/>
                <a:sym typeface="Red Hat Display"/>
              </a:rPr>
              <a:t>We used  privacy-focused search engine (duckduckgo)  for real time data awareness</a:t>
            </a:r>
          </a:p>
        </p:txBody>
      </p:sp>
      <p:sp>
        <p:nvSpPr>
          <p:cNvPr id="26" name="TextBox 26"/>
          <p:cNvSpPr txBox="1"/>
          <p:nvPr/>
        </p:nvSpPr>
        <p:spPr>
          <a:xfrm>
            <a:off x="11824829" y="6750062"/>
            <a:ext cx="5314398" cy="3047175"/>
          </a:xfrm>
          <a:prstGeom prst="rect">
            <a:avLst/>
          </a:prstGeom>
        </p:spPr>
        <p:txBody>
          <a:bodyPr lIns="0" tIns="0" rIns="0" bIns="0" rtlCol="0" anchor="t">
            <a:spAutoFit/>
          </a:bodyPr>
          <a:lstStyle/>
          <a:p>
            <a:pPr marL="0" lvl="0" indent="0" algn="ctr">
              <a:lnSpc>
                <a:spcPts val="3501"/>
              </a:lnSpc>
              <a:spcBef>
                <a:spcPct val="0"/>
              </a:spcBef>
            </a:pPr>
            <a:r>
              <a:rPr lang="en-US" sz="2349" b="1">
                <a:solidFill>
                  <a:srgbClr val="FFFFFF"/>
                </a:solidFill>
                <a:latin typeface="Red Hat Display Bold"/>
                <a:ea typeface="Red Hat Display Bold"/>
                <a:cs typeface="Red Hat Display Bold"/>
                <a:sym typeface="Red Hat Display Bold"/>
              </a:rPr>
              <a:t>A</a:t>
            </a:r>
            <a:r>
              <a:rPr lang="en-US" sz="2349" b="1" u="none" strike="noStrike">
                <a:solidFill>
                  <a:srgbClr val="FFFFFF"/>
                </a:solidFill>
                <a:latin typeface="Red Hat Display Bold"/>
                <a:ea typeface="Red Hat Display Bold"/>
                <a:cs typeface="Red Hat Display Bold"/>
                <a:sym typeface="Red Hat Display Bold"/>
              </a:rPr>
              <a:t>synchronous n8n Integration:</a:t>
            </a:r>
          </a:p>
          <a:p>
            <a:pPr marL="0" lvl="0" indent="0" algn="ctr">
              <a:lnSpc>
                <a:spcPts val="3501"/>
              </a:lnSpc>
              <a:spcBef>
                <a:spcPct val="0"/>
              </a:spcBef>
            </a:pPr>
            <a:r>
              <a:rPr lang="en-US" sz="2349" u="none" strike="noStrike">
                <a:solidFill>
                  <a:srgbClr val="FFFFFF"/>
                </a:solidFill>
                <a:latin typeface="Red Hat Display"/>
                <a:ea typeface="Red Hat Display"/>
                <a:cs typeface="Red Hat Display"/>
                <a:sym typeface="Red Hat Display"/>
              </a:rPr>
              <a:t>Our system integrates with n8n to trigger external workflows by sending data payloads asynchronously using a background thread. </a:t>
            </a:r>
          </a:p>
          <a:p>
            <a:pPr marL="0" lvl="0" indent="0" algn="ctr">
              <a:lnSpc>
                <a:spcPts val="3501"/>
              </a:lnSpc>
              <a:spcBef>
                <a:spcPct val="0"/>
              </a:spcBef>
            </a:pPr>
            <a:endParaRPr lang="en-US" sz="2349" u="none" strike="noStrike">
              <a:solidFill>
                <a:srgbClr val="FFFFFF"/>
              </a:solidFill>
              <a:latin typeface="Red Hat Display"/>
              <a:ea typeface="Red Hat Display"/>
              <a:cs typeface="Red Hat Display"/>
              <a:sym typeface="Red Hat Display"/>
            </a:endParaRPr>
          </a:p>
          <a:p>
            <a:pPr marL="0" lvl="0" indent="0" algn="ctr">
              <a:lnSpc>
                <a:spcPts val="3501"/>
              </a:lnSpc>
              <a:spcBef>
                <a:spcPct val="0"/>
              </a:spcBef>
            </a:pPr>
            <a:endParaRPr lang="en-US" sz="2349" u="none" strike="noStrike">
              <a:solidFill>
                <a:srgbClr val="FFFFFF"/>
              </a:solidFill>
              <a:latin typeface="Red Hat Display"/>
              <a:ea typeface="Red Hat Display"/>
              <a:cs typeface="Red Hat Display"/>
              <a:sym typeface="Red Hat Display"/>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AutoShape 3"/>
          <p:cNvSpPr/>
          <p:nvPr/>
        </p:nvSpPr>
        <p:spPr>
          <a:xfrm>
            <a:off x="-1334432" y="4646809"/>
            <a:ext cx="20061513" cy="0"/>
          </a:xfrm>
          <a:prstGeom prst="line">
            <a:avLst/>
          </a:prstGeom>
          <a:ln w="28575" cap="flat">
            <a:solidFill>
              <a:srgbClr val="F4F4ED"/>
            </a:solidFill>
            <a:prstDash val="solid"/>
            <a:headEnd type="none" w="sm" len="sm"/>
            <a:tailEnd type="none" w="sm" len="sm"/>
          </a:ln>
        </p:spPr>
      </p:sp>
      <p:sp>
        <p:nvSpPr>
          <p:cNvPr id="4" name="TextBox 4"/>
          <p:cNvSpPr txBox="1"/>
          <p:nvPr/>
        </p:nvSpPr>
        <p:spPr>
          <a:xfrm>
            <a:off x="13459047" y="5743533"/>
            <a:ext cx="3844858" cy="3522345"/>
          </a:xfrm>
          <a:prstGeom prst="rect">
            <a:avLst/>
          </a:prstGeom>
        </p:spPr>
        <p:txBody>
          <a:bodyPr lIns="0" tIns="0" rIns="0" bIns="0" rtlCol="0" anchor="t">
            <a:spAutoFit/>
          </a:bodyPr>
          <a:lstStyle/>
          <a:p>
            <a:pPr algn="l">
              <a:lnSpc>
                <a:spcPts val="2340"/>
              </a:lnSpc>
            </a:pPr>
            <a:r>
              <a:rPr lang="en-US" sz="1500">
                <a:solidFill>
                  <a:srgbClr val="FFFFFF"/>
                </a:solidFill>
                <a:latin typeface="Red Hat Display"/>
                <a:ea typeface="Red Hat Display"/>
                <a:cs typeface="Red Hat Display"/>
                <a:sym typeface="Red Hat Display"/>
              </a:rPr>
              <a:t>To complete the multimodal experience, integrate voice input using Deepgram STT or a similar API, allowing users to speak instead of type. Enhance usability by automatically playing Deepgram’s TTS output when a response is received. Support real-time image or audio uploads to further enrich interaction. Optionally, track user sentiment, session data, or interaction patterns for personalization or analytics in future iterations.</a:t>
            </a:r>
          </a:p>
          <a:p>
            <a:pPr algn="l">
              <a:lnSpc>
                <a:spcPts val="2340"/>
              </a:lnSpc>
            </a:pPr>
            <a:endParaRPr lang="en-US" sz="1500">
              <a:solidFill>
                <a:srgbClr val="FFFFFF"/>
              </a:solidFill>
              <a:latin typeface="Red Hat Display"/>
              <a:ea typeface="Red Hat Display"/>
              <a:cs typeface="Red Hat Display"/>
              <a:sym typeface="Red Hat Display"/>
            </a:endParaRPr>
          </a:p>
        </p:txBody>
      </p:sp>
      <p:sp>
        <p:nvSpPr>
          <p:cNvPr id="5" name="Freeform 5"/>
          <p:cNvSpPr/>
          <p:nvPr/>
        </p:nvSpPr>
        <p:spPr>
          <a:xfrm>
            <a:off x="1188650" y="3544243"/>
            <a:ext cx="699039" cy="866808"/>
          </a:xfrm>
          <a:custGeom>
            <a:avLst/>
            <a:gdLst/>
            <a:ahLst/>
            <a:cxnLst/>
            <a:rect l="l" t="t" r="r" b="b"/>
            <a:pathLst>
              <a:path w="699039" h="866808">
                <a:moveTo>
                  <a:pt x="0" y="0"/>
                </a:moveTo>
                <a:lnTo>
                  <a:pt x="699039" y="0"/>
                </a:lnTo>
                <a:lnTo>
                  <a:pt x="699039" y="866808"/>
                </a:lnTo>
                <a:lnTo>
                  <a:pt x="0" y="866808"/>
                </a:lnTo>
                <a:lnTo>
                  <a:pt x="0" y="0"/>
                </a:lnTo>
                <a:close/>
              </a:path>
            </a:pathLst>
          </a:custGeom>
          <a:blipFill>
            <a:blip r:embed="rId3"/>
            <a:stretch>
              <a:fillRect/>
            </a:stretch>
          </a:blipFill>
        </p:spPr>
      </p:sp>
      <p:sp>
        <p:nvSpPr>
          <p:cNvPr id="6" name="Freeform 6"/>
          <p:cNvSpPr/>
          <p:nvPr/>
        </p:nvSpPr>
        <p:spPr>
          <a:xfrm>
            <a:off x="5236223" y="3119812"/>
            <a:ext cx="1715671" cy="1715671"/>
          </a:xfrm>
          <a:custGeom>
            <a:avLst/>
            <a:gdLst/>
            <a:ahLst/>
            <a:cxnLst/>
            <a:rect l="l" t="t" r="r" b="b"/>
            <a:pathLst>
              <a:path w="1715671" h="1715671">
                <a:moveTo>
                  <a:pt x="0" y="0"/>
                </a:moveTo>
                <a:lnTo>
                  <a:pt x="1715671" y="0"/>
                </a:lnTo>
                <a:lnTo>
                  <a:pt x="1715671" y="1715671"/>
                </a:lnTo>
                <a:lnTo>
                  <a:pt x="0" y="1715671"/>
                </a:lnTo>
                <a:lnTo>
                  <a:pt x="0" y="0"/>
                </a:lnTo>
                <a:close/>
              </a:path>
            </a:pathLst>
          </a:custGeom>
          <a:blipFill>
            <a:blip r:embed="rId4"/>
            <a:stretch>
              <a:fillRect/>
            </a:stretch>
          </a:blipFill>
        </p:spPr>
      </p:sp>
      <p:sp>
        <p:nvSpPr>
          <p:cNvPr id="7" name="Freeform 7"/>
          <p:cNvSpPr/>
          <p:nvPr/>
        </p:nvSpPr>
        <p:spPr>
          <a:xfrm>
            <a:off x="9103300" y="3549671"/>
            <a:ext cx="861380" cy="861380"/>
          </a:xfrm>
          <a:custGeom>
            <a:avLst/>
            <a:gdLst/>
            <a:ahLst/>
            <a:cxnLst/>
            <a:rect l="l" t="t" r="r" b="b"/>
            <a:pathLst>
              <a:path w="861380" h="861380">
                <a:moveTo>
                  <a:pt x="0" y="0"/>
                </a:moveTo>
                <a:lnTo>
                  <a:pt x="861380" y="0"/>
                </a:lnTo>
                <a:lnTo>
                  <a:pt x="861380" y="861380"/>
                </a:lnTo>
                <a:lnTo>
                  <a:pt x="0" y="861380"/>
                </a:lnTo>
                <a:lnTo>
                  <a:pt x="0" y="0"/>
                </a:lnTo>
                <a:close/>
              </a:path>
            </a:pathLst>
          </a:custGeom>
          <a:blipFill>
            <a:blip r:embed="rId5"/>
            <a:stretch>
              <a:fillRect/>
            </a:stretch>
          </a:blipFill>
        </p:spPr>
      </p:sp>
      <p:sp>
        <p:nvSpPr>
          <p:cNvPr id="8" name="Freeform 8"/>
          <p:cNvSpPr/>
          <p:nvPr/>
        </p:nvSpPr>
        <p:spPr>
          <a:xfrm>
            <a:off x="13440745" y="3549671"/>
            <a:ext cx="861380" cy="861380"/>
          </a:xfrm>
          <a:custGeom>
            <a:avLst/>
            <a:gdLst/>
            <a:ahLst/>
            <a:cxnLst/>
            <a:rect l="l" t="t" r="r" b="b"/>
            <a:pathLst>
              <a:path w="861380" h="861380">
                <a:moveTo>
                  <a:pt x="0" y="0"/>
                </a:moveTo>
                <a:lnTo>
                  <a:pt x="861380" y="0"/>
                </a:lnTo>
                <a:lnTo>
                  <a:pt x="861380" y="861380"/>
                </a:lnTo>
                <a:lnTo>
                  <a:pt x="0" y="861380"/>
                </a:lnTo>
                <a:lnTo>
                  <a:pt x="0" y="0"/>
                </a:lnTo>
                <a:close/>
              </a:path>
            </a:pathLst>
          </a:custGeom>
          <a:blipFill>
            <a:blip r:embed="rId6"/>
            <a:stretch>
              <a:fillRect/>
            </a:stretch>
          </a:blipFill>
        </p:spPr>
      </p:sp>
      <p:sp>
        <p:nvSpPr>
          <p:cNvPr id="9" name="TextBox 9"/>
          <p:cNvSpPr txBox="1"/>
          <p:nvPr/>
        </p:nvSpPr>
        <p:spPr>
          <a:xfrm>
            <a:off x="2752387" y="1718946"/>
            <a:ext cx="12783226" cy="1177290"/>
          </a:xfrm>
          <a:prstGeom prst="rect">
            <a:avLst/>
          </a:prstGeom>
        </p:spPr>
        <p:txBody>
          <a:bodyPr lIns="0" tIns="0" rIns="0" bIns="0" rtlCol="0" anchor="t">
            <a:spAutoFit/>
          </a:bodyPr>
          <a:lstStyle/>
          <a:p>
            <a:pPr marL="0" lvl="1" indent="0" algn="ctr">
              <a:lnSpc>
                <a:spcPts val="8730"/>
              </a:lnSpc>
              <a:spcBef>
                <a:spcPct val="0"/>
              </a:spcBef>
            </a:pPr>
            <a:r>
              <a:rPr lang="en-US" sz="9000">
                <a:solidFill>
                  <a:srgbClr val="FFFFFF"/>
                </a:solidFill>
                <a:latin typeface="Archivo Black"/>
                <a:ea typeface="Archivo Black"/>
                <a:cs typeface="Archivo Black"/>
                <a:sym typeface="Archivo Black"/>
              </a:rPr>
              <a:t>App Integration</a:t>
            </a:r>
          </a:p>
        </p:txBody>
      </p:sp>
      <p:sp>
        <p:nvSpPr>
          <p:cNvPr id="10" name="TextBox 10"/>
          <p:cNvSpPr txBox="1"/>
          <p:nvPr/>
        </p:nvSpPr>
        <p:spPr>
          <a:xfrm>
            <a:off x="1206050" y="4914088"/>
            <a:ext cx="2197323" cy="679451"/>
          </a:xfrm>
          <a:prstGeom prst="rect">
            <a:avLst/>
          </a:prstGeom>
        </p:spPr>
        <p:txBody>
          <a:bodyPr lIns="0" tIns="0" rIns="0" bIns="0" rtlCol="0" anchor="t">
            <a:spAutoFit/>
          </a:bodyPr>
          <a:lstStyle/>
          <a:p>
            <a:pPr algn="l">
              <a:lnSpc>
                <a:spcPts val="5150"/>
              </a:lnSpc>
            </a:pPr>
            <a:r>
              <a:rPr lang="en-US" sz="5000" b="1">
                <a:solidFill>
                  <a:srgbClr val="FFFFFF"/>
                </a:solidFill>
                <a:latin typeface="Red Hat Display Bold"/>
                <a:ea typeface="Red Hat Display Bold"/>
                <a:cs typeface="Red Hat Display Bold"/>
                <a:sym typeface="Red Hat Display Bold"/>
              </a:rPr>
              <a:t>01</a:t>
            </a:r>
          </a:p>
        </p:txBody>
      </p:sp>
      <p:sp>
        <p:nvSpPr>
          <p:cNvPr id="11" name="TextBox 11"/>
          <p:cNvSpPr txBox="1"/>
          <p:nvPr/>
        </p:nvSpPr>
        <p:spPr>
          <a:xfrm>
            <a:off x="5500793" y="4902158"/>
            <a:ext cx="2197323" cy="679451"/>
          </a:xfrm>
          <a:prstGeom prst="rect">
            <a:avLst/>
          </a:prstGeom>
        </p:spPr>
        <p:txBody>
          <a:bodyPr lIns="0" tIns="0" rIns="0" bIns="0" rtlCol="0" anchor="t">
            <a:spAutoFit/>
          </a:bodyPr>
          <a:lstStyle/>
          <a:p>
            <a:pPr algn="l">
              <a:lnSpc>
                <a:spcPts val="5150"/>
              </a:lnSpc>
            </a:pPr>
            <a:r>
              <a:rPr lang="en-US" sz="5000" b="1">
                <a:solidFill>
                  <a:srgbClr val="FFFFFF"/>
                </a:solidFill>
                <a:latin typeface="Red Hat Display Bold"/>
                <a:ea typeface="Red Hat Display Bold"/>
                <a:cs typeface="Red Hat Display Bold"/>
                <a:sym typeface="Red Hat Display Bold"/>
              </a:rPr>
              <a:t>02</a:t>
            </a:r>
          </a:p>
        </p:txBody>
      </p:sp>
      <p:sp>
        <p:nvSpPr>
          <p:cNvPr id="12" name="TextBox 12"/>
          <p:cNvSpPr txBox="1"/>
          <p:nvPr/>
        </p:nvSpPr>
        <p:spPr>
          <a:xfrm>
            <a:off x="1188650" y="5709243"/>
            <a:ext cx="3688210" cy="3522345"/>
          </a:xfrm>
          <a:prstGeom prst="rect">
            <a:avLst/>
          </a:prstGeom>
        </p:spPr>
        <p:txBody>
          <a:bodyPr lIns="0" tIns="0" rIns="0" bIns="0" rtlCol="0" anchor="t">
            <a:spAutoFit/>
          </a:bodyPr>
          <a:lstStyle/>
          <a:p>
            <a:pPr algn="l">
              <a:lnSpc>
                <a:spcPts val="2340"/>
              </a:lnSpc>
            </a:pPr>
            <a:r>
              <a:rPr lang="en-US" sz="1500">
                <a:solidFill>
                  <a:srgbClr val="FFFFFF"/>
                </a:solidFill>
                <a:latin typeface="Red Hat Display"/>
                <a:ea typeface="Red Hat Display"/>
                <a:cs typeface="Red Hat Display"/>
                <a:sym typeface="Red Hat Display"/>
              </a:rPr>
              <a:t>Begin by setting up a cross-platform Flutter app with essential packages like dio for backend communication, file_picker for capturing multimodal inputs (images, audio), and audioplayers for playing audio responses. Ensure proper platform permissions are configured for accessing the microphone, storage, and camera. The UI should include a chat interface that supports text input, optional media upload, and response playback.</a:t>
            </a:r>
          </a:p>
          <a:p>
            <a:pPr algn="l">
              <a:lnSpc>
                <a:spcPts val="2340"/>
              </a:lnSpc>
            </a:pPr>
            <a:endParaRPr lang="en-US" sz="1500">
              <a:solidFill>
                <a:srgbClr val="FFFFFF"/>
              </a:solidFill>
              <a:latin typeface="Red Hat Display"/>
              <a:ea typeface="Red Hat Display"/>
              <a:cs typeface="Red Hat Display"/>
              <a:sym typeface="Red Hat Display"/>
            </a:endParaRPr>
          </a:p>
        </p:txBody>
      </p:sp>
      <p:sp>
        <p:nvSpPr>
          <p:cNvPr id="13" name="TextBox 13"/>
          <p:cNvSpPr txBox="1"/>
          <p:nvPr/>
        </p:nvSpPr>
        <p:spPr>
          <a:xfrm>
            <a:off x="5500793" y="5743533"/>
            <a:ext cx="3418662" cy="1750695"/>
          </a:xfrm>
          <a:prstGeom prst="rect">
            <a:avLst/>
          </a:prstGeom>
        </p:spPr>
        <p:txBody>
          <a:bodyPr lIns="0" tIns="0" rIns="0" bIns="0" rtlCol="0" anchor="t">
            <a:spAutoFit/>
          </a:bodyPr>
          <a:lstStyle/>
          <a:p>
            <a:pPr algn="l">
              <a:lnSpc>
                <a:spcPts val="2340"/>
              </a:lnSpc>
            </a:pPr>
            <a:r>
              <a:rPr lang="en-US" sz="1500">
                <a:solidFill>
                  <a:srgbClr val="FFFFFF"/>
                </a:solidFill>
                <a:latin typeface="Red Hat Display"/>
                <a:ea typeface="Red Hat Display"/>
                <a:cs typeface="Red Hat Display"/>
                <a:sym typeface="Red Hat Display"/>
              </a:rPr>
              <a:t>Develop a Flask (or FastAPI) backend with an endpoint, such as /chat, that receives text and optional media inputs. This endpoint routes the request through a multimodal RAG pipeline to generate a contextual response. </a:t>
            </a:r>
          </a:p>
        </p:txBody>
      </p:sp>
      <p:sp>
        <p:nvSpPr>
          <p:cNvPr id="14" name="TextBox 14"/>
          <p:cNvSpPr txBox="1"/>
          <p:nvPr/>
        </p:nvSpPr>
        <p:spPr>
          <a:xfrm>
            <a:off x="9224255" y="4902158"/>
            <a:ext cx="2197323" cy="679451"/>
          </a:xfrm>
          <a:prstGeom prst="rect">
            <a:avLst/>
          </a:prstGeom>
        </p:spPr>
        <p:txBody>
          <a:bodyPr lIns="0" tIns="0" rIns="0" bIns="0" rtlCol="0" anchor="t">
            <a:spAutoFit/>
          </a:bodyPr>
          <a:lstStyle/>
          <a:p>
            <a:pPr algn="l">
              <a:lnSpc>
                <a:spcPts val="5150"/>
              </a:lnSpc>
            </a:pPr>
            <a:r>
              <a:rPr lang="en-US" sz="5000" b="1">
                <a:solidFill>
                  <a:srgbClr val="FFFFFF"/>
                </a:solidFill>
                <a:latin typeface="Red Hat Display Bold"/>
                <a:ea typeface="Red Hat Display Bold"/>
                <a:cs typeface="Red Hat Display Bold"/>
                <a:sym typeface="Red Hat Display Bold"/>
              </a:rPr>
              <a:t>03</a:t>
            </a:r>
          </a:p>
        </p:txBody>
      </p:sp>
      <p:sp>
        <p:nvSpPr>
          <p:cNvPr id="15" name="TextBox 15"/>
          <p:cNvSpPr txBox="1"/>
          <p:nvPr/>
        </p:nvSpPr>
        <p:spPr>
          <a:xfrm>
            <a:off x="9224255" y="5743533"/>
            <a:ext cx="3902165" cy="3227070"/>
          </a:xfrm>
          <a:prstGeom prst="rect">
            <a:avLst/>
          </a:prstGeom>
        </p:spPr>
        <p:txBody>
          <a:bodyPr lIns="0" tIns="0" rIns="0" bIns="0" rtlCol="0" anchor="t">
            <a:spAutoFit/>
          </a:bodyPr>
          <a:lstStyle/>
          <a:p>
            <a:pPr algn="l">
              <a:lnSpc>
                <a:spcPts val="2340"/>
              </a:lnSpc>
            </a:pPr>
            <a:r>
              <a:rPr lang="en-US" sz="1500">
                <a:solidFill>
                  <a:srgbClr val="FFFFFF"/>
                </a:solidFill>
                <a:latin typeface="Red Hat Display"/>
                <a:ea typeface="Red Hat Display"/>
                <a:cs typeface="Red Hat Display"/>
                <a:sym typeface="Red Hat Display"/>
              </a:rPr>
              <a:t>In the Flutter app, create a POST request to the /chat endpoint, attaching user text and any selected image or audio using multipart/form-data. Upon receiving the response, extract the generated text for display in the chat and use AudioPlayer or an equivalent library to stream or play the TTS audio. This creates a seamless feedback loop between the user and the AI agent with both visual and auditory outputs.</a:t>
            </a:r>
          </a:p>
          <a:p>
            <a:pPr algn="l">
              <a:lnSpc>
                <a:spcPts val="2340"/>
              </a:lnSpc>
            </a:pPr>
            <a:endParaRPr lang="en-US" sz="1500">
              <a:solidFill>
                <a:srgbClr val="FFFFFF"/>
              </a:solidFill>
              <a:latin typeface="Red Hat Display"/>
              <a:ea typeface="Red Hat Display"/>
              <a:cs typeface="Red Hat Display"/>
              <a:sym typeface="Red Hat Display"/>
            </a:endParaRPr>
          </a:p>
        </p:txBody>
      </p:sp>
      <p:sp>
        <p:nvSpPr>
          <p:cNvPr id="16" name="TextBox 16"/>
          <p:cNvSpPr txBox="1"/>
          <p:nvPr/>
        </p:nvSpPr>
        <p:spPr>
          <a:xfrm>
            <a:off x="13459047" y="4902158"/>
            <a:ext cx="2197323" cy="679451"/>
          </a:xfrm>
          <a:prstGeom prst="rect">
            <a:avLst/>
          </a:prstGeom>
        </p:spPr>
        <p:txBody>
          <a:bodyPr lIns="0" tIns="0" rIns="0" bIns="0" rtlCol="0" anchor="t">
            <a:spAutoFit/>
          </a:bodyPr>
          <a:lstStyle/>
          <a:p>
            <a:pPr algn="l">
              <a:lnSpc>
                <a:spcPts val="5150"/>
              </a:lnSpc>
            </a:pPr>
            <a:r>
              <a:rPr lang="en-US" sz="5000" b="1">
                <a:solidFill>
                  <a:srgbClr val="FFFFFF"/>
                </a:solidFill>
                <a:latin typeface="Red Hat Display Bold"/>
                <a:ea typeface="Red Hat Display Bold"/>
                <a:cs typeface="Red Hat Display Bold"/>
                <a:sym typeface="Red Hat Display Bold"/>
              </a:rPr>
              <a:t>04</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flipH="1">
            <a:off x="-4255355" y="462151"/>
            <a:ext cx="12221289" cy="8822969"/>
          </a:xfrm>
          <a:custGeom>
            <a:avLst/>
            <a:gdLst/>
            <a:ahLst/>
            <a:cxnLst/>
            <a:rect l="l" t="t" r="r" b="b"/>
            <a:pathLst>
              <a:path w="12221289" h="8822969">
                <a:moveTo>
                  <a:pt x="12221289" y="0"/>
                </a:moveTo>
                <a:lnTo>
                  <a:pt x="0" y="0"/>
                </a:lnTo>
                <a:lnTo>
                  <a:pt x="0" y="8822968"/>
                </a:lnTo>
                <a:lnTo>
                  <a:pt x="12221289" y="8822968"/>
                </a:lnTo>
                <a:lnTo>
                  <a:pt x="12221289" y="0"/>
                </a:lnTo>
                <a:close/>
              </a:path>
            </a:pathLst>
          </a:custGeom>
          <a:blipFill>
            <a:blip r:embed="rId3"/>
            <a:stretch>
              <a:fillRect/>
            </a:stretch>
          </a:blipFill>
        </p:spPr>
      </p:sp>
      <p:sp>
        <p:nvSpPr>
          <p:cNvPr id="4" name="Freeform 4"/>
          <p:cNvSpPr/>
          <p:nvPr/>
        </p:nvSpPr>
        <p:spPr>
          <a:xfrm>
            <a:off x="16362880" y="8130249"/>
            <a:ext cx="896420" cy="896420"/>
          </a:xfrm>
          <a:custGeom>
            <a:avLst/>
            <a:gdLst/>
            <a:ahLst/>
            <a:cxnLst/>
            <a:rect l="l" t="t" r="r" b="b"/>
            <a:pathLst>
              <a:path w="896420" h="896420">
                <a:moveTo>
                  <a:pt x="0" y="0"/>
                </a:moveTo>
                <a:lnTo>
                  <a:pt x="896420" y="0"/>
                </a:lnTo>
                <a:lnTo>
                  <a:pt x="896420" y="896420"/>
                </a:lnTo>
                <a:lnTo>
                  <a:pt x="0" y="896420"/>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298213" y="2278186"/>
            <a:ext cx="7721165" cy="5171848"/>
            <a:chOff x="0" y="0"/>
            <a:chExt cx="10294887" cy="6895797"/>
          </a:xfrm>
        </p:grpSpPr>
        <p:grpSp>
          <p:nvGrpSpPr>
            <p:cNvPr id="6" name="Group 6"/>
            <p:cNvGrpSpPr/>
            <p:nvPr/>
          </p:nvGrpSpPr>
          <p:grpSpPr>
            <a:xfrm>
              <a:off x="0" y="0"/>
              <a:ext cx="10294887" cy="6895797"/>
              <a:chOff x="0" y="0"/>
              <a:chExt cx="2033558" cy="1362133"/>
            </a:xfrm>
          </p:grpSpPr>
          <p:sp>
            <p:nvSpPr>
              <p:cNvPr id="7" name="Freeform 7"/>
              <p:cNvSpPr/>
              <p:nvPr/>
            </p:nvSpPr>
            <p:spPr>
              <a:xfrm>
                <a:off x="0" y="0"/>
                <a:ext cx="2033558" cy="1362133"/>
              </a:xfrm>
              <a:custGeom>
                <a:avLst/>
                <a:gdLst/>
                <a:ahLst/>
                <a:cxnLst/>
                <a:rect l="l" t="t" r="r" b="b"/>
                <a:pathLst>
                  <a:path w="2033558" h="1362133">
                    <a:moveTo>
                      <a:pt x="20054" y="0"/>
                    </a:moveTo>
                    <a:lnTo>
                      <a:pt x="2013504" y="0"/>
                    </a:lnTo>
                    <a:cubicBezTo>
                      <a:pt x="2018823" y="0"/>
                      <a:pt x="2023923" y="2113"/>
                      <a:pt x="2027684" y="5874"/>
                    </a:cubicBezTo>
                    <a:cubicBezTo>
                      <a:pt x="2031445" y="9634"/>
                      <a:pt x="2033558" y="14735"/>
                      <a:pt x="2033558" y="20054"/>
                    </a:cubicBezTo>
                    <a:lnTo>
                      <a:pt x="2033558" y="1342079"/>
                    </a:lnTo>
                    <a:cubicBezTo>
                      <a:pt x="2033558" y="1353154"/>
                      <a:pt x="2024580" y="1362133"/>
                      <a:pt x="2013504" y="1362133"/>
                    </a:cubicBezTo>
                    <a:lnTo>
                      <a:pt x="20054" y="1362133"/>
                    </a:lnTo>
                    <a:cubicBezTo>
                      <a:pt x="8978" y="1362133"/>
                      <a:pt x="0" y="1353154"/>
                      <a:pt x="0" y="1342079"/>
                    </a:cubicBezTo>
                    <a:lnTo>
                      <a:pt x="0" y="20054"/>
                    </a:lnTo>
                    <a:cubicBezTo>
                      <a:pt x="0" y="8978"/>
                      <a:pt x="8978" y="0"/>
                      <a:pt x="20054" y="0"/>
                    </a:cubicBezTo>
                    <a:close/>
                  </a:path>
                </a:pathLst>
              </a:custGeom>
              <a:solidFill>
                <a:srgbClr val="04001E"/>
              </a:solidFill>
              <a:ln w="38100" cap="sq">
                <a:solidFill>
                  <a:srgbClr val="E5E1DA"/>
                </a:solidFill>
                <a:prstDash val="solid"/>
                <a:miter/>
              </a:ln>
            </p:spPr>
          </p:sp>
          <p:sp>
            <p:nvSpPr>
              <p:cNvPr id="8" name="TextBox 8"/>
              <p:cNvSpPr txBox="1"/>
              <p:nvPr/>
            </p:nvSpPr>
            <p:spPr>
              <a:xfrm>
                <a:off x="0" y="-38100"/>
                <a:ext cx="2033558" cy="1400233"/>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732111" y="1087110"/>
              <a:ext cx="8535626" cy="3951871"/>
            </a:xfrm>
            <a:prstGeom prst="rect">
              <a:avLst/>
            </a:prstGeom>
          </p:spPr>
          <p:txBody>
            <a:bodyPr lIns="0" tIns="0" rIns="0" bIns="0" rtlCol="0" anchor="t">
              <a:spAutoFit/>
            </a:bodyPr>
            <a:lstStyle/>
            <a:p>
              <a:pPr algn="just">
                <a:lnSpc>
                  <a:spcPts val="7566"/>
                </a:lnSpc>
              </a:pPr>
              <a:r>
                <a:rPr lang="en-US" sz="7800">
                  <a:solidFill>
                    <a:srgbClr val="F4F4ED"/>
                  </a:solidFill>
                  <a:latin typeface="Archivo Black"/>
                  <a:ea typeface="Archivo Black"/>
                  <a:cs typeface="Archivo Black"/>
                  <a:sym typeface="Archivo Black"/>
                </a:rPr>
                <a:t>Robustness</a:t>
              </a:r>
            </a:p>
            <a:p>
              <a:pPr algn="just">
                <a:lnSpc>
                  <a:spcPts val="7566"/>
                </a:lnSpc>
              </a:pPr>
              <a:r>
                <a:rPr lang="en-US" sz="7800">
                  <a:solidFill>
                    <a:srgbClr val="F4F4ED"/>
                  </a:solidFill>
                  <a:latin typeface="Archivo Black"/>
                  <a:ea typeface="Archivo Black"/>
                  <a:cs typeface="Archivo Black"/>
                  <a:sym typeface="Archivo Black"/>
                </a:rPr>
                <a:t>and</a:t>
              </a:r>
            </a:p>
            <a:p>
              <a:pPr algn="just">
                <a:lnSpc>
                  <a:spcPts val="7566"/>
                </a:lnSpc>
              </a:pPr>
              <a:r>
                <a:rPr lang="en-US" sz="7800">
                  <a:solidFill>
                    <a:srgbClr val="F4F4ED"/>
                  </a:solidFill>
                  <a:latin typeface="Archivo Black"/>
                  <a:ea typeface="Archivo Black"/>
                  <a:cs typeface="Archivo Black"/>
                  <a:sym typeface="Archivo Black"/>
                </a:rPr>
                <a:t>Scalability</a:t>
              </a:r>
            </a:p>
          </p:txBody>
        </p:sp>
        <p:sp>
          <p:nvSpPr>
            <p:cNvPr id="10" name="TextBox 10"/>
            <p:cNvSpPr txBox="1"/>
            <p:nvPr/>
          </p:nvSpPr>
          <p:spPr>
            <a:xfrm>
              <a:off x="827462" y="5525890"/>
              <a:ext cx="7715703" cy="445135"/>
            </a:xfrm>
            <a:prstGeom prst="rect">
              <a:avLst/>
            </a:prstGeom>
          </p:spPr>
          <p:txBody>
            <a:bodyPr lIns="0" tIns="0" rIns="0" bIns="0" rtlCol="0" anchor="t">
              <a:spAutoFit/>
            </a:bodyPr>
            <a:lstStyle/>
            <a:p>
              <a:pPr marL="0" lvl="0" indent="0" algn="l">
                <a:lnSpc>
                  <a:spcPts val="2834"/>
                </a:lnSpc>
                <a:spcBef>
                  <a:spcPct val="0"/>
                </a:spcBef>
              </a:pPr>
              <a:endParaRPr/>
            </a:p>
          </p:txBody>
        </p:sp>
      </p:grpSp>
      <p:sp>
        <p:nvSpPr>
          <p:cNvPr id="11" name="AutoShape 11"/>
          <p:cNvSpPr/>
          <p:nvPr/>
        </p:nvSpPr>
        <p:spPr>
          <a:xfrm flipV="1">
            <a:off x="8482550" y="-2607264"/>
            <a:ext cx="0" cy="15773061"/>
          </a:xfrm>
          <a:prstGeom prst="line">
            <a:avLst/>
          </a:prstGeom>
          <a:ln w="19050" cap="flat">
            <a:solidFill>
              <a:srgbClr val="F4F4ED"/>
            </a:solidFill>
            <a:prstDash val="solid"/>
            <a:headEnd type="none" w="sm" len="sm"/>
            <a:tailEnd type="none" w="sm" len="sm"/>
          </a:ln>
        </p:spPr>
      </p:sp>
      <p:grpSp>
        <p:nvGrpSpPr>
          <p:cNvPr id="12" name="Group 12"/>
          <p:cNvGrpSpPr/>
          <p:nvPr/>
        </p:nvGrpSpPr>
        <p:grpSpPr>
          <a:xfrm rot="-5400000">
            <a:off x="8285183" y="7065390"/>
            <a:ext cx="394734" cy="718264"/>
            <a:chOff x="0" y="0"/>
            <a:chExt cx="812800" cy="1478982"/>
          </a:xfrm>
        </p:grpSpPr>
        <p:sp>
          <p:nvSpPr>
            <p:cNvPr id="13" name="Freeform 13"/>
            <p:cNvSpPr/>
            <p:nvPr/>
          </p:nvSpPr>
          <p:spPr>
            <a:xfrm>
              <a:off x="0" y="0"/>
              <a:ext cx="812800" cy="1478982"/>
            </a:xfrm>
            <a:custGeom>
              <a:avLst/>
              <a:gdLst/>
              <a:ahLst/>
              <a:cxnLst/>
              <a:rect l="l" t="t" r="r" b="b"/>
              <a:pathLst>
                <a:path w="812800" h="1478982">
                  <a:moveTo>
                    <a:pt x="406400" y="0"/>
                  </a:moveTo>
                  <a:lnTo>
                    <a:pt x="535715" y="504187"/>
                  </a:lnTo>
                  <a:lnTo>
                    <a:pt x="812800" y="739491"/>
                  </a:lnTo>
                  <a:lnTo>
                    <a:pt x="535715" y="974794"/>
                  </a:lnTo>
                  <a:lnTo>
                    <a:pt x="406400" y="1478982"/>
                  </a:lnTo>
                  <a:lnTo>
                    <a:pt x="277085" y="974794"/>
                  </a:lnTo>
                  <a:lnTo>
                    <a:pt x="0" y="739491"/>
                  </a:lnTo>
                  <a:lnTo>
                    <a:pt x="277085" y="504187"/>
                  </a:lnTo>
                  <a:lnTo>
                    <a:pt x="406400" y="0"/>
                  </a:lnTo>
                  <a:close/>
                </a:path>
              </a:pathLst>
            </a:custGeom>
            <a:solidFill>
              <a:srgbClr val="FFFFFF"/>
            </a:solidFill>
            <a:ln cap="sq">
              <a:noFill/>
              <a:prstDash val="solid"/>
              <a:miter/>
            </a:ln>
          </p:spPr>
        </p:sp>
        <p:sp>
          <p:nvSpPr>
            <p:cNvPr id="14" name="TextBox 14"/>
            <p:cNvSpPr txBox="1"/>
            <p:nvPr/>
          </p:nvSpPr>
          <p:spPr>
            <a:xfrm>
              <a:off x="190500" y="384736"/>
              <a:ext cx="431800" cy="747609"/>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15" name="Group 15"/>
          <p:cNvGrpSpPr/>
          <p:nvPr/>
        </p:nvGrpSpPr>
        <p:grpSpPr>
          <a:xfrm rot="-5400000">
            <a:off x="8285183" y="4279917"/>
            <a:ext cx="394734" cy="718264"/>
            <a:chOff x="0" y="0"/>
            <a:chExt cx="812800" cy="1478982"/>
          </a:xfrm>
        </p:grpSpPr>
        <p:sp>
          <p:nvSpPr>
            <p:cNvPr id="16" name="Freeform 16"/>
            <p:cNvSpPr/>
            <p:nvPr/>
          </p:nvSpPr>
          <p:spPr>
            <a:xfrm>
              <a:off x="0" y="0"/>
              <a:ext cx="812800" cy="1478982"/>
            </a:xfrm>
            <a:custGeom>
              <a:avLst/>
              <a:gdLst/>
              <a:ahLst/>
              <a:cxnLst/>
              <a:rect l="l" t="t" r="r" b="b"/>
              <a:pathLst>
                <a:path w="812800" h="1478982">
                  <a:moveTo>
                    <a:pt x="406400" y="0"/>
                  </a:moveTo>
                  <a:lnTo>
                    <a:pt x="535715" y="504187"/>
                  </a:lnTo>
                  <a:lnTo>
                    <a:pt x="812800" y="739491"/>
                  </a:lnTo>
                  <a:lnTo>
                    <a:pt x="535715" y="974794"/>
                  </a:lnTo>
                  <a:lnTo>
                    <a:pt x="406400" y="1478982"/>
                  </a:lnTo>
                  <a:lnTo>
                    <a:pt x="277085" y="974794"/>
                  </a:lnTo>
                  <a:lnTo>
                    <a:pt x="0" y="739491"/>
                  </a:lnTo>
                  <a:lnTo>
                    <a:pt x="277085" y="504187"/>
                  </a:lnTo>
                  <a:lnTo>
                    <a:pt x="406400" y="0"/>
                  </a:lnTo>
                  <a:close/>
                </a:path>
              </a:pathLst>
            </a:custGeom>
            <a:solidFill>
              <a:srgbClr val="FFFFFF"/>
            </a:solidFill>
            <a:ln cap="sq">
              <a:noFill/>
              <a:prstDash val="solid"/>
              <a:miter/>
            </a:ln>
          </p:spPr>
        </p:sp>
        <p:sp>
          <p:nvSpPr>
            <p:cNvPr id="17" name="TextBox 17"/>
            <p:cNvSpPr txBox="1"/>
            <p:nvPr/>
          </p:nvSpPr>
          <p:spPr>
            <a:xfrm>
              <a:off x="190500" y="384736"/>
              <a:ext cx="431800" cy="747609"/>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18" name="Group 18"/>
          <p:cNvGrpSpPr/>
          <p:nvPr/>
        </p:nvGrpSpPr>
        <p:grpSpPr>
          <a:xfrm rot="-5400000">
            <a:off x="8285183" y="1379587"/>
            <a:ext cx="394734" cy="718264"/>
            <a:chOff x="0" y="0"/>
            <a:chExt cx="812800" cy="1478982"/>
          </a:xfrm>
        </p:grpSpPr>
        <p:sp>
          <p:nvSpPr>
            <p:cNvPr id="19" name="Freeform 19"/>
            <p:cNvSpPr/>
            <p:nvPr/>
          </p:nvSpPr>
          <p:spPr>
            <a:xfrm>
              <a:off x="0" y="0"/>
              <a:ext cx="812800" cy="1478982"/>
            </a:xfrm>
            <a:custGeom>
              <a:avLst/>
              <a:gdLst/>
              <a:ahLst/>
              <a:cxnLst/>
              <a:rect l="l" t="t" r="r" b="b"/>
              <a:pathLst>
                <a:path w="812800" h="1478982">
                  <a:moveTo>
                    <a:pt x="406400" y="0"/>
                  </a:moveTo>
                  <a:lnTo>
                    <a:pt x="535715" y="504187"/>
                  </a:lnTo>
                  <a:lnTo>
                    <a:pt x="812800" y="739491"/>
                  </a:lnTo>
                  <a:lnTo>
                    <a:pt x="535715" y="974794"/>
                  </a:lnTo>
                  <a:lnTo>
                    <a:pt x="406400" y="1478982"/>
                  </a:lnTo>
                  <a:lnTo>
                    <a:pt x="277085" y="974794"/>
                  </a:lnTo>
                  <a:lnTo>
                    <a:pt x="0" y="739491"/>
                  </a:lnTo>
                  <a:lnTo>
                    <a:pt x="277085" y="504187"/>
                  </a:lnTo>
                  <a:lnTo>
                    <a:pt x="406400" y="0"/>
                  </a:lnTo>
                  <a:close/>
                </a:path>
              </a:pathLst>
            </a:custGeom>
            <a:solidFill>
              <a:srgbClr val="FFFFFF"/>
            </a:solidFill>
            <a:ln cap="sq">
              <a:noFill/>
              <a:prstDash val="solid"/>
              <a:miter/>
            </a:ln>
          </p:spPr>
        </p:sp>
        <p:sp>
          <p:nvSpPr>
            <p:cNvPr id="20" name="TextBox 20"/>
            <p:cNvSpPr txBox="1"/>
            <p:nvPr/>
          </p:nvSpPr>
          <p:spPr>
            <a:xfrm>
              <a:off x="190500" y="384736"/>
              <a:ext cx="431800" cy="747609"/>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21" name="Group 21"/>
          <p:cNvGrpSpPr/>
          <p:nvPr/>
        </p:nvGrpSpPr>
        <p:grpSpPr>
          <a:xfrm>
            <a:off x="9321397" y="1095257"/>
            <a:ext cx="8216916" cy="2561528"/>
            <a:chOff x="0" y="0"/>
            <a:chExt cx="2750680" cy="857492"/>
          </a:xfrm>
        </p:grpSpPr>
        <p:sp>
          <p:nvSpPr>
            <p:cNvPr id="22" name="Freeform 22"/>
            <p:cNvSpPr/>
            <p:nvPr/>
          </p:nvSpPr>
          <p:spPr>
            <a:xfrm>
              <a:off x="0" y="0"/>
              <a:ext cx="2750680" cy="857492"/>
            </a:xfrm>
            <a:custGeom>
              <a:avLst/>
              <a:gdLst/>
              <a:ahLst/>
              <a:cxnLst/>
              <a:rect l="l" t="t" r="r" b="b"/>
              <a:pathLst>
                <a:path w="2750680" h="857492">
                  <a:moveTo>
                    <a:pt x="18844" y="0"/>
                  </a:moveTo>
                  <a:lnTo>
                    <a:pt x="2731836" y="0"/>
                  </a:lnTo>
                  <a:cubicBezTo>
                    <a:pt x="2736834" y="0"/>
                    <a:pt x="2741627" y="1985"/>
                    <a:pt x="2745161" y="5519"/>
                  </a:cubicBezTo>
                  <a:cubicBezTo>
                    <a:pt x="2748695" y="9053"/>
                    <a:pt x="2750680" y="13846"/>
                    <a:pt x="2750680" y="18844"/>
                  </a:cubicBezTo>
                  <a:lnTo>
                    <a:pt x="2750680" y="838649"/>
                  </a:lnTo>
                  <a:cubicBezTo>
                    <a:pt x="2750680" y="843646"/>
                    <a:pt x="2748695" y="848439"/>
                    <a:pt x="2745161" y="851973"/>
                  </a:cubicBezTo>
                  <a:cubicBezTo>
                    <a:pt x="2741627" y="855507"/>
                    <a:pt x="2736834" y="857492"/>
                    <a:pt x="2731836" y="857492"/>
                  </a:cubicBezTo>
                  <a:lnTo>
                    <a:pt x="18844" y="857492"/>
                  </a:lnTo>
                  <a:cubicBezTo>
                    <a:pt x="13846" y="857492"/>
                    <a:pt x="9053" y="855507"/>
                    <a:pt x="5519" y="851973"/>
                  </a:cubicBezTo>
                  <a:cubicBezTo>
                    <a:pt x="1985" y="848439"/>
                    <a:pt x="0" y="843646"/>
                    <a:pt x="0" y="838649"/>
                  </a:cubicBezTo>
                  <a:lnTo>
                    <a:pt x="0" y="18844"/>
                  </a:lnTo>
                  <a:cubicBezTo>
                    <a:pt x="0" y="13846"/>
                    <a:pt x="1985" y="9053"/>
                    <a:pt x="5519" y="5519"/>
                  </a:cubicBezTo>
                  <a:cubicBezTo>
                    <a:pt x="9053" y="1985"/>
                    <a:pt x="13846" y="0"/>
                    <a:pt x="18844" y="0"/>
                  </a:cubicBezTo>
                  <a:close/>
                </a:path>
              </a:pathLst>
            </a:custGeom>
            <a:solidFill>
              <a:srgbClr val="04001E"/>
            </a:solidFill>
            <a:ln w="38100" cap="sq">
              <a:solidFill>
                <a:srgbClr val="E5E1DA"/>
              </a:solidFill>
              <a:prstDash val="solid"/>
              <a:miter/>
            </a:ln>
          </p:spPr>
        </p:sp>
        <p:sp>
          <p:nvSpPr>
            <p:cNvPr id="23" name="TextBox 23"/>
            <p:cNvSpPr txBox="1"/>
            <p:nvPr/>
          </p:nvSpPr>
          <p:spPr>
            <a:xfrm>
              <a:off x="0" y="-38100"/>
              <a:ext cx="2750680" cy="89559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4" name="Group 24"/>
          <p:cNvGrpSpPr/>
          <p:nvPr/>
        </p:nvGrpSpPr>
        <p:grpSpPr>
          <a:xfrm>
            <a:off x="9321397" y="3862348"/>
            <a:ext cx="8216916" cy="2091693"/>
            <a:chOff x="0" y="0"/>
            <a:chExt cx="2750680" cy="700211"/>
          </a:xfrm>
        </p:grpSpPr>
        <p:sp>
          <p:nvSpPr>
            <p:cNvPr id="25" name="Freeform 25"/>
            <p:cNvSpPr/>
            <p:nvPr/>
          </p:nvSpPr>
          <p:spPr>
            <a:xfrm>
              <a:off x="0" y="0"/>
              <a:ext cx="2750680" cy="700211"/>
            </a:xfrm>
            <a:custGeom>
              <a:avLst/>
              <a:gdLst/>
              <a:ahLst/>
              <a:cxnLst/>
              <a:rect l="l" t="t" r="r" b="b"/>
              <a:pathLst>
                <a:path w="2750680" h="700211">
                  <a:moveTo>
                    <a:pt x="18844" y="0"/>
                  </a:moveTo>
                  <a:lnTo>
                    <a:pt x="2731836" y="0"/>
                  </a:lnTo>
                  <a:cubicBezTo>
                    <a:pt x="2736834" y="0"/>
                    <a:pt x="2741627" y="1985"/>
                    <a:pt x="2745161" y="5519"/>
                  </a:cubicBezTo>
                  <a:cubicBezTo>
                    <a:pt x="2748695" y="9053"/>
                    <a:pt x="2750680" y="13846"/>
                    <a:pt x="2750680" y="18844"/>
                  </a:cubicBezTo>
                  <a:lnTo>
                    <a:pt x="2750680" y="681367"/>
                  </a:lnTo>
                  <a:cubicBezTo>
                    <a:pt x="2750680" y="686365"/>
                    <a:pt x="2748695" y="691158"/>
                    <a:pt x="2745161" y="694692"/>
                  </a:cubicBezTo>
                  <a:cubicBezTo>
                    <a:pt x="2741627" y="698226"/>
                    <a:pt x="2736834" y="700211"/>
                    <a:pt x="2731836" y="700211"/>
                  </a:cubicBezTo>
                  <a:lnTo>
                    <a:pt x="18844" y="700211"/>
                  </a:lnTo>
                  <a:cubicBezTo>
                    <a:pt x="13846" y="700211"/>
                    <a:pt x="9053" y="698226"/>
                    <a:pt x="5519" y="694692"/>
                  </a:cubicBezTo>
                  <a:cubicBezTo>
                    <a:pt x="1985" y="691158"/>
                    <a:pt x="0" y="686365"/>
                    <a:pt x="0" y="681367"/>
                  </a:cubicBezTo>
                  <a:lnTo>
                    <a:pt x="0" y="18844"/>
                  </a:lnTo>
                  <a:cubicBezTo>
                    <a:pt x="0" y="13846"/>
                    <a:pt x="1985" y="9053"/>
                    <a:pt x="5519" y="5519"/>
                  </a:cubicBezTo>
                  <a:cubicBezTo>
                    <a:pt x="9053" y="1985"/>
                    <a:pt x="13846" y="0"/>
                    <a:pt x="18844" y="0"/>
                  </a:cubicBezTo>
                  <a:close/>
                </a:path>
              </a:pathLst>
            </a:custGeom>
            <a:solidFill>
              <a:srgbClr val="04001E"/>
            </a:solidFill>
            <a:ln w="38100" cap="sq">
              <a:solidFill>
                <a:srgbClr val="E5E1DA"/>
              </a:solidFill>
              <a:prstDash val="solid"/>
              <a:miter/>
            </a:ln>
          </p:spPr>
        </p:sp>
        <p:sp>
          <p:nvSpPr>
            <p:cNvPr id="26" name="TextBox 26"/>
            <p:cNvSpPr txBox="1"/>
            <p:nvPr/>
          </p:nvSpPr>
          <p:spPr>
            <a:xfrm>
              <a:off x="0" y="-38100"/>
              <a:ext cx="2750680" cy="73831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7" name="Group 27"/>
          <p:cNvGrpSpPr/>
          <p:nvPr/>
        </p:nvGrpSpPr>
        <p:grpSpPr>
          <a:xfrm>
            <a:off x="9321397" y="6296941"/>
            <a:ext cx="8216916" cy="2898013"/>
            <a:chOff x="0" y="0"/>
            <a:chExt cx="2750680" cy="970134"/>
          </a:xfrm>
        </p:grpSpPr>
        <p:sp>
          <p:nvSpPr>
            <p:cNvPr id="28" name="Freeform 28"/>
            <p:cNvSpPr/>
            <p:nvPr/>
          </p:nvSpPr>
          <p:spPr>
            <a:xfrm>
              <a:off x="0" y="0"/>
              <a:ext cx="2750680" cy="970134"/>
            </a:xfrm>
            <a:custGeom>
              <a:avLst/>
              <a:gdLst/>
              <a:ahLst/>
              <a:cxnLst/>
              <a:rect l="l" t="t" r="r" b="b"/>
              <a:pathLst>
                <a:path w="2750680" h="970134">
                  <a:moveTo>
                    <a:pt x="18844" y="0"/>
                  </a:moveTo>
                  <a:lnTo>
                    <a:pt x="2731836" y="0"/>
                  </a:lnTo>
                  <a:cubicBezTo>
                    <a:pt x="2736834" y="0"/>
                    <a:pt x="2741627" y="1985"/>
                    <a:pt x="2745161" y="5519"/>
                  </a:cubicBezTo>
                  <a:cubicBezTo>
                    <a:pt x="2748695" y="9053"/>
                    <a:pt x="2750680" y="13846"/>
                    <a:pt x="2750680" y="18844"/>
                  </a:cubicBezTo>
                  <a:lnTo>
                    <a:pt x="2750680" y="951290"/>
                  </a:lnTo>
                  <a:cubicBezTo>
                    <a:pt x="2750680" y="956287"/>
                    <a:pt x="2748695" y="961080"/>
                    <a:pt x="2745161" y="964614"/>
                  </a:cubicBezTo>
                  <a:cubicBezTo>
                    <a:pt x="2741627" y="968148"/>
                    <a:pt x="2736834" y="970134"/>
                    <a:pt x="2731836" y="970134"/>
                  </a:cubicBezTo>
                  <a:lnTo>
                    <a:pt x="18844" y="970134"/>
                  </a:lnTo>
                  <a:cubicBezTo>
                    <a:pt x="13846" y="970134"/>
                    <a:pt x="9053" y="968148"/>
                    <a:pt x="5519" y="964614"/>
                  </a:cubicBezTo>
                  <a:cubicBezTo>
                    <a:pt x="1985" y="961080"/>
                    <a:pt x="0" y="956287"/>
                    <a:pt x="0" y="951290"/>
                  </a:cubicBezTo>
                  <a:lnTo>
                    <a:pt x="0" y="18844"/>
                  </a:lnTo>
                  <a:cubicBezTo>
                    <a:pt x="0" y="13846"/>
                    <a:pt x="1985" y="9053"/>
                    <a:pt x="5519" y="5519"/>
                  </a:cubicBezTo>
                  <a:cubicBezTo>
                    <a:pt x="9053" y="1985"/>
                    <a:pt x="13846" y="0"/>
                    <a:pt x="18844" y="0"/>
                  </a:cubicBezTo>
                  <a:close/>
                </a:path>
              </a:pathLst>
            </a:custGeom>
            <a:solidFill>
              <a:srgbClr val="04001E"/>
            </a:solidFill>
            <a:ln w="38100" cap="sq">
              <a:solidFill>
                <a:srgbClr val="E5E1DA"/>
              </a:solidFill>
              <a:prstDash val="solid"/>
              <a:miter/>
            </a:ln>
          </p:spPr>
        </p:sp>
        <p:sp>
          <p:nvSpPr>
            <p:cNvPr id="29" name="TextBox 29"/>
            <p:cNvSpPr txBox="1"/>
            <p:nvPr/>
          </p:nvSpPr>
          <p:spPr>
            <a:xfrm>
              <a:off x="0" y="-38100"/>
              <a:ext cx="2750680" cy="100823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30" name="TextBox 30"/>
          <p:cNvSpPr txBox="1"/>
          <p:nvPr/>
        </p:nvSpPr>
        <p:spPr>
          <a:xfrm>
            <a:off x="9568708" y="6443916"/>
            <a:ext cx="7722293" cy="2571211"/>
          </a:xfrm>
          <a:prstGeom prst="rect">
            <a:avLst/>
          </a:prstGeom>
        </p:spPr>
        <p:txBody>
          <a:bodyPr lIns="0" tIns="0" rIns="0" bIns="0" rtlCol="0" anchor="t">
            <a:spAutoFit/>
          </a:bodyPr>
          <a:lstStyle/>
          <a:p>
            <a:pPr marL="0" lvl="0" indent="0" algn="just">
              <a:lnSpc>
                <a:spcPts val="3413"/>
              </a:lnSpc>
              <a:spcBef>
                <a:spcPct val="0"/>
              </a:spcBef>
            </a:pPr>
            <a:r>
              <a:rPr lang="en-US" sz="2528" spc="40">
                <a:solidFill>
                  <a:srgbClr val="FFFFFF"/>
                </a:solidFill>
                <a:latin typeface="Red Hat Display"/>
                <a:ea typeface="Red Hat Display"/>
                <a:cs typeface="Red Hat Display"/>
                <a:sym typeface="Red Hat Display"/>
              </a:rPr>
              <a:t>To </a:t>
            </a:r>
            <a:r>
              <a:rPr lang="en-US" sz="2528" u="none" spc="40">
                <a:solidFill>
                  <a:srgbClr val="FFFFFF"/>
                </a:solidFill>
                <a:latin typeface="Red Hat Display"/>
                <a:ea typeface="Red Hat Display"/>
                <a:cs typeface="Red Hat Display"/>
                <a:sym typeface="Red Hat Display"/>
              </a:rPr>
              <a:t>ensure scalability, we used database in our n8n architecture for efficient storage of session data, logs, enabling stateful recovery and high reliability under load. The system is containerized using Docker, allowing  scaling and consistent deployments.</a:t>
            </a:r>
          </a:p>
        </p:txBody>
      </p:sp>
      <p:sp>
        <p:nvSpPr>
          <p:cNvPr id="31" name="TextBox 31"/>
          <p:cNvSpPr txBox="1"/>
          <p:nvPr/>
        </p:nvSpPr>
        <p:spPr>
          <a:xfrm>
            <a:off x="9568708" y="4110952"/>
            <a:ext cx="7722293" cy="1477741"/>
          </a:xfrm>
          <a:prstGeom prst="rect">
            <a:avLst/>
          </a:prstGeom>
        </p:spPr>
        <p:txBody>
          <a:bodyPr lIns="0" tIns="0" rIns="0" bIns="0" rtlCol="0" anchor="t">
            <a:spAutoFit/>
          </a:bodyPr>
          <a:lstStyle/>
          <a:p>
            <a:pPr marL="0" lvl="0" indent="0" algn="just">
              <a:lnSpc>
                <a:spcPts val="3953"/>
              </a:lnSpc>
              <a:spcBef>
                <a:spcPct val="0"/>
              </a:spcBef>
            </a:pPr>
            <a:r>
              <a:rPr lang="en-US" sz="2928" spc="46">
                <a:solidFill>
                  <a:srgbClr val="FFFFFF"/>
                </a:solidFill>
                <a:latin typeface="Red Hat Display"/>
                <a:ea typeface="Red Hat Display"/>
                <a:cs typeface="Red Hat Display"/>
                <a:sym typeface="Red Hat Display"/>
              </a:rPr>
              <a:t>Since all tools and features added work parallely with the input processing, it is easy to add more tools or cases to the system.</a:t>
            </a:r>
          </a:p>
        </p:txBody>
      </p:sp>
      <p:sp>
        <p:nvSpPr>
          <p:cNvPr id="32" name="TextBox 32"/>
          <p:cNvSpPr txBox="1"/>
          <p:nvPr/>
        </p:nvSpPr>
        <p:spPr>
          <a:xfrm>
            <a:off x="9568708" y="1356435"/>
            <a:ext cx="7722293" cy="2030191"/>
          </a:xfrm>
          <a:prstGeom prst="rect">
            <a:avLst/>
          </a:prstGeom>
        </p:spPr>
        <p:txBody>
          <a:bodyPr lIns="0" tIns="0" rIns="0" bIns="0" rtlCol="0" anchor="t">
            <a:spAutoFit/>
          </a:bodyPr>
          <a:lstStyle/>
          <a:p>
            <a:pPr marL="0" lvl="0" indent="0" algn="just">
              <a:lnSpc>
                <a:spcPts val="3278"/>
              </a:lnSpc>
              <a:spcBef>
                <a:spcPct val="0"/>
              </a:spcBef>
            </a:pPr>
            <a:r>
              <a:rPr lang="en-US" sz="2428" spc="38">
                <a:solidFill>
                  <a:srgbClr val="FFFFFF"/>
                </a:solidFill>
                <a:latin typeface="Red Hat Display"/>
                <a:ea typeface="Red Hat Display"/>
                <a:cs typeface="Red Hat Display"/>
                <a:sym typeface="Red Hat Display"/>
              </a:rPr>
              <a:t>The system ensures stability via input validation, multimodal normalization, and self-correcting logic. It refines vague queries, verifies document relevance, and rejects hallucinated answers. Robust error handling and state tracking allow graceful recovery.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flipH="1">
            <a:off x="-4691420" y="273582"/>
            <a:ext cx="12221289" cy="8822969"/>
          </a:xfrm>
          <a:custGeom>
            <a:avLst/>
            <a:gdLst/>
            <a:ahLst/>
            <a:cxnLst/>
            <a:rect l="l" t="t" r="r" b="b"/>
            <a:pathLst>
              <a:path w="12221289" h="8822969">
                <a:moveTo>
                  <a:pt x="12221290" y="0"/>
                </a:moveTo>
                <a:lnTo>
                  <a:pt x="0" y="0"/>
                </a:lnTo>
                <a:lnTo>
                  <a:pt x="0" y="8822969"/>
                </a:lnTo>
                <a:lnTo>
                  <a:pt x="12221290" y="8822969"/>
                </a:lnTo>
                <a:lnTo>
                  <a:pt x="12221290" y="0"/>
                </a:lnTo>
                <a:close/>
              </a:path>
            </a:pathLst>
          </a:custGeom>
          <a:blipFill>
            <a:blip r:embed="rId3"/>
            <a:stretch>
              <a:fillRect/>
            </a:stretch>
          </a:blipFill>
        </p:spPr>
      </p:sp>
      <p:grpSp>
        <p:nvGrpSpPr>
          <p:cNvPr id="4" name="Group 4"/>
          <p:cNvGrpSpPr/>
          <p:nvPr/>
        </p:nvGrpSpPr>
        <p:grpSpPr>
          <a:xfrm>
            <a:off x="1638562" y="1966786"/>
            <a:ext cx="6796031" cy="3559266"/>
            <a:chOff x="0" y="0"/>
            <a:chExt cx="1414679" cy="740906"/>
          </a:xfrm>
        </p:grpSpPr>
        <p:sp>
          <p:nvSpPr>
            <p:cNvPr id="5" name="Freeform 5"/>
            <p:cNvSpPr/>
            <p:nvPr/>
          </p:nvSpPr>
          <p:spPr>
            <a:xfrm>
              <a:off x="0" y="0"/>
              <a:ext cx="1414679" cy="740906"/>
            </a:xfrm>
            <a:custGeom>
              <a:avLst/>
              <a:gdLst/>
              <a:ahLst/>
              <a:cxnLst/>
              <a:rect l="l" t="t" r="r" b="b"/>
              <a:pathLst>
                <a:path w="1414679" h="740906">
                  <a:moveTo>
                    <a:pt x="22784" y="0"/>
                  </a:moveTo>
                  <a:lnTo>
                    <a:pt x="1391895" y="0"/>
                  </a:lnTo>
                  <a:cubicBezTo>
                    <a:pt x="1404479" y="0"/>
                    <a:pt x="1414679" y="10201"/>
                    <a:pt x="1414679" y="22784"/>
                  </a:cubicBezTo>
                  <a:lnTo>
                    <a:pt x="1414679" y="718122"/>
                  </a:lnTo>
                  <a:cubicBezTo>
                    <a:pt x="1414679" y="730705"/>
                    <a:pt x="1404479" y="740906"/>
                    <a:pt x="1391895" y="740906"/>
                  </a:cubicBezTo>
                  <a:lnTo>
                    <a:pt x="22784" y="740906"/>
                  </a:lnTo>
                  <a:cubicBezTo>
                    <a:pt x="10201" y="740906"/>
                    <a:pt x="0" y="730705"/>
                    <a:pt x="0" y="718122"/>
                  </a:cubicBezTo>
                  <a:lnTo>
                    <a:pt x="0" y="22784"/>
                  </a:lnTo>
                  <a:cubicBezTo>
                    <a:pt x="0" y="10201"/>
                    <a:pt x="10201" y="0"/>
                    <a:pt x="22784" y="0"/>
                  </a:cubicBezTo>
                  <a:close/>
                </a:path>
              </a:pathLst>
            </a:custGeom>
            <a:solidFill>
              <a:srgbClr val="04001E"/>
            </a:solidFill>
            <a:ln w="38100" cap="sq">
              <a:solidFill>
                <a:srgbClr val="E5E1DA"/>
              </a:solidFill>
              <a:prstDash val="solid"/>
              <a:miter/>
            </a:ln>
          </p:spPr>
        </p:sp>
        <p:sp>
          <p:nvSpPr>
            <p:cNvPr id="6" name="TextBox 6"/>
            <p:cNvSpPr txBox="1"/>
            <p:nvPr/>
          </p:nvSpPr>
          <p:spPr>
            <a:xfrm>
              <a:off x="0" y="-38100"/>
              <a:ext cx="1414679" cy="77900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7" name="Group 7"/>
          <p:cNvGrpSpPr/>
          <p:nvPr/>
        </p:nvGrpSpPr>
        <p:grpSpPr>
          <a:xfrm>
            <a:off x="1638562" y="6075616"/>
            <a:ext cx="6796031" cy="3559266"/>
            <a:chOff x="0" y="0"/>
            <a:chExt cx="1414679" cy="740906"/>
          </a:xfrm>
        </p:grpSpPr>
        <p:sp>
          <p:nvSpPr>
            <p:cNvPr id="8" name="Freeform 8"/>
            <p:cNvSpPr/>
            <p:nvPr/>
          </p:nvSpPr>
          <p:spPr>
            <a:xfrm>
              <a:off x="0" y="0"/>
              <a:ext cx="1414679" cy="740906"/>
            </a:xfrm>
            <a:custGeom>
              <a:avLst/>
              <a:gdLst/>
              <a:ahLst/>
              <a:cxnLst/>
              <a:rect l="l" t="t" r="r" b="b"/>
              <a:pathLst>
                <a:path w="1414679" h="740906">
                  <a:moveTo>
                    <a:pt x="22784" y="0"/>
                  </a:moveTo>
                  <a:lnTo>
                    <a:pt x="1391895" y="0"/>
                  </a:lnTo>
                  <a:cubicBezTo>
                    <a:pt x="1404479" y="0"/>
                    <a:pt x="1414679" y="10201"/>
                    <a:pt x="1414679" y="22784"/>
                  </a:cubicBezTo>
                  <a:lnTo>
                    <a:pt x="1414679" y="718122"/>
                  </a:lnTo>
                  <a:cubicBezTo>
                    <a:pt x="1414679" y="730705"/>
                    <a:pt x="1404479" y="740906"/>
                    <a:pt x="1391895" y="740906"/>
                  </a:cubicBezTo>
                  <a:lnTo>
                    <a:pt x="22784" y="740906"/>
                  </a:lnTo>
                  <a:cubicBezTo>
                    <a:pt x="10201" y="740906"/>
                    <a:pt x="0" y="730705"/>
                    <a:pt x="0" y="718122"/>
                  </a:cubicBezTo>
                  <a:lnTo>
                    <a:pt x="0" y="22784"/>
                  </a:lnTo>
                  <a:cubicBezTo>
                    <a:pt x="0" y="10201"/>
                    <a:pt x="10201" y="0"/>
                    <a:pt x="22784" y="0"/>
                  </a:cubicBezTo>
                  <a:close/>
                </a:path>
              </a:pathLst>
            </a:custGeom>
            <a:solidFill>
              <a:srgbClr val="04001E"/>
            </a:solidFill>
            <a:ln w="38100" cap="sq">
              <a:solidFill>
                <a:srgbClr val="E5E1DA"/>
              </a:solidFill>
              <a:prstDash val="solid"/>
              <a:miter/>
            </a:ln>
          </p:spPr>
        </p:sp>
        <p:sp>
          <p:nvSpPr>
            <p:cNvPr id="9" name="TextBox 9"/>
            <p:cNvSpPr txBox="1"/>
            <p:nvPr/>
          </p:nvSpPr>
          <p:spPr>
            <a:xfrm>
              <a:off x="0" y="-38100"/>
              <a:ext cx="1414679" cy="77900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0" name="Group 10"/>
          <p:cNvGrpSpPr/>
          <p:nvPr/>
        </p:nvGrpSpPr>
        <p:grpSpPr>
          <a:xfrm>
            <a:off x="9278702" y="1966786"/>
            <a:ext cx="6796031" cy="3559266"/>
            <a:chOff x="0" y="0"/>
            <a:chExt cx="1414679" cy="740906"/>
          </a:xfrm>
        </p:grpSpPr>
        <p:sp>
          <p:nvSpPr>
            <p:cNvPr id="11" name="Freeform 11"/>
            <p:cNvSpPr/>
            <p:nvPr/>
          </p:nvSpPr>
          <p:spPr>
            <a:xfrm>
              <a:off x="0" y="0"/>
              <a:ext cx="1414679" cy="740906"/>
            </a:xfrm>
            <a:custGeom>
              <a:avLst/>
              <a:gdLst/>
              <a:ahLst/>
              <a:cxnLst/>
              <a:rect l="l" t="t" r="r" b="b"/>
              <a:pathLst>
                <a:path w="1414679" h="740906">
                  <a:moveTo>
                    <a:pt x="22784" y="0"/>
                  </a:moveTo>
                  <a:lnTo>
                    <a:pt x="1391895" y="0"/>
                  </a:lnTo>
                  <a:cubicBezTo>
                    <a:pt x="1404479" y="0"/>
                    <a:pt x="1414679" y="10201"/>
                    <a:pt x="1414679" y="22784"/>
                  </a:cubicBezTo>
                  <a:lnTo>
                    <a:pt x="1414679" y="718122"/>
                  </a:lnTo>
                  <a:cubicBezTo>
                    <a:pt x="1414679" y="730705"/>
                    <a:pt x="1404479" y="740906"/>
                    <a:pt x="1391895" y="740906"/>
                  </a:cubicBezTo>
                  <a:lnTo>
                    <a:pt x="22784" y="740906"/>
                  </a:lnTo>
                  <a:cubicBezTo>
                    <a:pt x="10201" y="740906"/>
                    <a:pt x="0" y="730705"/>
                    <a:pt x="0" y="718122"/>
                  </a:cubicBezTo>
                  <a:lnTo>
                    <a:pt x="0" y="22784"/>
                  </a:lnTo>
                  <a:cubicBezTo>
                    <a:pt x="0" y="10201"/>
                    <a:pt x="10201" y="0"/>
                    <a:pt x="22784" y="0"/>
                  </a:cubicBezTo>
                  <a:close/>
                </a:path>
              </a:pathLst>
            </a:custGeom>
            <a:solidFill>
              <a:srgbClr val="04001E"/>
            </a:solidFill>
            <a:ln w="38100" cap="sq">
              <a:solidFill>
                <a:srgbClr val="E5E1DA"/>
              </a:solidFill>
              <a:prstDash val="solid"/>
              <a:miter/>
            </a:ln>
          </p:spPr>
        </p:sp>
        <p:sp>
          <p:nvSpPr>
            <p:cNvPr id="12" name="TextBox 12"/>
            <p:cNvSpPr txBox="1"/>
            <p:nvPr/>
          </p:nvSpPr>
          <p:spPr>
            <a:xfrm>
              <a:off x="0" y="-38100"/>
              <a:ext cx="1414679" cy="77900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3" name="Group 13"/>
          <p:cNvGrpSpPr/>
          <p:nvPr/>
        </p:nvGrpSpPr>
        <p:grpSpPr>
          <a:xfrm>
            <a:off x="9278702" y="6075616"/>
            <a:ext cx="6796031" cy="3559266"/>
            <a:chOff x="0" y="0"/>
            <a:chExt cx="1414679" cy="740906"/>
          </a:xfrm>
        </p:grpSpPr>
        <p:sp>
          <p:nvSpPr>
            <p:cNvPr id="14" name="Freeform 14"/>
            <p:cNvSpPr/>
            <p:nvPr/>
          </p:nvSpPr>
          <p:spPr>
            <a:xfrm>
              <a:off x="0" y="0"/>
              <a:ext cx="1414679" cy="740906"/>
            </a:xfrm>
            <a:custGeom>
              <a:avLst/>
              <a:gdLst/>
              <a:ahLst/>
              <a:cxnLst/>
              <a:rect l="l" t="t" r="r" b="b"/>
              <a:pathLst>
                <a:path w="1414679" h="740906">
                  <a:moveTo>
                    <a:pt x="22784" y="0"/>
                  </a:moveTo>
                  <a:lnTo>
                    <a:pt x="1391895" y="0"/>
                  </a:lnTo>
                  <a:cubicBezTo>
                    <a:pt x="1404479" y="0"/>
                    <a:pt x="1414679" y="10201"/>
                    <a:pt x="1414679" y="22784"/>
                  </a:cubicBezTo>
                  <a:lnTo>
                    <a:pt x="1414679" y="718122"/>
                  </a:lnTo>
                  <a:cubicBezTo>
                    <a:pt x="1414679" y="730705"/>
                    <a:pt x="1404479" y="740906"/>
                    <a:pt x="1391895" y="740906"/>
                  </a:cubicBezTo>
                  <a:lnTo>
                    <a:pt x="22784" y="740906"/>
                  </a:lnTo>
                  <a:cubicBezTo>
                    <a:pt x="10201" y="740906"/>
                    <a:pt x="0" y="730705"/>
                    <a:pt x="0" y="718122"/>
                  </a:cubicBezTo>
                  <a:lnTo>
                    <a:pt x="0" y="22784"/>
                  </a:lnTo>
                  <a:cubicBezTo>
                    <a:pt x="0" y="10201"/>
                    <a:pt x="10201" y="0"/>
                    <a:pt x="22784" y="0"/>
                  </a:cubicBezTo>
                  <a:close/>
                </a:path>
              </a:pathLst>
            </a:custGeom>
            <a:solidFill>
              <a:srgbClr val="04001E"/>
            </a:solidFill>
            <a:ln w="38100" cap="sq">
              <a:solidFill>
                <a:srgbClr val="E5E1DA"/>
              </a:solidFill>
              <a:prstDash val="solid"/>
              <a:miter/>
            </a:ln>
          </p:spPr>
        </p:sp>
        <p:sp>
          <p:nvSpPr>
            <p:cNvPr id="15" name="TextBox 15"/>
            <p:cNvSpPr txBox="1"/>
            <p:nvPr/>
          </p:nvSpPr>
          <p:spPr>
            <a:xfrm>
              <a:off x="0" y="-38100"/>
              <a:ext cx="1414679" cy="77900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6" name="Group 16"/>
          <p:cNvGrpSpPr/>
          <p:nvPr/>
        </p:nvGrpSpPr>
        <p:grpSpPr>
          <a:xfrm>
            <a:off x="1638562" y="1966786"/>
            <a:ext cx="6796031" cy="668736"/>
            <a:chOff x="0" y="0"/>
            <a:chExt cx="1414679" cy="139206"/>
          </a:xfrm>
        </p:grpSpPr>
        <p:sp>
          <p:nvSpPr>
            <p:cNvPr id="17" name="Freeform 17"/>
            <p:cNvSpPr/>
            <p:nvPr/>
          </p:nvSpPr>
          <p:spPr>
            <a:xfrm>
              <a:off x="0" y="0"/>
              <a:ext cx="1414679" cy="139206"/>
            </a:xfrm>
            <a:custGeom>
              <a:avLst/>
              <a:gdLst/>
              <a:ahLst/>
              <a:cxnLst/>
              <a:rect l="l" t="t" r="r" b="b"/>
              <a:pathLst>
                <a:path w="1414679" h="139206">
                  <a:moveTo>
                    <a:pt x="19366" y="0"/>
                  </a:moveTo>
                  <a:lnTo>
                    <a:pt x="1395313" y="0"/>
                  </a:lnTo>
                  <a:cubicBezTo>
                    <a:pt x="1400449" y="0"/>
                    <a:pt x="1405375" y="2040"/>
                    <a:pt x="1409007" y="5672"/>
                  </a:cubicBezTo>
                  <a:cubicBezTo>
                    <a:pt x="1412639" y="9304"/>
                    <a:pt x="1414679" y="14230"/>
                    <a:pt x="1414679" y="19366"/>
                  </a:cubicBezTo>
                  <a:lnTo>
                    <a:pt x="1414679" y="119840"/>
                  </a:lnTo>
                  <a:cubicBezTo>
                    <a:pt x="1414679" y="130535"/>
                    <a:pt x="1406009" y="139206"/>
                    <a:pt x="1395313" y="139206"/>
                  </a:cubicBezTo>
                  <a:lnTo>
                    <a:pt x="19366" y="139206"/>
                  </a:lnTo>
                  <a:cubicBezTo>
                    <a:pt x="14230" y="139206"/>
                    <a:pt x="9304" y="137165"/>
                    <a:pt x="5672" y="133534"/>
                  </a:cubicBezTo>
                  <a:cubicBezTo>
                    <a:pt x="2040" y="129902"/>
                    <a:pt x="0" y="124976"/>
                    <a:pt x="0" y="119840"/>
                  </a:cubicBezTo>
                  <a:lnTo>
                    <a:pt x="0" y="19366"/>
                  </a:lnTo>
                  <a:cubicBezTo>
                    <a:pt x="0" y="14230"/>
                    <a:pt x="2040" y="9304"/>
                    <a:pt x="5672" y="5672"/>
                  </a:cubicBezTo>
                  <a:cubicBezTo>
                    <a:pt x="9304" y="2040"/>
                    <a:pt x="14230" y="0"/>
                    <a:pt x="19366" y="0"/>
                  </a:cubicBezTo>
                  <a:close/>
                </a:path>
              </a:pathLst>
            </a:custGeom>
            <a:solidFill>
              <a:srgbClr val="FFFFFF"/>
            </a:solidFill>
            <a:ln w="19050" cap="sq">
              <a:solidFill>
                <a:srgbClr val="FFFFFF"/>
              </a:solidFill>
              <a:prstDash val="solid"/>
              <a:miter/>
            </a:ln>
          </p:spPr>
        </p:sp>
        <p:sp>
          <p:nvSpPr>
            <p:cNvPr id="18" name="TextBox 18"/>
            <p:cNvSpPr txBox="1"/>
            <p:nvPr/>
          </p:nvSpPr>
          <p:spPr>
            <a:xfrm>
              <a:off x="0" y="-38100"/>
              <a:ext cx="1414679" cy="177306"/>
            </a:xfrm>
            <a:prstGeom prst="rect">
              <a:avLst/>
            </a:prstGeom>
          </p:spPr>
          <p:txBody>
            <a:bodyPr lIns="50800" tIns="50800" rIns="50800" bIns="50800" rtlCol="0" anchor="ctr"/>
            <a:lstStyle/>
            <a:p>
              <a:pPr algn="ctr">
                <a:lnSpc>
                  <a:spcPts val="2659"/>
                </a:lnSpc>
              </a:pPr>
              <a:r>
                <a:rPr lang="en-US" sz="1899">
                  <a:solidFill>
                    <a:srgbClr val="000000"/>
                  </a:solidFill>
                  <a:latin typeface="Open Sans Light"/>
                  <a:ea typeface="Open Sans Light"/>
                  <a:cs typeface="Open Sans Light"/>
                  <a:sym typeface="Open Sans Light"/>
                </a:rPr>
                <a:t>Storing conversations as Graph</a:t>
              </a:r>
            </a:p>
          </p:txBody>
        </p:sp>
      </p:grpSp>
      <p:grpSp>
        <p:nvGrpSpPr>
          <p:cNvPr id="19" name="Group 19"/>
          <p:cNvGrpSpPr/>
          <p:nvPr/>
        </p:nvGrpSpPr>
        <p:grpSpPr>
          <a:xfrm>
            <a:off x="1638562" y="6075616"/>
            <a:ext cx="6796031" cy="668736"/>
            <a:chOff x="0" y="0"/>
            <a:chExt cx="1414679" cy="139206"/>
          </a:xfrm>
        </p:grpSpPr>
        <p:sp>
          <p:nvSpPr>
            <p:cNvPr id="20" name="Freeform 20"/>
            <p:cNvSpPr/>
            <p:nvPr/>
          </p:nvSpPr>
          <p:spPr>
            <a:xfrm>
              <a:off x="0" y="0"/>
              <a:ext cx="1414679" cy="139206"/>
            </a:xfrm>
            <a:custGeom>
              <a:avLst/>
              <a:gdLst/>
              <a:ahLst/>
              <a:cxnLst/>
              <a:rect l="l" t="t" r="r" b="b"/>
              <a:pathLst>
                <a:path w="1414679" h="139206">
                  <a:moveTo>
                    <a:pt x="19366" y="0"/>
                  </a:moveTo>
                  <a:lnTo>
                    <a:pt x="1395313" y="0"/>
                  </a:lnTo>
                  <a:cubicBezTo>
                    <a:pt x="1400449" y="0"/>
                    <a:pt x="1405375" y="2040"/>
                    <a:pt x="1409007" y="5672"/>
                  </a:cubicBezTo>
                  <a:cubicBezTo>
                    <a:pt x="1412639" y="9304"/>
                    <a:pt x="1414679" y="14230"/>
                    <a:pt x="1414679" y="19366"/>
                  </a:cubicBezTo>
                  <a:lnTo>
                    <a:pt x="1414679" y="119840"/>
                  </a:lnTo>
                  <a:cubicBezTo>
                    <a:pt x="1414679" y="130535"/>
                    <a:pt x="1406009" y="139206"/>
                    <a:pt x="1395313" y="139206"/>
                  </a:cubicBezTo>
                  <a:lnTo>
                    <a:pt x="19366" y="139206"/>
                  </a:lnTo>
                  <a:cubicBezTo>
                    <a:pt x="14230" y="139206"/>
                    <a:pt x="9304" y="137165"/>
                    <a:pt x="5672" y="133534"/>
                  </a:cubicBezTo>
                  <a:cubicBezTo>
                    <a:pt x="2040" y="129902"/>
                    <a:pt x="0" y="124976"/>
                    <a:pt x="0" y="119840"/>
                  </a:cubicBezTo>
                  <a:lnTo>
                    <a:pt x="0" y="19366"/>
                  </a:lnTo>
                  <a:cubicBezTo>
                    <a:pt x="0" y="14230"/>
                    <a:pt x="2040" y="9304"/>
                    <a:pt x="5672" y="5672"/>
                  </a:cubicBezTo>
                  <a:cubicBezTo>
                    <a:pt x="9304" y="2040"/>
                    <a:pt x="14230" y="0"/>
                    <a:pt x="19366" y="0"/>
                  </a:cubicBezTo>
                  <a:close/>
                </a:path>
              </a:pathLst>
            </a:custGeom>
            <a:solidFill>
              <a:srgbClr val="FFFFFF"/>
            </a:solidFill>
            <a:ln w="19050" cap="sq">
              <a:solidFill>
                <a:srgbClr val="FFFFFF"/>
              </a:solidFill>
              <a:prstDash val="solid"/>
              <a:miter/>
            </a:ln>
          </p:spPr>
        </p:sp>
        <p:sp>
          <p:nvSpPr>
            <p:cNvPr id="21" name="TextBox 21"/>
            <p:cNvSpPr txBox="1"/>
            <p:nvPr/>
          </p:nvSpPr>
          <p:spPr>
            <a:xfrm>
              <a:off x="0" y="-38100"/>
              <a:ext cx="1414679" cy="177306"/>
            </a:xfrm>
            <a:prstGeom prst="rect">
              <a:avLst/>
            </a:prstGeom>
          </p:spPr>
          <p:txBody>
            <a:bodyPr lIns="50800" tIns="50800" rIns="50800" bIns="50800" rtlCol="0" anchor="ctr"/>
            <a:lstStyle/>
            <a:p>
              <a:pPr algn="ctr">
                <a:lnSpc>
                  <a:spcPts val="2659"/>
                </a:lnSpc>
              </a:pPr>
              <a:r>
                <a:rPr lang="en-US" sz="1899">
                  <a:solidFill>
                    <a:srgbClr val="000000"/>
                  </a:solidFill>
                  <a:latin typeface="Open Sans Light"/>
                  <a:ea typeface="Open Sans Light"/>
                  <a:cs typeface="Open Sans Light"/>
                  <a:sym typeface="Open Sans Light"/>
                </a:rPr>
                <a:t>Code Snippets/Other Markdown Features</a:t>
              </a:r>
            </a:p>
          </p:txBody>
        </p:sp>
      </p:grpSp>
      <p:grpSp>
        <p:nvGrpSpPr>
          <p:cNvPr id="22" name="Group 22"/>
          <p:cNvGrpSpPr/>
          <p:nvPr/>
        </p:nvGrpSpPr>
        <p:grpSpPr>
          <a:xfrm>
            <a:off x="9278702" y="1966786"/>
            <a:ext cx="6796031" cy="668736"/>
            <a:chOff x="0" y="0"/>
            <a:chExt cx="1414679" cy="139206"/>
          </a:xfrm>
        </p:grpSpPr>
        <p:sp>
          <p:nvSpPr>
            <p:cNvPr id="23" name="Freeform 23"/>
            <p:cNvSpPr/>
            <p:nvPr/>
          </p:nvSpPr>
          <p:spPr>
            <a:xfrm>
              <a:off x="0" y="0"/>
              <a:ext cx="1414679" cy="139206"/>
            </a:xfrm>
            <a:custGeom>
              <a:avLst/>
              <a:gdLst/>
              <a:ahLst/>
              <a:cxnLst/>
              <a:rect l="l" t="t" r="r" b="b"/>
              <a:pathLst>
                <a:path w="1414679" h="139206">
                  <a:moveTo>
                    <a:pt x="19366" y="0"/>
                  </a:moveTo>
                  <a:lnTo>
                    <a:pt x="1395313" y="0"/>
                  </a:lnTo>
                  <a:cubicBezTo>
                    <a:pt x="1400449" y="0"/>
                    <a:pt x="1405375" y="2040"/>
                    <a:pt x="1409007" y="5672"/>
                  </a:cubicBezTo>
                  <a:cubicBezTo>
                    <a:pt x="1412639" y="9304"/>
                    <a:pt x="1414679" y="14230"/>
                    <a:pt x="1414679" y="19366"/>
                  </a:cubicBezTo>
                  <a:lnTo>
                    <a:pt x="1414679" y="119840"/>
                  </a:lnTo>
                  <a:cubicBezTo>
                    <a:pt x="1414679" y="130535"/>
                    <a:pt x="1406009" y="139206"/>
                    <a:pt x="1395313" y="139206"/>
                  </a:cubicBezTo>
                  <a:lnTo>
                    <a:pt x="19366" y="139206"/>
                  </a:lnTo>
                  <a:cubicBezTo>
                    <a:pt x="14230" y="139206"/>
                    <a:pt x="9304" y="137165"/>
                    <a:pt x="5672" y="133534"/>
                  </a:cubicBezTo>
                  <a:cubicBezTo>
                    <a:pt x="2040" y="129902"/>
                    <a:pt x="0" y="124976"/>
                    <a:pt x="0" y="119840"/>
                  </a:cubicBezTo>
                  <a:lnTo>
                    <a:pt x="0" y="19366"/>
                  </a:lnTo>
                  <a:cubicBezTo>
                    <a:pt x="0" y="14230"/>
                    <a:pt x="2040" y="9304"/>
                    <a:pt x="5672" y="5672"/>
                  </a:cubicBezTo>
                  <a:cubicBezTo>
                    <a:pt x="9304" y="2040"/>
                    <a:pt x="14230" y="0"/>
                    <a:pt x="19366" y="0"/>
                  </a:cubicBezTo>
                  <a:close/>
                </a:path>
              </a:pathLst>
            </a:custGeom>
            <a:solidFill>
              <a:srgbClr val="FFFFFF"/>
            </a:solidFill>
            <a:ln w="19050" cap="sq">
              <a:solidFill>
                <a:srgbClr val="FFFFFF"/>
              </a:solidFill>
              <a:prstDash val="solid"/>
              <a:miter/>
            </a:ln>
          </p:spPr>
        </p:sp>
        <p:sp>
          <p:nvSpPr>
            <p:cNvPr id="24" name="TextBox 24"/>
            <p:cNvSpPr txBox="1"/>
            <p:nvPr/>
          </p:nvSpPr>
          <p:spPr>
            <a:xfrm>
              <a:off x="0" y="-38100"/>
              <a:ext cx="1414679" cy="177306"/>
            </a:xfrm>
            <a:prstGeom prst="rect">
              <a:avLst/>
            </a:prstGeom>
          </p:spPr>
          <p:txBody>
            <a:bodyPr lIns="50800" tIns="50800" rIns="50800" bIns="50800" rtlCol="0" anchor="ctr"/>
            <a:lstStyle/>
            <a:p>
              <a:pPr algn="ctr">
                <a:lnSpc>
                  <a:spcPts val="2659"/>
                </a:lnSpc>
              </a:pPr>
              <a:r>
                <a:rPr lang="en-US" sz="1899">
                  <a:solidFill>
                    <a:srgbClr val="000000"/>
                  </a:solidFill>
                  <a:latin typeface="Open Sans Light"/>
                  <a:ea typeface="Open Sans Light"/>
                  <a:cs typeface="Open Sans Light"/>
                  <a:sym typeface="Open Sans Light"/>
                </a:rPr>
                <a:t>Multimodal Outputs</a:t>
              </a:r>
            </a:p>
          </p:txBody>
        </p:sp>
      </p:grpSp>
      <p:grpSp>
        <p:nvGrpSpPr>
          <p:cNvPr id="25" name="Group 25"/>
          <p:cNvGrpSpPr/>
          <p:nvPr/>
        </p:nvGrpSpPr>
        <p:grpSpPr>
          <a:xfrm>
            <a:off x="9278702" y="6075616"/>
            <a:ext cx="6796031" cy="668736"/>
            <a:chOff x="0" y="0"/>
            <a:chExt cx="1414679" cy="139206"/>
          </a:xfrm>
        </p:grpSpPr>
        <p:sp>
          <p:nvSpPr>
            <p:cNvPr id="26" name="Freeform 26"/>
            <p:cNvSpPr/>
            <p:nvPr/>
          </p:nvSpPr>
          <p:spPr>
            <a:xfrm>
              <a:off x="0" y="0"/>
              <a:ext cx="1414679" cy="139206"/>
            </a:xfrm>
            <a:custGeom>
              <a:avLst/>
              <a:gdLst/>
              <a:ahLst/>
              <a:cxnLst/>
              <a:rect l="l" t="t" r="r" b="b"/>
              <a:pathLst>
                <a:path w="1414679" h="139206">
                  <a:moveTo>
                    <a:pt x="19366" y="0"/>
                  </a:moveTo>
                  <a:lnTo>
                    <a:pt x="1395313" y="0"/>
                  </a:lnTo>
                  <a:cubicBezTo>
                    <a:pt x="1400449" y="0"/>
                    <a:pt x="1405375" y="2040"/>
                    <a:pt x="1409007" y="5672"/>
                  </a:cubicBezTo>
                  <a:cubicBezTo>
                    <a:pt x="1412639" y="9304"/>
                    <a:pt x="1414679" y="14230"/>
                    <a:pt x="1414679" y="19366"/>
                  </a:cubicBezTo>
                  <a:lnTo>
                    <a:pt x="1414679" y="119840"/>
                  </a:lnTo>
                  <a:cubicBezTo>
                    <a:pt x="1414679" y="130535"/>
                    <a:pt x="1406009" y="139206"/>
                    <a:pt x="1395313" y="139206"/>
                  </a:cubicBezTo>
                  <a:lnTo>
                    <a:pt x="19366" y="139206"/>
                  </a:lnTo>
                  <a:cubicBezTo>
                    <a:pt x="14230" y="139206"/>
                    <a:pt x="9304" y="137165"/>
                    <a:pt x="5672" y="133534"/>
                  </a:cubicBezTo>
                  <a:cubicBezTo>
                    <a:pt x="2040" y="129902"/>
                    <a:pt x="0" y="124976"/>
                    <a:pt x="0" y="119840"/>
                  </a:cubicBezTo>
                  <a:lnTo>
                    <a:pt x="0" y="19366"/>
                  </a:lnTo>
                  <a:cubicBezTo>
                    <a:pt x="0" y="14230"/>
                    <a:pt x="2040" y="9304"/>
                    <a:pt x="5672" y="5672"/>
                  </a:cubicBezTo>
                  <a:cubicBezTo>
                    <a:pt x="9304" y="2040"/>
                    <a:pt x="14230" y="0"/>
                    <a:pt x="19366" y="0"/>
                  </a:cubicBezTo>
                  <a:close/>
                </a:path>
              </a:pathLst>
            </a:custGeom>
            <a:solidFill>
              <a:srgbClr val="FFFFFF"/>
            </a:solidFill>
            <a:ln w="19050" cap="sq">
              <a:solidFill>
                <a:srgbClr val="FFFFFF"/>
              </a:solidFill>
              <a:prstDash val="solid"/>
              <a:miter/>
            </a:ln>
          </p:spPr>
        </p:sp>
        <p:sp>
          <p:nvSpPr>
            <p:cNvPr id="27" name="TextBox 27"/>
            <p:cNvSpPr txBox="1"/>
            <p:nvPr/>
          </p:nvSpPr>
          <p:spPr>
            <a:xfrm>
              <a:off x="0" y="-38100"/>
              <a:ext cx="1414679" cy="177306"/>
            </a:xfrm>
            <a:prstGeom prst="rect">
              <a:avLst/>
            </a:prstGeom>
          </p:spPr>
          <p:txBody>
            <a:bodyPr lIns="50800" tIns="50800" rIns="50800" bIns="50800" rtlCol="0" anchor="ctr"/>
            <a:lstStyle/>
            <a:p>
              <a:pPr algn="ctr">
                <a:lnSpc>
                  <a:spcPts val="2659"/>
                </a:lnSpc>
              </a:pPr>
              <a:r>
                <a:rPr lang="en-US" sz="1899">
                  <a:solidFill>
                    <a:srgbClr val="000000"/>
                  </a:solidFill>
                  <a:latin typeface="Open Sans Light"/>
                  <a:ea typeface="Open Sans Light"/>
                  <a:cs typeface="Open Sans Light"/>
                  <a:sym typeface="Open Sans Light"/>
                </a:rPr>
                <a:t>Extension for Usage of Various Tools</a:t>
              </a:r>
            </a:p>
          </p:txBody>
        </p:sp>
      </p:grpSp>
      <p:sp>
        <p:nvSpPr>
          <p:cNvPr id="28" name="TextBox 28"/>
          <p:cNvSpPr txBox="1"/>
          <p:nvPr/>
        </p:nvSpPr>
        <p:spPr>
          <a:xfrm>
            <a:off x="2066191" y="2987947"/>
            <a:ext cx="5581827" cy="1588770"/>
          </a:xfrm>
          <a:prstGeom prst="rect">
            <a:avLst/>
          </a:prstGeom>
        </p:spPr>
        <p:txBody>
          <a:bodyPr lIns="0" tIns="0" rIns="0" bIns="0" rtlCol="0" anchor="t">
            <a:spAutoFit/>
          </a:bodyPr>
          <a:lstStyle/>
          <a:p>
            <a:pPr marL="0" lvl="0" indent="0" algn="l">
              <a:lnSpc>
                <a:spcPts val="2160"/>
              </a:lnSpc>
              <a:spcBef>
                <a:spcPct val="0"/>
              </a:spcBef>
            </a:pPr>
            <a:r>
              <a:rPr lang="en-US" sz="1600" spc="96">
                <a:solidFill>
                  <a:srgbClr val="FFFFFF"/>
                </a:solidFill>
                <a:latin typeface="Red Hat Display"/>
                <a:ea typeface="Red Hat Display"/>
                <a:cs typeface="Red Hat Display"/>
                <a:sym typeface="Red Hat Display"/>
              </a:rPr>
              <a:t>In</a:t>
            </a:r>
            <a:r>
              <a:rPr lang="en-US" sz="1600" u="none" spc="96">
                <a:solidFill>
                  <a:srgbClr val="FFFFFF"/>
                </a:solidFill>
                <a:latin typeface="Red Hat Display"/>
                <a:ea typeface="Red Hat Display"/>
                <a:cs typeface="Red Hat Display"/>
                <a:sym typeface="Red Hat Display"/>
              </a:rPr>
              <a:t> agentic AI systems, storing conversations as a graph allows for dynamic and contextual memory representation where each message, action, or decision is modeled as a node, and relationships such as cause-effect, follow-up, or correction are represented as edges. </a:t>
            </a:r>
          </a:p>
        </p:txBody>
      </p:sp>
      <p:sp>
        <p:nvSpPr>
          <p:cNvPr id="29" name="TextBox 29"/>
          <p:cNvSpPr txBox="1"/>
          <p:nvPr/>
        </p:nvSpPr>
        <p:spPr>
          <a:xfrm>
            <a:off x="9778208" y="3096297"/>
            <a:ext cx="5581827" cy="1322070"/>
          </a:xfrm>
          <a:prstGeom prst="rect">
            <a:avLst/>
          </a:prstGeom>
        </p:spPr>
        <p:txBody>
          <a:bodyPr lIns="0" tIns="0" rIns="0" bIns="0" rtlCol="0" anchor="t">
            <a:spAutoFit/>
          </a:bodyPr>
          <a:lstStyle/>
          <a:p>
            <a:pPr marL="0" lvl="0" indent="0" algn="l">
              <a:lnSpc>
                <a:spcPts val="2160"/>
              </a:lnSpc>
              <a:spcBef>
                <a:spcPct val="0"/>
              </a:spcBef>
            </a:pPr>
            <a:r>
              <a:rPr lang="en-US" sz="1600" spc="96">
                <a:solidFill>
                  <a:srgbClr val="FFFFFF"/>
                </a:solidFill>
                <a:latin typeface="Red Hat Display"/>
                <a:ea typeface="Red Hat Display"/>
                <a:cs typeface="Red Hat Display"/>
                <a:sym typeface="Red Hat Display"/>
              </a:rPr>
              <a:t>By integrating dive</a:t>
            </a:r>
            <a:r>
              <a:rPr lang="en-US" sz="1600" u="none" spc="96">
                <a:solidFill>
                  <a:srgbClr val="FFFFFF"/>
                </a:solidFill>
                <a:latin typeface="Red Hat Display"/>
                <a:ea typeface="Red Hat Display"/>
                <a:cs typeface="Red Hat Display"/>
                <a:sym typeface="Red Hat Display"/>
              </a:rPr>
              <a:t>rse output forms, the agent becomes more expressive and aligned with human communication styles. For instance, it can explain a concept visually, respond with voice for accessibility, or trigger interactive components like maps or charts. </a:t>
            </a:r>
          </a:p>
        </p:txBody>
      </p:sp>
      <p:sp>
        <p:nvSpPr>
          <p:cNvPr id="30" name="TextBox 30"/>
          <p:cNvSpPr txBox="1"/>
          <p:nvPr/>
        </p:nvSpPr>
        <p:spPr>
          <a:xfrm>
            <a:off x="9904854" y="7011053"/>
            <a:ext cx="5581827" cy="2388870"/>
          </a:xfrm>
          <a:prstGeom prst="rect">
            <a:avLst/>
          </a:prstGeom>
        </p:spPr>
        <p:txBody>
          <a:bodyPr lIns="0" tIns="0" rIns="0" bIns="0" rtlCol="0" anchor="t">
            <a:spAutoFit/>
          </a:bodyPr>
          <a:lstStyle/>
          <a:p>
            <a:pPr marL="0" lvl="0" indent="0" algn="l">
              <a:lnSpc>
                <a:spcPts val="2160"/>
              </a:lnSpc>
              <a:spcBef>
                <a:spcPct val="0"/>
              </a:spcBef>
            </a:pPr>
            <a:r>
              <a:rPr lang="en-US" sz="1600" spc="96">
                <a:solidFill>
                  <a:srgbClr val="FFFFFF"/>
                </a:solidFill>
                <a:latin typeface="Red Hat Display"/>
                <a:ea typeface="Red Hat Display"/>
                <a:cs typeface="Red Hat Display"/>
                <a:sym typeface="Red Hat Display"/>
              </a:rPr>
              <a:t>In ag</a:t>
            </a:r>
            <a:r>
              <a:rPr lang="en-US" sz="1600" u="none" spc="96">
                <a:solidFill>
                  <a:srgbClr val="FFFFFF"/>
                </a:solidFill>
                <a:latin typeface="Red Hat Display"/>
                <a:ea typeface="Red Hat Display"/>
                <a:cs typeface="Red Hat Display"/>
                <a:sym typeface="Red Hat Display"/>
              </a:rPr>
              <a:t>entic AI, integrating automation tools like n8n allows the system to trigger real-world workflows based on conversational context. This creates a seamless bridge between natural language understanding and action execution, enabling the AI to not only reason or respond but also act through predefined automation pipelines—making interactions more powerful, goal-oriented, and operationally useful.</a:t>
            </a:r>
          </a:p>
          <a:p>
            <a:pPr marL="0" lvl="0" indent="0" algn="l">
              <a:lnSpc>
                <a:spcPts val="2160"/>
              </a:lnSpc>
              <a:spcBef>
                <a:spcPct val="0"/>
              </a:spcBef>
            </a:pPr>
            <a:endParaRPr lang="en-US" sz="1600" u="none" spc="96">
              <a:solidFill>
                <a:srgbClr val="FFFFFF"/>
              </a:solidFill>
              <a:latin typeface="Red Hat Display"/>
              <a:ea typeface="Red Hat Display"/>
              <a:cs typeface="Red Hat Display"/>
              <a:sym typeface="Red Hat Display"/>
            </a:endParaRPr>
          </a:p>
        </p:txBody>
      </p:sp>
      <p:sp>
        <p:nvSpPr>
          <p:cNvPr id="31" name="TextBox 31"/>
          <p:cNvSpPr txBox="1"/>
          <p:nvPr/>
        </p:nvSpPr>
        <p:spPr>
          <a:xfrm>
            <a:off x="2124459" y="7039628"/>
            <a:ext cx="5824238" cy="2122170"/>
          </a:xfrm>
          <a:prstGeom prst="rect">
            <a:avLst/>
          </a:prstGeom>
        </p:spPr>
        <p:txBody>
          <a:bodyPr lIns="0" tIns="0" rIns="0" bIns="0" rtlCol="0" anchor="t">
            <a:spAutoFit/>
          </a:bodyPr>
          <a:lstStyle/>
          <a:p>
            <a:pPr marL="0" lvl="0" indent="0" algn="l">
              <a:lnSpc>
                <a:spcPts val="2160"/>
              </a:lnSpc>
              <a:spcBef>
                <a:spcPct val="0"/>
              </a:spcBef>
            </a:pPr>
            <a:r>
              <a:rPr lang="en-US" sz="1600" spc="96">
                <a:solidFill>
                  <a:srgbClr val="FFFFFF"/>
                </a:solidFill>
                <a:latin typeface="Red Hat Display"/>
                <a:ea typeface="Red Hat Display"/>
                <a:cs typeface="Red Hat Display"/>
                <a:sym typeface="Red Hat Display"/>
              </a:rPr>
              <a:t>C</a:t>
            </a:r>
            <a:r>
              <a:rPr lang="en-US" sz="1600" u="none" spc="96">
                <a:solidFill>
                  <a:srgbClr val="FFFFFF"/>
                </a:solidFill>
                <a:latin typeface="Red Hat Display"/>
                <a:ea typeface="Red Hat Display"/>
                <a:cs typeface="Red Hat Display"/>
                <a:sym typeface="Red Hat Display"/>
              </a:rPr>
              <a:t>ode snippets serve as dynamic and executable responses that empower the system to solve technical problems, generate tools, or automate tasks on the fly. When a user asks a programming-related question or needs a workflow automation, the AI can generate relevant code as part of its output. These snippets can include Python functions, SQL queries, or shell scripts, tailored to the user’s environment and intent.</a:t>
            </a:r>
          </a:p>
        </p:txBody>
      </p:sp>
      <p:sp>
        <p:nvSpPr>
          <p:cNvPr id="32" name="Freeform 32"/>
          <p:cNvSpPr/>
          <p:nvPr/>
        </p:nvSpPr>
        <p:spPr>
          <a:xfrm>
            <a:off x="16337164" y="8658876"/>
            <a:ext cx="896420" cy="896420"/>
          </a:xfrm>
          <a:custGeom>
            <a:avLst/>
            <a:gdLst/>
            <a:ahLst/>
            <a:cxnLst/>
            <a:rect l="l" t="t" r="r" b="b"/>
            <a:pathLst>
              <a:path w="896420" h="896420">
                <a:moveTo>
                  <a:pt x="0" y="0"/>
                </a:moveTo>
                <a:lnTo>
                  <a:pt x="896421" y="0"/>
                </a:lnTo>
                <a:lnTo>
                  <a:pt x="896421" y="896421"/>
                </a:lnTo>
                <a:lnTo>
                  <a:pt x="0" y="896421"/>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33" name="Group 33"/>
          <p:cNvGrpSpPr/>
          <p:nvPr/>
        </p:nvGrpSpPr>
        <p:grpSpPr>
          <a:xfrm>
            <a:off x="822607" y="262612"/>
            <a:ext cx="16436693" cy="1332700"/>
            <a:chOff x="0" y="0"/>
            <a:chExt cx="4329006" cy="350999"/>
          </a:xfrm>
        </p:grpSpPr>
        <p:sp>
          <p:nvSpPr>
            <p:cNvPr id="34" name="Freeform 34"/>
            <p:cNvSpPr/>
            <p:nvPr/>
          </p:nvSpPr>
          <p:spPr>
            <a:xfrm>
              <a:off x="0" y="0"/>
              <a:ext cx="4329006" cy="350999"/>
            </a:xfrm>
            <a:custGeom>
              <a:avLst/>
              <a:gdLst/>
              <a:ahLst/>
              <a:cxnLst/>
              <a:rect l="l" t="t" r="r" b="b"/>
              <a:pathLst>
                <a:path w="4329006" h="350999">
                  <a:moveTo>
                    <a:pt x="9420" y="0"/>
                  </a:moveTo>
                  <a:lnTo>
                    <a:pt x="4319585" y="0"/>
                  </a:lnTo>
                  <a:cubicBezTo>
                    <a:pt x="4324788" y="0"/>
                    <a:pt x="4329006" y="4218"/>
                    <a:pt x="4329006" y="9420"/>
                  </a:cubicBezTo>
                  <a:lnTo>
                    <a:pt x="4329006" y="341579"/>
                  </a:lnTo>
                  <a:cubicBezTo>
                    <a:pt x="4329006" y="346781"/>
                    <a:pt x="4324788" y="350999"/>
                    <a:pt x="4319585" y="350999"/>
                  </a:cubicBezTo>
                  <a:lnTo>
                    <a:pt x="9420" y="350999"/>
                  </a:lnTo>
                  <a:cubicBezTo>
                    <a:pt x="4218" y="350999"/>
                    <a:pt x="0" y="346781"/>
                    <a:pt x="0" y="341579"/>
                  </a:cubicBezTo>
                  <a:lnTo>
                    <a:pt x="0" y="9420"/>
                  </a:lnTo>
                  <a:cubicBezTo>
                    <a:pt x="0" y="4218"/>
                    <a:pt x="4218" y="0"/>
                    <a:pt x="9420" y="0"/>
                  </a:cubicBezTo>
                  <a:close/>
                </a:path>
              </a:pathLst>
            </a:custGeom>
            <a:solidFill>
              <a:srgbClr val="04001E"/>
            </a:solidFill>
            <a:ln w="38100" cap="sq">
              <a:solidFill>
                <a:srgbClr val="E5E1DA"/>
              </a:solidFill>
              <a:prstDash val="solid"/>
              <a:miter/>
            </a:ln>
          </p:spPr>
        </p:sp>
        <p:sp>
          <p:nvSpPr>
            <p:cNvPr id="35" name="TextBox 35"/>
            <p:cNvSpPr txBox="1"/>
            <p:nvPr/>
          </p:nvSpPr>
          <p:spPr>
            <a:xfrm>
              <a:off x="0" y="-38100"/>
              <a:ext cx="4329006" cy="389099"/>
            </a:xfrm>
            <a:prstGeom prst="rect">
              <a:avLst/>
            </a:prstGeom>
          </p:spPr>
          <p:txBody>
            <a:bodyPr lIns="50800" tIns="50800" rIns="50800" bIns="50800" rtlCol="0" anchor="ctr"/>
            <a:lstStyle/>
            <a:p>
              <a:pPr algn="ctr">
                <a:lnSpc>
                  <a:spcPts val="2659"/>
                </a:lnSpc>
              </a:pPr>
              <a:endParaRPr/>
            </a:p>
          </p:txBody>
        </p:sp>
      </p:grpSp>
      <p:sp>
        <p:nvSpPr>
          <p:cNvPr id="36" name="TextBox 36"/>
          <p:cNvSpPr txBox="1"/>
          <p:nvPr/>
        </p:nvSpPr>
        <p:spPr>
          <a:xfrm>
            <a:off x="4674035" y="469600"/>
            <a:ext cx="13568578" cy="1090173"/>
          </a:xfrm>
          <a:prstGeom prst="rect">
            <a:avLst/>
          </a:prstGeom>
        </p:spPr>
        <p:txBody>
          <a:bodyPr lIns="0" tIns="0" rIns="0" bIns="0" rtlCol="0" anchor="t">
            <a:spAutoFit/>
          </a:bodyPr>
          <a:lstStyle/>
          <a:p>
            <a:pPr algn="l">
              <a:lnSpc>
                <a:spcPts val="8051"/>
              </a:lnSpc>
            </a:pPr>
            <a:r>
              <a:rPr lang="en-US" sz="8300">
                <a:solidFill>
                  <a:srgbClr val="FFFFFF"/>
                </a:solidFill>
                <a:latin typeface="Archivo Black"/>
                <a:ea typeface="Archivo Black"/>
                <a:cs typeface="Archivo Black"/>
                <a:sym typeface="Archivo Black"/>
              </a:rPr>
              <a:t>Future Steps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TextBox 3"/>
          <p:cNvSpPr txBox="1"/>
          <p:nvPr/>
        </p:nvSpPr>
        <p:spPr>
          <a:xfrm>
            <a:off x="4179953" y="4682588"/>
            <a:ext cx="9245435" cy="1764311"/>
          </a:xfrm>
          <a:prstGeom prst="rect">
            <a:avLst/>
          </a:prstGeom>
        </p:spPr>
        <p:txBody>
          <a:bodyPr lIns="0" tIns="0" rIns="0" bIns="0" rtlCol="0" anchor="t">
            <a:spAutoFit/>
          </a:bodyPr>
          <a:lstStyle/>
          <a:p>
            <a:pPr algn="l">
              <a:lnSpc>
                <a:spcPts val="12699"/>
              </a:lnSpc>
            </a:pPr>
            <a:r>
              <a:rPr lang="en-US" sz="14597">
                <a:solidFill>
                  <a:srgbClr val="FFFFFF"/>
                </a:solidFill>
                <a:latin typeface="Archivo Black"/>
                <a:ea typeface="Archivo Black"/>
                <a:cs typeface="Archivo Black"/>
                <a:sym typeface="Archivo Black"/>
              </a:rPr>
              <a:t>The End</a:t>
            </a:r>
          </a:p>
        </p:txBody>
      </p:sp>
      <p:sp>
        <p:nvSpPr>
          <p:cNvPr id="4" name="Freeform 4"/>
          <p:cNvSpPr/>
          <p:nvPr/>
        </p:nvSpPr>
        <p:spPr>
          <a:xfrm rot="10435729">
            <a:off x="-3241105" y="-2477065"/>
            <a:ext cx="7951775" cy="8527373"/>
          </a:xfrm>
          <a:custGeom>
            <a:avLst/>
            <a:gdLst/>
            <a:ahLst/>
            <a:cxnLst/>
            <a:rect l="l" t="t" r="r" b="b"/>
            <a:pathLst>
              <a:path w="7951775" h="8527373">
                <a:moveTo>
                  <a:pt x="0" y="0"/>
                </a:moveTo>
                <a:lnTo>
                  <a:pt x="7951775" y="0"/>
                </a:lnTo>
                <a:lnTo>
                  <a:pt x="7951775" y="8527373"/>
                </a:lnTo>
                <a:lnTo>
                  <a:pt x="0" y="8527373"/>
                </a:lnTo>
                <a:lnTo>
                  <a:pt x="0" y="0"/>
                </a:lnTo>
                <a:close/>
              </a:path>
            </a:pathLst>
          </a:custGeom>
          <a:blipFill>
            <a:blip r:embed="rId3"/>
            <a:stretch>
              <a:fillRect/>
            </a:stretch>
          </a:blipFill>
        </p:spPr>
      </p:sp>
      <p:sp>
        <p:nvSpPr>
          <p:cNvPr id="5" name="Freeform 5"/>
          <p:cNvSpPr/>
          <p:nvPr/>
        </p:nvSpPr>
        <p:spPr>
          <a:xfrm rot="10435729">
            <a:off x="13120601" y="4487942"/>
            <a:ext cx="7951775" cy="8527373"/>
          </a:xfrm>
          <a:custGeom>
            <a:avLst/>
            <a:gdLst/>
            <a:ahLst/>
            <a:cxnLst/>
            <a:rect l="l" t="t" r="r" b="b"/>
            <a:pathLst>
              <a:path w="7951775" h="8527373">
                <a:moveTo>
                  <a:pt x="0" y="0"/>
                </a:moveTo>
                <a:lnTo>
                  <a:pt x="7951775" y="0"/>
                </a:lnTo>
                <a:lnTo>
                  <a:pt x="7951775" y="8527373"/>
                </a:lnTo>
                <a:lnTo>
                  <a:pt x="0" y="8527373"/>
                </a:lnTo>
                <a:lnTo>
                  <a:pt x="0" y="0"/>
                </a:lnTo>
                <a:close/>
              </a:path>
            </a:pathLst>
          </a:custGeom>
          <a:blipFill>
            <a:blip r:embed="rId3"/>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1017</Words>
  <Application>Microsoft Office PowerPoint</Application>
  <PresentationFormat>Custom</PresentationFormat>
  <Paragraphs>97</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Red Hat Display</vt:lpstr>
      <vt:lpstr>Lato</vt:lpstr>
      <vt:lpstr>Archivo Black</vt:lpstr>
      <vt:lpstr>Red Hat Display Bold</vt:lpstr>
      <vt:lpstr>Open Sans Light</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Purple Blue and White Project Presentation</dc:title>
  <dc:creator>Saksham Singh</dc:creator>
  <cp:lastModifiedBy>Saksham Singh</cp:lastModifiedBy>
  <cp:revision>2</cp:revision>
  <dcterms:created xsi:type="dcterms:W3CDTF">2006-08-16T00:00:00Z</dcterms:created>
  <dcterms:modified xsi:type="dcterms:W3CDTF">2026-08-09T16:51:29Z</dcterms:modified>
  <dc:identifier>DAGtgM0_nOI</dc:identifier>
</cp:coreProperties>
</file>